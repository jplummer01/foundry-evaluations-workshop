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7" r:id="rId28"/>
    <p:sldId id="271" r:id="rId17"/>
    <p:sldId id="272" r:id="rId18"/>
    <p:sldId id="273" r:id="rId19"/>
    <p:sldId id="274" r:id="rId20"/>
    <p:sldId id="276" r:id="rId27"/>
    <p:sldId id="275" r:id="rId2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7" d="100"/>
          <a:sy n="127" d="100"/>
        </p:scale>
        <p:origin x="108" y="1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2.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21.xml"/><Relationship Id="rId28"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90125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Framing to land in the first two minutes: this workshop is about the shift from 'test before you ship' to 'measure what's actually happening in production'. Evaluations went GA in March 2026 with continuous monitoring into Azure Monitor; Build 2026 added trace-based evaluation for any framework and the Rubric evaluator. Run the environment check (check_setup.py) while doing intros.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the balance: roughly half talk-track, half hands-on. Attendees pair up for labs — mix devs with architects.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discussion prompt: 'Who has an agent in production? How do you know it's still behaving THIS week?' Collect 2-3 answers before advancing. The three points on this slide should feel like a diagnosis of what they just described.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Foundry's observability model. Trace and evaluations reached GA this spring; hosted-agent tracing/eval GA lands roughly now (June/July 2026). Evaluate is highlighted because it's today's subject — Module 4 closes the loop with Monitor and Optimize.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Whiteboard this as a tree if the room engages. Quality evaluator prompts are open-sourced (steal their rubric structure); safety internals are not. Rubric evaluator is the Build 2026 headline: it attacks the hardest problem — writing good criteria — and feeds Agent Optimizer.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agent can produce a correct answer via a wasteful or lucky path (system pass, process fail) — or execute perfectly toward the wrong goal (process pass, system fail). You need both lenses. Lab 2 uses one system + two process evaluators against the live weather agent.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implication hard: eval results are downstream of judge model choice and rubric quality. A weak rubric gives confident-looking nonsense with two decimal places. Preview of run_local_eval.py's lesson: fluency without relevance is a terrible quality gate.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Discussion prompt for architects: where in your SDLC does each surface live, and who owns the eval dataset — dev team or QA/governance? Traces as a target is the Build 2026 shift: same evaluators, applied to what actually happened, any framework via OpenTelemetry.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with the named live Foundry deployment smoke test: check_setup.py verifies project access and the judge deployment; create_agent.py creates a real prompt-agent version; run_agent.py --query invokes that deployed version and executes its local Python tools. Success means a tool call, tool result, and grounded final response. Then use precomputed responses for cloud evaluation because Foundry's service-side live target cannot execute these workshop-local Python functions. The SDK run exports run.json, output-items.jsonl, and summary.json. Stagger cloud submissions by table to reduce 429 pressure.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most common Partial-status cause is a case-sensitive field mismatch or mapping the wrong response shape. In this repo, agent/process evaluators consume sample.output_messages: role-bearing messages containing tool calls and tool results. sample.output_text is only the final text. sample.output_items is retained as raw Responses API data for inspection, not consumed by these evaluators. AI-assisted evaluators also need the configured judge deployment where required.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workshop prompt agent stores schemas in Foundry but executes get_weather/get_forecast in the local runner. Demonstrate one query first, then the batch. check_contracts.py is deterministic: it catches unknown tools, malformed/non-object arguments, missing required parameters, primitive type mismatches, expected calls, and expect_no_tool violations. Only after contracts pass do we ask Foundry's judge-based evaluators about intent, task adherence, and tool-call quality. For GxP, Task Adherence is a proxy until the optional ALCOA+ rubric is registered.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Strategic point for architects with mixed estates: this is the same evaluator suite applied across the entire agent fleet, including agents running outside Azure. Evaluation moves from 'test before you ship' to 'measure what's happening in production'.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not conflate a rendered comparison report with a merge-blocking policy gate. The official Azure DevOps task and GitHub action are the native comparison path for hosted agents whose tools execute in the service; Foundry supplies confidence intervals and pairwise significance. Public documentation does not promise machine-readable threshold outputs. This repo's enforcing workflows exist because workshop tools execute locally: generate both response sets, run deterministic contract checks, score under one immutable evaluation group, then apply explicit policy. Foundry remains the statistics authority. Both paths use Entra ID/OIDC, publish evidence on failure, and leave baseline promotion to review.</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'Quality isn't a pre-ship checkbox anymore, it's a live signal' — Microsoft's own framing at the March GA. The nightly scheduled job is the low-drama starting point most teams should take first.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discussion (10 min if time): draw your target-state pipeline — where do local evals, CI gates, red teaming, continuous eval and Agent Optimizer each sit, and who reviews Optimizer proposals? Rule of thumb: anything you'd hard-gate in CI, consider enforcing at runtime too.</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pharma audiences, open Module 1 with THIS framing instead of 'agents fail differently' — the regulator has made the case. Caveat to state: the FDA draft guidance was expected to finalise during 2026 — verify current status before presenting. Full detail: docs/gxp-extension.md.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machinery as Modules 1-4 — only the stakes change. The deprecation doc's decision-gate checklist is a change-control assessment in all but name. Training pillar: this workshop itself, delivered with an attendance/assessment record, satisfies role-specific training expectations.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human-review gate (step 4, highlighted) is what makes this inspection-defensible rather than a shortcut. Production side: trace-based evaluation on REAL traffic still applies post-deployment — confirm scrubbing/pseudonymisation and App Insights retention against record-retention SOPs first.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straight about the tooling boundary is what earns trust with a pharma audience. Closing discussion swap: 'Walk the FDA 7-step credibility framework for one agent you run today — which steps could you evidence this afternoon, and which have no artifact at all?'</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Close on the complete evidence chain. A live deployment smoke test proves the deployed agent can execute. Deterministic contracts prove tool calls satisfy the application schema. Foundry evaluators assess intent, process, safety, and response quality. The repository policy gate turns that evidence into explicit pass, fail, or review-required outcomes, while Foundry remains the source for statistical significance. None of this removes human ownership: judge changes need overlap and re-baselining, and promotion is a reviewed decision.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ONE discipline that matches the audience. Each is a full runnable track: create_agent_[d].py + dataset_[d]_sample.jsonl + generate_synthetic_dataset.py --discipline [d]. The evaluator set and five-category matrix are identical across all four; only the scenario and the ALCOA+ refusal traps change. All agents coexist in one project, targeted via --agent-name.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Optional 35–45 minute Lab 3; use it instead of the local-evaluation stretch or as take-home work. Create incumbent and candidate versions, run both against the same 20-row dataset, validate contracts, and reuse the incumbent evaluation ID for the candidate. Inspect Foundry's confidence intervals and pairwise comparison before running eval_gate.py. Exit 0 is pass, 1 is policy failure, and 2 is review_required for incomplete or incompatible evidence. A 20-row teaching set may be statistically inconclusive; that is an honest outcome. Never auto-promote the candidate. For GxP, use one discipline and review decision_refusal and data_integrity_trap first.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7.png"/><Relationship Id="rId6" Type="http://schemas.openxmlformats.org/officeDocument/2006/relationships/image" Target="../media/image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5.png"/><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8.png"/><Relationship Id="rId4" Type="http://schemas.openxmlformats.org/officeDocument/2006/relationships/image" Target="../media/image7.png"/><Relationship Id="rId5" Type="http://schemas.openxmlformats.org/officeDocument/2006/relationships/image" Target="../media/image19.png"/><Relationship Id="rId6" Type="http://schemas.openxmlformats.org/officeDocument/2006/relationships/image" Target="../media/image1.png"/><Relationship Id="rId7" Type="http://schemas.openxmlformats.org/officeDocument/2006/relationships/image" Target="../media/image20.png"/><Relationship Id="rId8"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21.png"/><Relationship Id="rId5"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3.png"/><Relationship Id="rId4" Type="http://schemas.openxmlformats.org/officeDocument/2006/relationships/image" Target="../media/image23.png"/><Relationship Id="rId5" Type="http://schemas.openxmlformats.org/officeDocument/2006/relationships/image" Target="../media/image11.png"/><Relationship Id="rId6" Type="http://schemas.openxmlformats.org/officeDocument/2006/relationships/image" Target="../media/image24.png"/><Relationship Id="rId7"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3.png"/><Relationship Id="rId4" Type="http://schemas.openxmlformats.org/officeDocument/2006/relationships/image" Target="../media/image23.png"/><Relationship Id="rId5" Type="http://schemas.openxmlformats.org/officeDocument/2006/relationships/image" Target="../media/image11.png"/><Relationship Id="rId6" Type="http://schemas.openxmlformats.org/officeDocument/2006/relationships/image" Target="../media/image24.png"/><Relationship Id="rId7"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 Id="rId4" Type="http://schemas.openxmlformats.org/officeDocument/2006/relationships/image" Target="../media/image24.png"/><Relationship Id="rId5" Type="http://schemas.openxmlformats.org/officeDocument/2006/relationships/image" Target="../media/image8.png"/><Relationship Id="rId6" Type="http://schemas.openxmlformats.org/officeDocument/2006/relationships/image" Target="../media/image10.png"/><Relationship Id="rId7"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7.png"/><Relationship Id="rId4"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45"/>
        </a:solidFill>
        <a:effectLst/>
      </p:bgPr>
    </p:bg>
    <p:spTree>
      <p:nvGrpSpPr>
        <p:cNvPr id="1" name=""/>
        <p:cNvGrpSpPr/>
        <p:nvPr/>
      </p:nvGrpSpPr>
      <p:grpSpPr>
        <a:xfrm>
          <a:off x="0" y="0"/>
          <a:ext cx="0" cy="0"/>
          <a:chOff x="0" y="0"/>
          <a:chExt cx="0" cy="0"/>
        </a:xfrm>
      </p:grpSpPr>
      <p:sp>
        <p:nvSpPr>
          <p:cNvPr id="2" name="Shape 0"/>
          <p:cNvSpPr/>
          <p:nvPr/>
        </p:nvSpPr>
        <p:spPr>
          <a:xfrm>
            <a:off x="6766560" y="640080"/>
            <a:ext cx="502920" cy="502920"/>
          </a:xfrm>
          <a:prstGeom prst="ellipse">
            <a:avLst/>
          </a:prstGeom>
          <a:solidFill>
            <a:srgbClr val="1E2761"/>
          </a:solidFill>
          <a:ln w="12700">
            <a:solidFill>
              <a:srgbClr val="CADCFC"/>
            </a:solidFill>
            <a:prstDash val="solid"/>
          </a:ln>
        </p:spPr>
        <p:txBody>
          <a:bodyPr/>
          <a:lstStyle/>
          <a:p>
            <a:endParaRPr lang="en-GB"/>
          </a:p>
        </p:txBody>
      </p:sp>
      <p:sp>
        <p:nvSpPr>
          <p:cNvPr id="3" name="Shape 1"/>
          <p:cNvSpPr/>
          <p:nvPr/>
        </p:nvSpPr>
        <p:spPr>
          <a:xfrm>
            <a:off x="7772400" y="1051560"/>
            <a:ext cx="502920" cy="502920"/>
          </a:xfrm>
          <a:prstGeom prst="ellipse">
            <a:avLst/>
          </a:prstGeom>
          <a:solidFill>
            <a:srgbClr val="1E2761"/>
          </a:solidFill>
          <a:ln w="12700">
            <a:solidFill>
              <a:srgbClr val="CADCFC"/>
            </a:solidFill>
            <a:prstDash val="solid"/>
          </a:ln>
        </p:spPr>
        <p:txBody>
          <a:bodyPr/>
          <a:lstStyle/>
          <a:p>
            <a:endParaRPr lang="en-GB"/>
          </a:p>
        </p:txBody>
      </p:sp>
      <p:sp>
        <p:nvSpPr>
          <p:cNvPr id="4" name="Shape 2"/>
          <p:cNvSpPr/>
          <p:nvPr/>
        </p:nvSpPr>
        <p:spPr>
          <a:xfrm>
            <a:off x="7498080" y="2148840"/>
            <a:ext cx="502920" cy="502920"/>
          </a:xfrm>
          <a:prstGeom prst="ellipse">
            <a:avLst/>
          </a:prstGeom>
          <a:solidFill>
            <a:srgbClr val="1E2761"/>
          </a:solidFill>
          <a:ln w="12700">
            <a:solidFill>
              <a:srgbClr val="CADCFC"/>
            </a:solidFill>
            <a:prstDash val="solid"/>
          </a:ln>
        </p:spPr>
        <p:txBody>
          <a:bodyPr/>
          <a:lstStyle/>
          <a:p>
            <a:endParaRPr lang="en-GB"/>
          </a:p>
        </p:txBody>
      </p:sp>
      <p:sp>
        <p:nvSpPr>
          <p:cNvPr id="5" name="Shape 3"/>
          <p:cNvSpPr/>
          <p:nvPr/>
        </p:nvSpPr>
        <p:spPr>
          <a:xfrm>
            <a:off x="6400800" y="1737360"/>
            <a:ext cx="502920" cy="502920"/>
          </a:xfrm>
          <a:prstGeom prst="ellipse">
            <a:avLst/>
          </a:prstGeom>
          <a:solidFill>
            <a:srgbClr val="1E2761"/>
          </a:solidFill>
          <a:ln w="12700">
            <a:solidFill>
              <a:srgbClr val="CADCFC"/>
            </a:solidFill>
            <a:prstDash val="solid"/>
          </a:ln>
        </p:spPr>
        <p:txBody>
          <a:bodyPr/>
          <a:lstStyle/>
          <a:p>
            <a:endParaRPr lang="en-GB"/>
          </a:p>
        </p:txBody>
      </p:sp>
      <p:sp>
        <p:nvSpPr>
          <p:cNvPr id="6" name="Shape 4"/>
          <p:cNvSpPr/>
          <p:nvPr/>
        </p:nvSpPr>
        <p:spPr>
          <a:xfrm>
            <a:off x="6766560" y="640080"/>
            <a:ext cx="502920" cy="502920"/>
          </a:xfrm>
          <a:prstGeom prst="ellipse">
            <a:avLst/>
          </a:prstGeom>
          <a:solidFill>
            <a:srgbClr val="1E2761"/>
          </a:solidFill>
          <a:ln/>
        </p:spPr>
        <p:txBody>
          <a:bodyPr/>
          <a:lstStyle/>
          <a:p>
            <a:endParaRPr lang="en-GB"/>
          </a:p>
        </p:txBody>
      </p:sp>
      <p:pic>
        <p:nvPicPr>
          <p:cNvPr id="7" name="Image 0" descr="preencoded.png"/>
          <p:cNvPicPr>
            <a:picLocks noChangeAspect="1"/>
          </p:cNvPicPr>
          <p:nvPr/>
        </p:nvPicPr>
        <p:blipFill>
          <a:blip r:embed="rId3"/>
          <a:stretch>
            <a:fillRect/>
          </a:stretch>
        </p:blipFill>
        <p:spPr>
          <a:xfrm>
            <a:off x="6897319" y="770839"/>
            <a:ext cx="241402" cy="241402"/>
          </a:xfrm>
          <a:prstGeom prst="rect">
            <a:avLst/>
          </a:prstGeom>
        </p:spPr>
      </p:pic>
      <p:sp>
        <p:nvSpPr>
          <p:cNvPr id="8" name="Shape 5"/>
          <p:cNvSpPr/>
          <p:nvPr/>
        </p:nvSpPr>
        <p:spPr>
          <a:xfrm>
            <a:off x="7772400" y="1051560"/>
            <a:ext cx="502920" cy="502920"/>
          </a:xfrm>
          <a:prstGeom prst="ellipse">
            <a:avLst/>
          </a:prstGeom>
          <a:solidFill>
            <a:srgbClr val="1E2761"/>
          </a:solidFill>
          <a:ln/>
        </p:spPr>
        <p:txBody>
          <a:bodyPr/>
          <a:lstStyle/>
          <a:p>
            <a:endParaRPr lang="en-GB"/>
          </a:p>
        </p:txBody>
      </p:sp>
      <p:pic>
        <p:nvPicPr>
          <p:cNvPr id="9" name="Image 1" descr="preencoded.png"/>
          <p:cNvPicPr>
            <a:picLocks noChangeAspect="1"/>
          </p:cNvPicPr>
          <p:nvPr/>
        </p:nvPicPr>
        <p:blipFill>
          <a:blip r:embed="rId4"/>
          <a:stretch>
            <a:fillRect/>
          </a:stretch>
        </p:blipFill>
        <p:spPr>
          <a:xfrm>
            <a:off x="7903159" y="1182319"/>
            <a:ext cx="241402" cy="241402"/>
          </a:xfrm>
          <a:prstGeom prst="rect">
            <a:avLst/>
          </a:prstGeom>
        </p:spPr>
      </p:pic>
      <p:sp>
        <p:nvSpPr>
          <p:cNvPr id="10" name="Shape 6"/>
          <p:cNvSpPr/>
          <p:nvPr/>
        </p:nvSpPr>
        <p:spPr>
          <a:xfrm>
            <a:off x="7498080" y="2148840"/>
            <a:ext cx="502920" cy="502920"/>
          </a:xfrm>
          <a:prstGeom prst="ellipse">
            <a:avLst/>
          </a:prstGeom>
          <a:solidFill>
            <a:srgbClr val="1E2761"/>
          </a:solidFill>
          <a:ln/>
        </p:spPr>
        <p:txBody>
          <a:bodyPr/>
          <a:lstStyle/>
          <a:p>
            <a:endParaRPr lang="en-GB"/>
          </a:p>
        </p:txBody>
      </p:sp>
      <p:pic>
        <p:nvPicPr>
          <p:cNvPr id="11" name="Image 2" descr="preencoded.png"/>
          <p:cNvPicPr>
            <a:picLocks noChangeAspect="1"/>
          </p:cNvPicPr>
          <p:nvPr/>
        </p:nvPicPr>
        <p:blipFill>
          <a:blip r:embed="rId5"/>
          <a:stretch>
            <a:fillRect/>
          </a:stretch>
        </p:blipFill>
        <p:spPr>
          <a:xfrm>
            <a:off x="7628839" y="2279599"/>
            <a:ext cx="241402" cy="241402"/>
          </a:xfrm>
          <a:prstGeom prst="rect">
            <a:avLst/>
          </a:prstGeom>
        </p:spPr>
      </p:pic>
      <p:sp>
        <p:nvSpPr>
          <p:cNvPr id="12" name="Shape 7"/>
          <p:cNvSpPr/>
          <p:nvPr/>
        </p:nvSpPr>
        <p:spPr>
          <a:xfrm>
            <a:off x="6400800" y="1737360"/>
            <a:ext cx="502920" cy="502920"/>
          </a:xfrm>
          <a:prstGeom prst="ellipse">
            <a:avLst/>
          </a:prstGeom>
          <a:solidFill>
            <a:srgbClr val="1E2761"/>
          </a:solidFill>
          <a:ln/>
        </p:spPr>
        <p:txBody>
          <a:bodyPr/>
          <a:lstStyle/>
          <a:p>
            <a:endParaRPr lang="en-GB"/>
          </a:p>
        </p:txBody>
      </p:sp>
      <p:pic>
        <p:nvPicPr>
          <p:cNvPr id="13" name="Image 3" descr="preencoded.png"/>
          <p:cNvPicPr>
            <a:picLocks noChangeAspect="1"/>
          </p:cNvPicPr>
          <p:nvPr/>
        </p:nvPicPr>
        <p:blipFill>
          <a:blip r:embed="rId6"/>
          <a:stretch>
            <a:fillRect/>
          </a:stretch>
        </p:blipFill>
        <p:spPr>
          <a:xfrm>
            <a:off x="6531559" y="1868119"/>
            <a:ext cx="241402" cy="241402"/>
          </a:xfrm>
          <a:prstGeom prst="rect">
            <a:avLst/>
          </a:prstGeom>
        </p:spPr>
      </p:pic>
      <p:sp>
        <p:nvSpPr>
          <p:cNvPr id="14" name="Text 8"/>
          <p:cNvSpPr/>
          <p:nvPr/>
        </p:nvSpPr>
        <p:spPr>
          <a:xfrm>
            <a:off x="640080" y="1005840"/>
            <a:ext cx="5852160" cy="320040"/>
          </a:xfrm>
          <a:prstGeom prst="rect">
            <a:avLst/>
          </a:prstGeom>
          <a:noFill/>
          <a:ln/>
        </p:spPr>
        <p:txBody>
          <a:bodyPr wrap="square" lIns="0" tIns="0" rIns="0" bIns="0" rtlCol="0" anchor="ctr"/>
          <a:lstStyle/>
          <a:p>
            <a:pPr marL="0" indent="0">
              <a:buNone/>
            </a:pPr>
            <a:r>
              <a:rPr lang="en-US" sz="1300" b="1" kern="0" spc="400" dirty="0">
                <a:solidFill>
                  <a:srgbClr val="CADCFC"/>
                </a:solidFill>
                <a:latin typeface="Calibri" pitchFamily="34" charset="0"/>
                <a:ea typeface="Calibri" pitchFamily="34" charset="-122"/>
                <a:cs typeface="Calibri" pitchFamily="34" charset="-120"/>
              </a:rPr>
              <a:t>EVALUATING AI AGENTS IN PRODUCTION</a:t>
            </a:r>
            <a:endParaRPr lang="en-US" sz="1300" dirty="0"/>
          </a:p>
        </p:txBody>
      </p:sp>
      <p:sp>
        <p:nvSpPr>
          <p:cNvPr id="15" name="Text 9"/>
          <p:cNvSpPr/>
          <p:nvPr/>
        </p:nvSpPr>
        <p:spPr>
          <a:xfrm>
            <a:off x="640080" y="1371600"/>
            <a:ext cx="6583680" cy="1554480"/>
          </a:xfrm>
          <a:prstGeom prst="rect">
            <a:avLst/>
          </a:prstGeom>
          <a:noFill/>
          <a:ln/>
        </p:spPr>
        <p:txBody>
          <a:bodyPr wrap="square" lIns="0" tIns="0" rIns="0" bIns="0"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Microsoft Foundry</a:t>
            </a:r>
            <a:endParaRPr lang="en-US" sz="4400" dirty="0"/>
          </a:p>
          <a:p>
            <a:pPr marL="0" indent="0">
              <a:buNone/>
            </a:pPr>
            <a:r>
              <a:rPr lang="en-US" sz="4400" b="1" dirty="0">
                <a:solidFill>
                  <a:srgbClr val="FFFFFF"/>
                </a:solidFill>
                <a:latin typeface="Cambria" pitchFamily="34" charset="0"/>
                <a:ea typeface="Cambria" pitchFamily="34" charset="-122"/>
                <a:cs typeface="Cambria" pitchFamily="34" charset="-120"/>
              </a:rPr>
              <a:t>Evaluations Framework</a:t>
            </a:r>
            <a:endParaRPr lang="en-US" sz="4400" dirty="0"/>
          </a:p>
        </p:txBody>
      </p:sp>
      <p:sp>
        <p:nvSpPr>
          <p:cNvPr id="16" name="Text 10"/>
          <p:cNvSpPr/>
          <p:nvPr/>
        </p:nvSpPr>
        <p:spPr>
          <a:xfrm>
            <a:off x="640080" y="3063240"/>
            <a:ext cx="6217920" cy="365760"/>
          </a:xfrm>
          <a:prstGeom prst="rect">
            <a:avLst/>
          </a:prstGeom>
          <a:noFill/>
          <a:ln/>
        </p:spPr>
        <p:txBody>
          <a:bodyPr wrap="square" lIns="0" tIns="0" rIns="0" bIns="0" rtlCol="0" anchor="ctr"/>
          <a:lstStyle/>
          <a:p>
            <a:pPr marL="0" indent="0">
              <a:buNone/>
            </a:pPr>
            <a:r>
              <a:rPr lang="en-US" sz="1600" dirty="0">
                <a:solidFill>
                  <a:srgbClr val="CADCFC"/>
                </a:solidFill>
                <a:latin typeface="Calibri" pitchFamily="34" charset="0"/>
                <a:ea typeface="Calibri" pitchFamily="34" charset="-122"/>
                <a:cs typeface="Calibri" pitchFamily="34" charset="-120"/>
              </a:rPr>
              <a:t>A half-day, hands-on workshop — concepts, labs, and CI/CD governance</a:t>
            </a:r>
            <a:endParaRPr lang="en-US" sz="1600" dirty="0"/>
          </a:p>
        </p:txBody>
      </p:sp>
      <p:sp>
        <p:nvSpPr>
          <p:cNvPr id="17" name="Text 11"/>
          <p:cNvSpPr/>
          <p:nvPr/>
        </p:nvSpPr>
        <p:spPr>
          <a:xfrm>
            <a:off x="640080" y="4206240"/>
            <a:ext cx="7863840" cy="320040"/>
          </a:xfrm>
          <a:prstGeom prst="rect">
            <a:avLst/>
          </a:prstGeom>
          <a:noFill/>
          <a:ln/>
        </p:spPr>
        <p:txBody>
          <a:bodyPr wrap="square" lIns="0" tIns="0" rIns="0" bIns="0" rtlCol="0" anchor="ctr"/>
          <a:lstStyle/>
          <a:p>
            <a:pPr marL="0" indent="0">
              <a:buNone/>
            </a:pPr>
            <a:r>
              <a:rPr lang="en-US" sz="1300" b="1" dirty="0">
                <a:solidFill>
                  <a:srgbClr val="CADCFC"/>
                </a:solidFill>
                <a:latin typeface="Calibri" pitchFamily="34" charset="0"/>
                <a:ea typeface="Calibri" pitchFamily="34" charset="-122"/>
                <a:cs typeface="Calibri" pitchFamily="34" charset="-120"/>
              </a:rPr>
              <a:t>3.5–4 hours   </a:t>
            </a:r>
            <a:r>
              <a:rPr lang="en-US" sz="1300" dirty="0">
                <a:solidFill>
                  <a:srgbClr val="8FA3D9"/>
                </a:solidFill>
                <a:latin typeface="Calibri" pitchFamily="34" charset="0"/>
                <a:ea typeface="Calibri" pitchFamily="34" charset="-122"/>
                <a:cs typeface="Calibri" pitchFamily="34" charset="-120"/>
              </a:rPr>
              <a:t>|   Mixed technical audience   |   July 2026 content baseline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8138160" cy="274320"/>
          </a:xfrm>
          <a:prstGeom prst="rect">
            <a:avLst/>
          </a:prstGeom>
          <a:noFill/>
          <a:ln/>
        </p:spPr>
        <p:txBody>
          <a:bodyPr wrap="square" lIns="0" tIns="0" rIns="0" bIns="0" rtlCol="0" anchor="ctr"/>
          <a:lstStyle/>
          <a:p>
            <a:pPr marL="0" indent="0">
              <a:buNone/>
            </a:pPr>
            <a:r>
              <a:rPr lang="en-US" sz="1100" b="1" kern="0" spc="300" dirty="0">
                <a:solidFill>
                  <a:srgbClr val="5A6378"/>
                </a:solidFill>
                <a:latin typeface="Calibri" pitchFamily="34" charset="0"/>
                <a:ea typeface="Calibri" pitchFamily="34" charset="-122"/>
                <a:cs typeface="Calibri" pitchFamily="34" charset="-120"/>
              </a:rPr>
              <a:t>AGENDA</a:t>
            </a:r>
            <a:endParaRPr lang="en-US" sz="1100" dirty="0"/>
          </a:p>
        </p:txBody>
      </p:sp>
      <p:sp>
        <p:nvSpPr>
          <p:cNvPr id="3" name="Text 1"/>
          <p:cNvSpPr/>
          <p:nvPr/>
        </p:nvSpPr>
        <p:spPr>
          <a:xfrm>
            <a:off x="502920" y="530352"/>
            <a:ext cx="8138160" cy="68580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Four modules, two labs</a:t>
            </a:r>
            <a:endParaRPr lang="en-US" sz="3000" dirty="0"/>
          </a:p>
        </p:txBody>
      </p:sp>
      <p:sp>
        <p:nvSpPr>
          <p:cNvPr id="4" name="Shape 2"/>
          <p:cNvSpPr/>
          <p:nvPr/>
        </p:nvSpPr>
        <p:spPr>
          <a:xfrm>
            <a:off x="502920" y="1463040"/>
            <a:ext cx="1993392" cy="3063240"/>
          </a:xfrm>
          <a:prstGeom prst="roundRect">
            <a:avLst>
              <a:gd name="adj" fmla="val 2752"/>
            </a:avLst>
          </a:prstGeom>
          <a:solidFill>
            <a:srgbClr val="EEF4FE"/>
          </a:solidFill>
          <a:ln/>
          <a:effectLst>
            <a:outerShdw blurRad="88900" dist="25400" dir="2700000" algn="bl" rotWithShape="0">
              <a:srgbClr val="000000">
                <a:alpha val="14000"/>
              </a:srgbClr>
            </a:outerShdw>
          </a:effectLst>
        </p:spPr>
        <p:txBody>
          <a:bodyPr/>
          <a:lstStyle/>
          <a:p>
            <a:endParaRPr lang="en-GB"/>
          </a:p>
        </p:txBody>
      </p:sp>
      <p:sp>
        <p:nvSpPr>
          <p:cNvPr id="5" name="Shape 3"/>
          <p:cNvSpPr/>
          <p:nvPr/>
        </p:nvSpPr>
        <p:spPr>
          <a:xfrm>
            <a:off x="667512" y="1645920"/>
            <a:ext cx="475488" cy="475488"/>
          </a:xfrm>
          <a:prstGeom prst="ellipse">
            <a:avLst/>
          </a:prstGeom>
          <a:solidFill>
            <a:srgbClr val="1E2761"/>
          </a:solidFill>
          <a:ln/>
        </p:spPr>
        <p:txBody>
          <a:bodyPr/>
          <a:lstStyle/>
          <a:p>
            <a:endParaRPr lang="en-GB"/>
          </a:p>
        </p:txBody>
      </p:sp>
      <p:pic>
        <p:nvPicPr>
          <p:cNvPr id="6" name="Image 0" descr="preencoded.png"/>
          <p:cNvPicPr>
            <a:picLocks noChangeAspect="1"/>
          </p:cNvPicPr>
          <p:nvPr/>
        </p:nvPicPr>
        <p:blipFill>
          <a:blip r:embed="rId3"/>
          <a:stretch>
            <a:fillRect/>
          </a:stretch>
        </p:blipFill>
        <p:spPr>
          <a:xfrm>
            <a:off x="791139" y="1769547"/>
            <a:ext cx="228234" cy="228234"/>
          </a:xfrm>
          <a:prstGeom prst="rect">
            <a:avLst/>
          </a:prstGeom>
        </p:spPr>
      </p:pic>
      <p:sp>
        <p:nvSpPr>
          <p:cNvPr id="7" name="Text 4"/>
          <p:cNvSpPr/>
          <p:nvPr/>
        </p:nvSpPr>
        <p:spPr>
          <a:xfrm>
            <a:off x="1234440" y="1719072"/>
            <a:ext cx="1124712" cy="320040"/>
          </a:xfrm>
          <a:prstGeom prst="rect">
            <a:avLst/>
          </a:prstGeom>
          <a:noFill/>
          <a:ln/>
        </p:spPr>
        <p:txBody>
          <a:bodyPr wrap="square" lIns="0" tIns="0" rIns="0" bIns="0" rtlCol="0" anchor="ctr"/>
          <a:lstStyle/>
          <a:p>
            <a:pPr marL="0" indent="0">
              <a:buNone/>
            </a:pPr>
            <a:r>
              <a:rPr lang="en-US" sz="1200" b="1" dirty="0">
                <a:solidFill>
                  <a:srgbClr val="0E9F7E"/>
                </a:solidFill>
                <a:latin typeface="Calibri" pitchFamily="34" charset="0"/>
                <a:ea typeface="Calibri" pitchFamily="34" charset="-122"/>
                <a:cs typeface="Calibri" pitchFamily="34" charset="-120"/>
              </a:rPr>
              <a:t>45 min</a:t>
            </a:r>
            <a:endParaRPr lang="en-US" sz="1200" dirty="0"/>
          </a:p>
        </p:txBody>
      </p:sp>
      <p:sp>
        <p:nvSpPr>
          <p:cNvPr id="8" name="Text 5"/>
          <p:cNvSpPr/>
          <p:nvPr/>
        </p:nvSpPr>
        <p:spPr>
          <a:xfrm>
            <a:off x="667512" y="2286000"/>
            <a:ext cx="1664208" cy="77724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1. Concepts &amp; Architecture</a:t>
            </a:r>
            <a:endParaRPr lang="en-US" sz="1400" dirty="0"/>
          </a:p>
        </p:txBody>
      </p:sp>
      <p:sp>
        <p:nvSpPr>
          <p:cNvPr id="9" name="Text 6"/>
          <p:cNvSpPr/>
          <p:nvPr/>
        </p:nvSpPr>
        <p:spPr>
          <a:xfrm>
            <a:off x="667512" y="3063240"/>
            <a:ext cx="1664208" cy="1325880"/>
          </a:xfrm>
          <a:prstGeom prst="rect">
            <a:avLst/>
          </a:prstGeom>
          <a:noFill/>
          <a:ln/>
        </p:spPr>
        <p:txBody>
          <a:bodyPr wrap="square" lIns="0" tIns="0" rIns="0" bIns="0" rtlCol="0" anchor="ctr"/>
          <a:lstStyle/>
          <a:p>
            <a:pPr marL="0" indent="0">
              <a:buNone/>
            </a:pPr>
            <a:r>
              <a:rPr lang="en-US" sz="1100" dirty="0">
                <a:solidFill>
                  <a:srgbClr val="20263F"/>
                </a:solidFill>
                <a:latin typeface="Calibri" pitchFamily="34" charset="0"/>
                <a:ea typeface="Calibri" pitchFamily="34" charset="-122"/>
                <a:cs typeface="Calibri" pitchFamily="34" charset="-120"/>
              </a:rPr>
              <a:t>Why evals are the production bottleneck; the evaluator taxonomy; LLM-as-judge; targets and execution surfaces.</a:t>
            </a:r>
            <a:endParaRPr lang="en-US" sz="1100" dirty="0"/>
          </a:p>
        </p:txBody>
      </p:sp>
      <p:sp>
        <p:nvSpPr>
          <p:cNvPr id="10" name="Shape 7"/>
          <p:cNvSpPr/>
          <p:nvPr/>
        </p:nvSpPr>
        <p:spPr>
          <a:xfrm>
            <a:off x="2697480" y="1463040"/>
            <a:ext cx="1993392" cy="3063240"/>
          </a:xfrm>
          <a:prstGeom prst="roundRect">
            <a:avLst>
              <a:gd name="adj" fmla="val 2752"/>
            </a:avLst>
          </a:prstGeom>
          <a:solidFill>
            <a:srgbClr val="EEF4FE"/>
          </a:solidFill>
          <a:ln/>
          <a:effectLst>
            <a:outerShdw blurRad="88900" dist="25400" dir="2700000" algn="bl" rotWithShape="0">
              <a:srgbClr val="000000">
                <a:alpha val="14000"/>
              </a:srgbClr>
            </a:outerShdw>
          </a:effectLst>
        </p:spPr>
        <p:txBody>
          <a:bodyPr/>
          <a:lstStyle/>
          <a:p>
            <a:endParaRPr lang="en-GB"/>
          </a:p>
        </p:txBody>
      </p:sp>
      <p:sp>
        <p:nvSpPr>
          <p:cNvPr id="11" name="Shape 8"/>
          <p:cNvSpPr/>
          <p:nvPr/>
        </p:nvSpPr>
        <p:spPr>
          <a:xfrm>
            <a:off x="2862072" y="1645920"/>
            <a:ext cx="475488" cy="475488"/>
          </a:xfrm>
          <a:prstGeom prst="ellipse">
            <a:avLst/>
          </a:prstGeom>
          <a:solidFill>
            <a:srgbClr val="1E2761"/>
          </a:solidFill>
          <a:ln/>
        </p:spPr>
        <p:txBody>
          <a:bodyPr/>
          <a:lstStyle/>
          <a:p>
            <a:endParaRPr lang="en-GB"/>
          </a:p>
        </p:txBody>
      </p:sp>
      <p:pic>
        <p:nvPicPr>
          <p:cNvPr id="12" name="Image 1" descr="preencoded.png"/>
          <p:cNvPicPr>
            <a:picLocks noChangeAspect="1"/>
          </p:cNvPicPr>
          <p:nvPr/>
        </p:nvPicPr>
        <p:blipFill>
          <a:blip r:embed="rId4"/>
          <a:stretch>
            <a:fillRect/>
          </a:stretch>
        </p:blipFill>
        <p:spPr>
          <a:xfrm>
            <a:off x="2985699" y="1769547"/>
            <a:ext cx="228234" cy="228234"/>
          </a:xfrm>
          <a:prstGeom prst="rect">
            <a:avLst/>
          </a:prstGeom>
        </p:spPr>
      </p:pic>
      <p:sp>
        <p:nvSpPr>
          <p:cNvPr id="13" name="Text 9"/>
          <p:cNvSpPr/>
          <p:nvPr/>
        </p:nvSpPr>
        <p:spPr>
          <a:xfrm>
            <a:off x="3429000" y="1719072"/>
            <a:ext cx="1124712" cy="320040"/>
          </a:xfrm>
          <a:prstGeom prst="rect">
            <a:avLst/>
          </a:prstGeom>
          <a:noFill/>
          <a:ln/>
        </p:spPr>
        <p:txBody>
          <a:bodyPr wrap="square" lIns="0" tIns="0" rIns="0" bIns="0" rtlCol="0" anchor="ctr"/>
          <a:lstStyle/>
          <a:p>
            <a:pPr marL="0" indent="0">
              <a:buNone/>
            </a:pPr>
            <a:r>
              <a:rPr lang="en-US" sz="1200" b="1" dirty="0">
                <a:solidFill>
                  <a:srgbClr val="0E9F7E"/>
                </a:solidFill>
                <a:latin typeface="Calibri" pitchFamily="34" charset="0"/>
                <a:ea typeface="Calibri" pitchFamily="34" charset="-122"/>
                <a:cs typeface="Calibri" pitchFamily="34" charset="-120"/>
              </a:rPr>
              <a:t>60 min</a:t>
            </a:r>
            <a:endParaRPr lang="en-US" sz="1200" dirty="0"/>
          </a:p>
        </p:txBody>
      </p:sp>
      <p:sp>
        <p:nvSpPr>
          <p:cNvPr id="14" name="Text 10"/>
          <p:cNvSpPr/>
          <p:nvPr/>
        </p:nvSpPr>
        <p:spPr>
          <a:xfrm>
            <a:off x="2862072" y="2286000"/>
            <a:ext cx="1664208" cy="77724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2. Lab 1 — Running Evaluations</a:t>
            </a:r>
            <a:endParaRPr lang="en-US" sz="1400" dirty="0"/>
          </a:p>
        </p:txBody>
      </p:sp>
      <p:sp>
        <p:nvSpPr>
          <p:cNvPr id="15" name="Text 11"/>
          <p:cNvSpPr/>
          <p:nvPr/>
        </p:nvSpPr>
        <p:spPr>
          <a:xfrm>
            <a:off x="2862072" y="3063240"/>
            <a:ext cx="1664208" cy="1325880"/>
          </a:xfrm>
          <a:prstGeom prst="rect">
            <a:avLst/>
          </a:prstGeom>
          <a:noFill/>
          <a:ln/>
        </p:spPr>
        <p:txBody>
          <a:bodyPr wrap="square" lIns="0" tIns="0" rIns="0" bIns="0" rtlCol="0" anchor="ctr"/>
          <a:lstStyle/>
          <a:p>
            <a:pPr marL="0" indent="0">
              <a:buNone/>
            </a:pPr>
            <a:r>
              <a:rPr lang="en-US" sz="1100" dirty="0">
                <a:solidFill>
                  <a:srgbClr val="20263F"/>
                </a:solidFill>
                <a:latin typeface="Calibri" pitchFamily="34" charset="0"/>
                <a:ea typeface="Calibri" pitchFamily="34" charset="-122"/>
                <a:cs typeface="Calibri" pitchFamily="34" charset="-120"/>
              </a:rPr>
              <a:t>Portal run end-to-end, then the same evaluation via the SDK. Data mappings, run states, reading judge reasoning.</a:t>
            </a:r>
            <a:endParaRPr lang="en-US" sz="1100" dirty="0"/>
          </a:p>
        </p:txBody>
      </p:sp>
      <p:sp>
        <p:nvSpPr>
          <p:cNvPr id="16" name="Shape 12"/>
          <p:cNvSpPr/>
          <p:nvPr/>
        </p:nvSpPr>
        <p:spPr>
          <a:xfrm>
            <a:off x="4892040" y="1463040"/>
            <a:ext cx="1993392" cy="3063240"/>
          </a:xfrm>
          <a:prstGeom prst="roundRect">
            <a:avLst>
              <a:gd name="adj" fmla="val 2752"/>
            </a:avLst>
          </a:prstGeom>
          <a:solidFill>
            <a:srgbClr val="EEF4FE"/>
          </a:solidFill>
          <a:ln/>
          <a:effectLst>
            <a:outerShdw blurRad="88900" dist="25400" dir="2700000" algn="bl" rotWithShape="0">
              <a:srgbClr val="000000">
                <a:alpha val="14000"/>
              </a:srgbClr>
            </a:outerShdw>
          </a:effectLst>
        </p:spPr>
        <p:txBody>
          <a:bodyPr/>
          <a:lstStyle/>
          <a:p>
            <a:endParaRPr lang="en-GB"/>
          </a:p>
        </p:txBody>
      </p:sp>
      <p:sp>
        <p:nvSpPr>
          <p:cNvPr id="17" name="Shape 13"/>
          <p:cNvSpPr/>
          <p:nvPr/>
        </p:nvSpPr>
        <p:spPr>
          <a:xfrm>
            <a:off x="5056632" y="1645920"/>
            <a:ext cx="475488" cy="475488"/>
          </a:xfrm>
          <a:prstGeom prst="ellipse">
            <a:avLst/>
          </a:prstGeom>
          <a:solidFill>
            <a:srgbClr val="1E2761"/>
          </a:solidFill>
          <a:ln/>
        </p:spPr>
        <p:txBody>
          <a:bodyPr/>
          <a:lstStyle/>
          <a:p>
            <a:endParaRPr lang="en-GB"/>
          </a:p>
        </p:txBody>
      </p:sp>
      <p:pic>
        <p:nvPicPr>
          <p:cNvPr id="18" name="Image 2" descr="preencoded.png"/>
          <p:cNvPicPr>
            <a:picLocks noChangeAspect="1"/>
          </p:cNvPicPr>
          <p:nvPr/>
        </p:nvPicPr>
        <p:blipFill>
          <a:blip r:embed="rId5"/>
          <a:stretch>
            <a:fillRect/>
          </a:stretch>
        </p:blipFill>
        <p:spPr>
          <a:xfrm>
            <a:off x="5180259" y="1769547"/>
            <a:ext cx="228234" cy="228234"/>
          </a:xfrm>
          <a:prstGeom prst="rect">
            <a:avLst/>
          </a:prstGeom>
        </p:spPr>
      </p:pic>
      <p:sp>
        <p:nvSpPr>
          <p:cNvPr id="19" name="Text 14"/>
          <p:cNvSpPr/>
          <p:nvPr/>
        </p:nvSpPr>
        <p:spPr>
          <a:xfrm>
            <a:off x="5623560" y="1719072"/>
            <a:ext cx="1124712" cy="320040"/>
          </a:xfrm>
          <a:prstGeom prst="rect">
            <a:avLst/>
          </a:prstGeom>
          <a:noFill/>
          <a:ln/>
        </p:spPr>
        <p:txBody>
          <a:bodyPr wrap="square" lIns="0" tIns="0" rIns="0" bIns="0" rtlCol="0" anchor="ctr"/>
          <a:lstStyle/>
          <a:p>
            <a:pPr marL="0" indent="0">
              <a:buNone/>
            </a:pPr>
            <a:r>
              <a:rPr lang="en-US" sz="1200" b="1" dirty="0">
                <a:solidFill>
                  <a:srgbClr val="0E9F7E"/>
                </a:solidFill>
                <a:latin typeface="Calibri" pitchFamily="34" charset="0"/>
                <a:ea typeface="Calibri" pitchFamily="34" charset="-122"/>
                <a:cs typeface="Calibri" pitchFamily="34" charset="-120"/>
              </a:rPr>
              <a:t>45 min</a:t>
            </a:r>
            <a:endParaRPr lang="en-US" sz="1200" dirty="0"/>
          </a:p>
        </p:txBody>
      </p:sp>
      <p:sp>
        <p:nvSpPr>
          <p:cNvPr id="20" name="Text 15"/>
          <p:cNvSpPr/>
          <p:nvPr/>
        </p:nvSpPr>
        <p:spPr>
          <a:xfrm>
            <a:off x="5056632" y="2286000"/>
            <a:ext cx="1664208" cy="77724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3. Lab 2 — Agents, Custom &amp; Traces</a:t>
            </a:r>
            <a:endParaRPr lang="en-US" sz="1400" dirty="0"/>
          </a:p>
        </p:txBody>
      </p:sp>
      <p:sp>
        <p:nvSpPr>
          <p:cNvPr id="21" name="Text 16"/>
          <p:cNvSpPr/>
          <p:nvPr/>
        </p:nvSpPr>
        <p:spPr>
          <a:xfrm>
            <a:off x="5056632" y="3063240"/>
            <a:ext cx="1664208" cy="1325880"/>
          </a:xfrm>
          <a:prstGeom prst="rect">
            <a:avLst/>
          </a:prstGeom>
          <a:noFill/>
          <a:ln/>
        </p:spPr>
        <p:txBody>
          <a:bodyPr wrap="square" lIns="0" tIns="0" rIns="0" bIns="0" rtlCol="0" anchor="ctr"/>
          <a:lstStyle/>
          <a:p>
            <a:pPr marL="0" indent="0">
              <a:buNone/>
            </a:pPr>
            <a:r>
              <a:rPr lang="en-US" sz="1100" dirty="0">
                <a:solidFill>
                  <a:srgbClr val="20263F"/>
                </a:solidFill>
                <a:latin typeface="Calibri" pitchFamily="34" charset="0"/>
                <a:ea typeface="Calibri" pitchFamily="34" charset="-122"/>
                <a:cs typeface="Calibri" pitchFamily="34" charset="-120"/>
              </a:rPr>
              <a:t>Evaluate a live agent (system + process), register a custom evaluator, trace-based evaluation demo.</a:t>
            </a:r>
            <a:endParaRPr lang="en-US" sz="1100" dirty="0"/>
          </a:p>
        </p:txBody>
      </p:sp>
      <p:sp>
        <p:nvSpPr>
          <p:cNvPr id="22" name="Shape 17"/>
          <p:cNvSpPr/>
          <p:nvPr/>
        </p:nvSpPr>
        <p:spPr>
          <a:xfrm>
            <a:off x="7086600" y="1463040"/>
            <a:ext cx="1993392" cy="3063240"/>
          </a:xfrm>
          <a:prstGeom prst="roundRect">
            <a:avLst>
              <a:gd name="adj" fmla="val 2752"/>
            </a:avLst>
          </a:prstGeom>
          <a:solidFill>
            <a:srgbClr val="EEF4FE"/>
          </a:solidFill>
          <a:ln/>
          <a:effectLst>
            <a:outerShdw blurRad="88900" dist="25400" dir="2700000" algn="bl" rotWithShape="0">
              <a:srgbClr val="000000">
                <a:alpha val="14000"/>
              </a:srgbClr>
            </a:outerShdw>
          </a:effectLst>
        </p:spPr>
        <p:txBody>
          <a:bodyPr/>
          <a:lstStyle/>
          <a:p>
            <a:endParaRPr lang="en-GB"/>
          </a:p>
        </p:txBody>
      </p:sp>
      <p:sp>
        <p:nvSpPr>
          <p:cNvPr id="23" name="Shape 18"/>
          <p:cNvSpPr/>
          <p:nvPr/>
        </p:nvSpPr>
        <p:spPr>
          <a:xfrm>
            <a:off x="7251192" y="1645920"/>
            <a:ext cx="475488" cy="475488"/>
          </a:xfrm>
          <a:prstGeom prst="ellipse">
            <a:avLst/>
          </a:prstGeom>
          <a:solidFill>
            <a:srgbClr val="1E2761"/>
          </a:solidFill>
          <a:ln/>
        </p:spPr>
        <p:txBody>
          <a:bodyPr/>
          <a:lstStyle/>
          <a:p>
            <a:endParaRPr lang="en-GB"/>
          </a:p>
        </p:txBody>
      </p:sp>
      <p:pic>
        <p:nvPicPr>
          <p:cNvPr id="24" name="Image 3" descr="preencoded.png"/>
          <p:cNvPicPr>
            <a:picLocks noChangeAspect="1"/>
          </p:cNvPicPr>
          <p:nvPr/>
        </p:nvPicPr>
        <p:blipFill>
          <a:blip r:embed="rId6"/>
          <a:stretch>
            <a:fillRect/>
          </a:stretch>
        </p:blipFill>
        <p:spPr>
          <a:xfrm>
            <a:off x="7374819" y="1769547"/>
            <a:ext cx="228234" cy="228234"/>
          </a:xfrm>
          <a:prstGeom prst="rect">
            <a:avLst/>
          </a:prstGeom>
        </p:spPr>
      </p:pic>
      <p:sp>
        <p:nvSpPr>
          <p:cNvPr id="25" name="Text 19"/>
          <p:cNvSpPr/>
          <p:nvPr/>
        </p:nvSpPr>
        <p:spPr>
          <a:xfrm>
            <a:off x="7818120" y="1719072"/>
            <a:ext cx="1124712" cy="320040"/>
          </a:xfrm>
          <a:prstGeom prst="rect">
            <a:avLst/>
          </a:prstGeom>
          <a:noFill/>
          <a:ln/>
        </p:spPr>
        <p:txBody>
          <a:bodyPr wrap="square" lIns="0" tIns="0" rIns="0" bIns="0" rtlCol="0" anchor="ctr"/>
          <a:lstStyle/>
          <a:p>
            <a:pPr marL="0" indent="0">
              <a:buNone/>
            </a:pPr>
            <a:r>
              <a:rPr lang="en-US" sz="1200" b="1" dirty="0">
                <a:solidFill>
                  <a:srgbClr val="0E9F7E"/>
                </a:solidFill>
                <a:latin typeface="Calibri" pitchFamily="34" charset="0"/>
                <a:ea typeface="Calibri" pitchFamily="34" charset="-122"/>
                <a:cs typeface="Calibri" pitchFamily="34" charset="-120"/>
              </a:rPr>
              <a:t>45 min</a:t>
            </a:r>
            <a:endParaRPr lang="en-US" sz="1200" dirty="0"/>
          </a:p>
        </p:txBody>
      </p:sp>
      <p:sp>
        <p:nvSpPr>
          <p:cNvPr id="26" name="Text 20"/>
          <p:cNvSpPr/>
          <p:nvPr/>
        </p:nvSpPr>
        <p:spPr>
          <a:xfrm>
            <a:off x="7251192" y="2286000"/>
            <a:ext cx="1664208" cy="77724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4. Governance, CI/CD &amp; Production</a:t>
            </a:r>
            <a:endParaRPr lang="en-US" sz="1400" dirty="0"/>
          </a:p>
        </p:txBody>
      </p:sp>
      <p:sp>
        <p:nvSpPr>
          <p:cNvPr id="27" name="Text 21"/>
          <p:cNvSpPr/>
          <p:nvPr/>
        </p:nvSpPr>
        <p:spPr>
          <a:xfrm>
            <a:off x="7251192" y="3063240"/>
            <a:ext cx="1664208" cy="1325880"/>
          </a:xfrm>
          <a:prstGeom prst="rect">
            <a:avLst/>
          </a:prstGeom>
          <a:noFill/>
          <a:ln/>
        </p:spPr>
        <p:txBody>
          <a:bodyPr wrap="square" lIns="0" tIns="0" rIns="0" bIns="0" rtlCol="0" anchor="ctr"/>
          <a:lstStyle/>
          <a:p>
            <a:pPr marL="0" indent="0">
              <a:buNone/>
            </a:pPr>
            <a:r>
              <a:rPr lang="en-US" sz="1100" dirty="0">
                <a:solidFill>
                  <a:srgbClr val="20263F"/>
                </a:solidFill>
                <a:latin typeface="Calibri" pitchFamily="34" charset="0"/>
                <a:ea typeface="Calibri" pitchFamily="34" charset="-122"/>
                <a:cs typeface="Calibri" pitchFamily="34" charset="-120"/>
              </a:rPr>
              <a:t>Pipeline gates in Azure DevOps / GitHub Actions, continuous evaluation, and the wider trust stack.</a:t>
            </a:r>
            <a:endParaRPr lang="en-US" sz="1100" dirty="0"/>
          </a:p>
        </p:txBody>
      </p:sp>
      <p:sp>
        <p:nvSpPr>
          <p:cNvPr id="28" name="Text 22"/>
          <p:cNvSpPr/>
          <p:nvPr/>
        </p:nvSpPr>
        <p:spPr>
          <a:xfrm>
            <a:off x="502920" y="4681728"/>
            <a:ext cx="8138160" cy="274320"/>
          </a:xfrm>
          <a:prstGeom prst="rect">
            <a:avLst/>
          </a:prstGeom>
          <a:noFill/>
          <a:ln/>
        </p:spPr>
        <p:txBody>
          <a:bodyPr wrap="square" lIns="0" tIns="0" rIns="0" bIns="0" rtlCol="0" anchor="ctr"/>
          <a:lstStyle/>
          <a:p>
            <a:pPr marL="0" indent="0">
              <a:buNone/>
            </a:pPr>
            <a:r>
              <a:rPr lang="en-US" sz="1100" i="1" dirty="0">
                <a:solidFill>
                  <a:srgbClr val="5A6378"/>
                </a:solidFill>
                <a:latin typeface="Calibri" pitchFamily="34" charset="0"/>
                <a:ea typeface="Calibri" pitchFamily="34" charset="-122"/>
                <a:cs typeface="Calibri" pitchFamily="34" charset="-120"/>
              </a:rPr>
              <a:t>Two 10-minute breaks — after Module 1 and after Lab 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8138160" cy="274320"/>
          </a:xfrm>
          <a:prstGeom prst="rect">
            <a:avLst/>
          </a:prstGeom>
          <a:noFill/>
          <a:ln/>
        </p:spPr>
        <p:txBody>
          <a:bodyPr wrap="square" lIns="0" tIns="0" rIns="0" bIns="0" rtlCol="0" anchor="ctr"/>
          <a:lstStyle/>
          <a:p>
            <a:pPr marL="0" indent="0">
              <a:buNone/>
            </a:pPr>
            <a:r>
              <a:rPr lang="en-US" sz="1100" b="1" kern="0" spc="300" dirty="0">
                <a:solidFill>
                  <a:srgbClr val="5A6378"/>
                </a:solidFill>
                <a:latin typeface="Calibri" pitchFamily="34" charset="0"/>
                <a:ea typeface="Calibri" pitchFamily="34" charset="-122"/>
                <a:cs typeface="Calibri" pitchFamily="34" charset="-120"/>
              </a:rPr>
              <a:t>MODULE 1 · WHY THIS MATTERS</a:t>
            </a:r>
            <a:endParaRPr lang="en-US" sz="1100" dirty="0"/>
          </a:p>
        </p:txBody>
      </p:sp>
      <p:sp>
        <p:nvSpPr>
          <p:cNvPr id="3" name="Text 1"/>
          <p:cNvSpPr/>
          <p:nvPr/>
        </p:nvSpPr>
        <p:spPr>
          <a:xfrm>
            <a:off x="502920" y="530352"/>
            <a:ext cx="8138160" cy="68580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Agents fail differently</a:t>
            </a:r>
            <a:endParaRPr lang="en-US" sz="3000" dirty="0"/>
          </a:p>
        </p:txBody>
      </p:sp>
      <p:sp>
        <p:nvSpPr>
          <p:cNvPr id="4" name="Shape 2"/>
          <p:cNvSpPr/>
          <p:nvPr/>
        </p:nvSpPr>
        <p:spPr>
          <a:xfrm>
            <a:off x="548640" y="1508760"/>
            <a:ext cx="566928" cy="566928"/>
          </a:xfrm>
          <a:prstGeom prst="ellipse">
            <a:avLst/>
          </a:prstGeom>
          <a:solidFill>
            <a:srgbClr val="1E2761"/>
          </a:solidFill>
          <a:ln/>
        </p:spPr>
        <p:txBody>
          <a:bodyPr/>
          <a:lstStyle/>
          <a:p>
            <a:endParaRPr lang="en-GB"/>
          </a:p>
        </p:txBody>
      </p:sp>
      <p:pic>
        <p:nvPicPr>
          <p:cNvPr id="5" name="Image 0" descr="preencoded.png"/>
          <p:cNvPicPr>
            <a:picLocks noChangeAspect="1"/>
          </p:cNvPicPr>
          <p:nvPr/>
        </p:nvPicPr>
        <p:blipFill>
          <a:blip r:embed="rId3"/>
          <a:stretch>
            <a:fillRect/>
          </a:stretch>
        </p:blipFill>
        <p:spPr>
          <a:xfrm>
            <a:off x="696041" y="1656161"/>
            <a:ext cx="272125" cy="272125"/>
          </a:xfrm>
          <a:prstGeom prst="rect">
            <a:avLst/>
          </a:prstGeom>
        </p:spPr>
      </p:pic>
      <p:sp>
        <p:nvSpPr>
          <p:cNvPr id="6" name="Text 3"/>
          <p:cNvSpPr/>
          <p:nvPr/>
        </p:nvSpPr>
        <p:spPr>
          <a:xfrm>
            <a:off x="1325880" y="1490472"/>
            <a:ext cx="7223760" cy="320040"/>
          </a:xfrm>
          <a:prstGeom prst="rect">
            <a:avLst/>
          </a:prstGeom>
          <a:noFill/>
          <a:ln/>
        </p:spPr>
        <p:txBody>
          <a:bodyPr wrap="square" lIns="0" tIns="0" rIns="0" bIns="0" rtlCol="0" anchor="ctr"/>
          <a:lstStyle/>
          <a:p>
            <a:pPr marL="0" indent="0">
              <a:buNone/>
            </a:pPr>
            <a:r>
              <a:rPr lang="en-US" sz="1600" b="1" dirty="0">
                <a:solidFill>
                  <a:srgbClr val="1E2761"/>
                </a:solidFill>
                <a:latin typeface="Calibri" pitchFamily="34" charset="0"/>
                <a:ea typeface="Calibri" pitchFamily="34" charset="-122"/>
                <a:cs typeface="Calibri" pitchFamily="34" charset="-120"/>
              </a:rPr>
              <a:t>Quality erodes, it doesn't crash</a:t>
            </a:r>
            <a:endParaRPr lang="en-US" sz="1600" dirty="0"/>
          </a:p>
        </p:txBody>
      </p:sp>
      <p:sp>
        <p:nvSpPr>
          <p:cNvPr id="7" name="Text 4"/>
          <p:cNvSpPr/>
          <p:nvPr/>
        </p:nvSpPr>
        <p:spPr>
          <a:xfrm>
            <a:off x="1325880" y="1810512"/>
            <a:ext cx="7223760" cy="640080"/>
          </a:xfrm>
          <a:prstGeom prst="rect">
            <a:avLst/>
          </a:prstGeom>
          <a:noFill/>
          <a:ln/>
        </p:spPr>
        <p:txBody>
          <a:bodyPr wrap="square" lIns="0" tIns="0" rIns="0" bIns="0" rtlCol="0" anchor="ctr"/>
          <a:lstStyle/>
          <a:p>
            <a:pPr marL="0" indent="0">
              <a:buNone/>
            </a:pPr>
            <a:r>
              <a:rPr lang="en-US" sz="1300" dirty="0">
                <a:solidFill>
                  <a:srgbClr val="20263F"/>
                </a:solidFill>
                <a:latin typeface="Calibri" pitchFamily="34" charset="0"/>
                <a:ea typeface="Calibri" pitchFamily="34" charset="-122"/>
                <a:cs typeface="Calibri" pitchFamily="34" charset="-120"/>
              </a:rPr>
              <a:t>Context drifts, reasoning wanders, answers degrade across a conversation. Traditional APM sees a healthy 200 OK the whole way down.</a:t>
            </a:r>
            <a:endParaRPr lang="en-US" sz="1300" dirty="0"/>
          </a:p>
        </p:txBody>
      </p:sp>
      <p:sp>
        <p:nvSpPr>
          <p:cNvPr id="8" name="Shape 5"/>
          <p:cNvSpPr/>
          <p:nvPr/>
        </p:nvSpPr>
        <p:spPr>
          <a:xfrm>
            <a:off x="548640" y="2587752"/>
            <a:ext cx="566928" cy="566928"/>
          </a:xfrm>
          <a:prstGeom prst="ellipse">
            <a:avLst/>
          </a:prstGeom>
          <a:solidFill>
            <a:srgbClr val="1E2761"/>
          </a:solidFill>
          <a:ln/>
        </p:spPr>
        <p:txBody>
          <a:bodyPr/>
          <a:lstStyle/>
          <a:p>
            <a:endParaRPr lang="en-GB"/>
          </a:p>
        </p:txBody>
      </p:sp>
      <p:pic>
        <p:nvPicPr>
          <p:cNvPr id="9" name="Image 1" descr="preencoded.png"/>
          <p:cNvPicPr>
            <a:picLocks noChangeAspect="1"/>
          </p:cNvPicPr>
          <p:nvPr/>
        </p:nvPicPr>
        <p:blipFill>
          <a:blip r:embed="rId4"/>
          <a:stretch>
            <a:fillRect/>
          </a:stretch>
        </p:blipFill>
        <p:spPr>
          <a:xfrm>
            <a:off x="696041" y="2735153"/>
            <a:ext cx="272125" cy="272125"/>
          </a:xfrm>
          <a:prstGeom prst="rect">
            <a:avLst/>
          </a:prstGeom>
        </p:spPr>
      </p:pic>
      <p:sp>
        <p:nvSpPr>
          <p:cNvPr id="10" name="Text 6"/>
          <p:cNvSpPr/>
          <p:nvPr/>
        </p:nvSpPr>
        <p:spPr>
          <a:xfrm>
            <a:off x="1325880" y="2569464"/>
            <a:ext cx="7223760" cy="320040"/>
          </a:xfrm>
          <a:prstGeom prst="rect">
            <a:avLst/>
          </a:prstGeom>
          <a:noFill/>
          <a:ln/>
        </p:spPr>
        <p:txBody>
          <a:bodyPr wrap="square" lIns="0" tIns="0" rIns="0" bIns="0" rtlCol="0" anchor="ctr"/>
          <a:lstStyle/>
          <a:p>
            <a:pPr marL="0" indent="0">
              <a:buNone/>
            </a:pPr>
            <a:r>
              <a:rPr lang="en-US" sz="1600" b="1" dirty="0">
                <a:solidFill>
                  <a:srgbClr val="1E2761"/>
                </a:solidFill>
                <a:latin typeface="Calibri" pitchFamily="34" charset="0"/>
                <a:ea typeface="Calibri" pitchFamily="34" charset="-122"/>
                <a:cs typeface="Calibri" pitchFamily="34" charset="-120"/>
              </a:rPr>
              <a:t>Demos aren't evidence</a:t>
            </a:r>
            <a:endParaRPr lang="en-US" sz="1600" dirty="0"/>
          </a:p>
        </p:txBody>
      </p:sp>
      <p:sp>
        <p:nvSpPr>
          <p:cNvPr id="11" name="Text 7"/>
          <p:cNvSpPr/>
          <p:nvPr/>
        </p:nvSpPr>
        <p:spPr>
          <a:xfrm>
            <a:off x="1325880" y="2889504"/>
            <a:ext cx="7223760" cy="640080"/>
          </a:xfrm>
          <a:prstGeom prst="rect">
            <a:avLst/>
          </a:prstGeom>
          <a:noFill/>
          <a:ln/>
        </p:spPr>
        <p:txBody>
          <a:bodyPr wrap="square" lIns="0" tIns="0" rIns="0" bIns="0" rtlCol="0" anchor="ctr"/>
          <a:lstStyle/>
          <a:p>
            <a:pPr marL="0" indent="0">
              <a:buNone/>
            </a:pPr>
            <a:r>
              <a:rPr lang="en-US" sz="1300" dirty="0">
                <a:solidFill>
                  <a:srgbClr val="20263F"/>
                </a:solidFill>
                <a:latin typeface="Calibri" pitchFamily="34" charset="0"/>
                <a:ea typeface="Calibri" pitchFamily="34" charset="-122"/>
                <a:cs typeface="Calibri" pitchFamily="34" charset="-120"/>
              </a:rPr>
              <a:t>The gap between a working demo and a trusted production agent is an evaluation and observability gap — not a modelling gap.</a:t>
            </a:r>
            <a:endParaRPr lang="en-US" sz="1300" dirty="0"/>
          </a:p>
        </p:txBody>
      </p:sp>
      <p:sp>
        <p:nvSpPr>
          <p:cNvPr id="12" name="Shape 8"/>
          <p:cNvSpPr/>
          <p:nvPr/>
        </p:nvSpPr>
        <p:spPr>
          <a:xfrm>
            <a:off x="548640" y="3666744"/>
            <a:ext cx="566928" cy="566928"/>
          </a:xfrm>
          <a:prstGeom prst="ellipse">
            <a:avLst/>
          </a:prstGeom>
          <a:solidFill>
            <a:srgbClr val="1E2761"/>
          </a:solidFill>
          <a:ln/>
        </p:spPr>
        <p:txBody>
          <a:bodyPr/>
          <a:lstStyle/>
          <a:p>
            <a:endParaRPr lang="en-GB"/>
          </a:p>
        </p:txBody>
      </p:sp>
      <p:pic>
        <p:nvPicPr>
          <p:cNvPr id="13" name="Image 2" descr="preencoded.png"/>
          <p:cNvPicPr>
            <a:picLocks noChangeAspect="1"/>
          </p:cNvPicPr>
          <p:nvPr/>
        </p:nvPicPr>
        <p:blipFill>
          <a:blip r:embed="rId5"/>
          <a:stretch>
            <a:fillRect/>
          </a:stretch>
        </p:blipFill>
        <p:spPr>
          <a:xfrm>
            <a:off x="696041" y="3814145"/>
            <a:ext cx="272125" cy="272125"/>
          </a:xfrm>
          <a:prstGeom prst="rect">
            <a:avLst/>
          </a:prstGeom>
        </p:spPr>
      </p:pic>
      <p:sp>
        <p:nvSpPr>
          <p:cNvPr id="14" name="Text 9"/>
          <p:cNvSpPr/>
          <p:nvPr/>
        </p:nvSpPr>
        <p:spPr>
          <a:xfrm>
            <a:off x="1325880" y="3648456"/>
            <a:ext cx="7223760" cy="320040"/>
          </a:xfrm>
          <a:prstGeom prst="rect">
            <a:avLst/>
          </a:prstGeom>
          <a:noFill/>
          <a:ln/>
        </p:spPr>
        <p:txBody>
          <a:bodyPr wrap="square" lIns="0" tIns="0" rIns="0" bIns="0" rtlCol="0" anchor="ctr"/>
          <a:lstStyle/>
          <a:p>
            <a:pPr marL="0" indent="0">
              <a:buNone/>
            </a:pPr>
            <a:r>
              <a:rPr lang="en-US" sz="1600" b="1" dirty="0">
                <a:solidFill>
                  <a:srgbClr val="1E2761"/>
                </a:solidFill>
                <a:latin typeface="Calibri" pitchFamily="34" charset="0"/>
                <a:ea typeface="Calibri" pitchFamily="34" charset="-122"/>
                <a:cs typeface="Calibri" pitchFamily="34" charset="-120"/>
              </a:rPr>
              <a:t>Quality must become a live signal</a:t>
            </a:r>
            <a:endParaRPr lang="en-US" sz="1600" dirty="0"/>
          </a:p>
        </p:txBody>
      </p:sp>
      <p:sp>
        <p:nvSpPr>
          <p:cNvPr id="15" name="Text 10"/>
          <p:cNvSpPr/>
          <p:nvPr/>
        </p:nvSpPr>
        <p:spPr>
          <a:xfrm>
            <a:off x="1325880" y="3968496"/>
            <a:ext cx="7223760" cy="640080"/>
          </a:xfrm>
          <a:prstGeom prst="rect">
            <a:avLst/>
          </a:prstGeom>
          <a:noFill/>
          <a:ln/>
        </p:spPr>
        <p:txBody>
          <a:bodyPr wrap="square" lIns="0" tIns="0" rIns="0" bIns="0" rtlCol="0" anchor="ctr"/>
          <a:lstStyle/>
          <a:p>
            <a:pPr marL="0" indent="0">
              <a:buNone/>
            </a:pPr>
            <a:r>
              <a:rPr lang="en-US" sz="1300" dirty="0">
                <a:solidFill>
                  <a:srgbClr val="20263F"/>
                </a:solidFill>
                <a:latin typeface="Calibri" pitchFamily="34" charset="0"/>
                <a:ea typeface="Calibri" pitchFamily="34" charset="-122"/>
                <a:cs typeface="Calibri" pitchFamily="34" charset="-120"/>
              </a:rPr>
              <a:t>Foundry's stance: evaluation is a lifecycle discipline — pre-deployment gate, production monitor, and optimization input.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8138160" cy="274320"/>
          </a:xfrm>
          <a:prstGeom prst="rect">
            <a:avLst/>
          </a:prstGeom>
          <a:noFill/>
          <a:ln/>
        </p:spPr>
        <p:txBody>
          <a:bodyPr wrap="square" lIns="0" tIns="0" rIns="0" bIns="0" rtlCol="0" anchor="ctr"/>
          <a:lstStyle/>
          <a:p>
            <a:pPr marL="0" indent="0">
              <a:buNone/>
            </a:pPr>
            <a:r>
              <a:rPr lang="en-US" sz="1100" b="1" kern="0" spc="300" dirty="0">
                <a:solidFill>
                  <a:srgbClr val="5A6378"/>
                </a:solidFill>
                <a:latin typeface="Calibri" pitchFamily="34" charset="0"/>
                <a:ea typeface="Calibri" pitchFamily="34" charset="-122"/>
                <a:cs typeface="Calibri" pitchFamily="34" charset="-120"/>
              </a:rPr>
              <a:t>MODULE 1 · THE MODEL</a:t>
            </a:r>
            <a:endParaRPr lang="en-US" sz="1100" dirty="0"/>
          </a:p>
        </p:txBody>
      </p:sp>
      <p:sp>
        <p:nvSpPr>
          <p:cNvPr id="3" name="Text 1"/>
          <p:cNvSpPr/>
          <p:nvPr/>
        </p:nvSpPr>
        <p:spPr>
          <a:xfrm>
            <a:off x="502920" y="530352"/>
            <a:ext cx="8138160" cy="68580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One continuous loop: Trace → Evaluate → Monitor → Optimize</a:t>
            </a:r>
            <a:endParaRPr lang="en-US" sz="3000" dirty="0"/>
          </a:p>
        </p:txBody>
      </p:sp>
      <p:sp>
        <p:nvSpPr>
          <p:cNvPr id="4" name="Shape 2"/>
          <p:cNvSpPr/>
          <p:nvPr/>
        </p:nvSpPr>
        <p:spPr>
          <a:xfrm>
            <a:off x="548640" y="1737360"/>
            <a:ext cx="1874520" cy="2148840"/>
          </a:xfrm>
          <a:prstGeom prst="roundRect">
            <a:avLst>
              <a:gd name="adj" fmla="val 2927"/>
            </a:avLst>
          </a:prstGeom>
          <a:solidFill>
            <a:srgbClr val="EEF4FE"/>
          </a:solidFill>
          <a:ln/>
          <a:effectLst>
            <a:outerShdw blurRad="88900" dist="25400" dir="2700000" algn="bl" rotWithShape="0">
              <a:srgbClr val="000000">
                <a:alpha val="14000"/>
              </a:srgbClr>
            </a:outerShdw>
          </a:effectLst>
        </p:spPr>
        <p:txBody>
          <a:bodyPr/>
          <a:lstStyle/>
          <a:p>
            <a:endParaRPr lang="en-GB"/>
          </a:p>
        </p:txBody>
      </p:sp>
      <p:sp>
        <p:nvSpPr>
          <p:cNvPr id="5" name="Shape 3"/>
          <p:cNvSpPr/>
          <p:nvPr/>
        </p:nvSpPr>
        <p:spPr>
          <a:xfrm>
            <a:off x="1202436" y="1938528"/>
            <a:ext cx="566928" cy="566928"/>
          </a:xfrm>
          <a:prstGeom prst="ellipse">
            <a:avLst/>
          </a:prstGeom>
          <a:solidFill>
            <a:srgbClr val="1E2761"/>
          </a:solidFill>
          <a:ln/>
        </p:spPr>
        <p:txBody>
          <a:bodyPr/>
          <a:lstStyle/>
          <a:p>
            <a:endParaRPr lang="en-GB"/>
          </a:p>
        </p:txBody>
      </p:sp>
      <p:pic>
        <p:nvPicPr>
          <p:cNvPr id="6" name="Image 0" descr="preencoded.png"/>
          <p:cNvPicPr>
            <a:picLocks noChangeAspect="1"/>
          </p:cNvPicPr>
          <p:nvPr/>
        </p:nvPicPr>
        <p:blipFill>
          <a:blip r:embed="rId3"/>
          <a:stretch>
            <a:fillRect/>
          </a:stretch>
        </p:blipFill>
        <p:spPr>
          <a:xfrm>
            <a:off x="1349837" y="2085929"/>
            <a:ext cx="272125" cy="272125"/>
          </a:xfrm>
          <a:prstGeom prst="rect">
            <a:avLst/>
          </a:prstGeom>
        </p:spPr>
      </p:pic>
      <p:sp>
        <p:nvSpPr>
          <p:cNvPr id="7" name="Text 4"/>
          <p:cNvSpPr/>
          <p:nvPr/>
        </p:nvSpPr>
        <p:spPr>
          <a:xfrm>
            <a:off x="548640" y="2606040"/>
            <a:ext cx="1874520" cy="320040"/>
          </a:xfrm>
          <a:prstGeom prst="rect">
            <a:avLst/>
          </a:prstGeom>
          <a:noFill/>
          <a:ln/>
        </p:spPr>
        <p:txBody>
          <a:bodyPr wrap="square" lIns="0" tIns="0" rIns="0" bIns="0" rtlCol="0" anchor="ctr"/>
          <a:lstStyle/>
          <a:p>
            <a:pPr marL="0" indent="0" algn="ctr">
              <a:buNone/>
            </a:pPr>
            <a:r>
              <a:rPr lang="en-US" sz="1600" b="1" dirty="0">
                <a:solidFill>
                  <a:srgbClr val="1E2761"/>
                </a:solidFill>
                <a:latin typeface="Calibri" pitchFamily="34" charset="0"/>
                <a:ea typeface="Calibri" pitchFamily="34" charset="-122"/>
                <a:cs typeface="Calibri" pitchFamily="34" charset="-120"/>
              </a:rPr>
              <a:t>Trace</a:t>
            </a:r>
            <a:endParaRPr lang="en-US" sz="1600" dirty="0"/>
          </a:p>
        </p:txBody>
      </p:sp>
      <p:sp>
        <p:nvSpPr>
          <p:cNvPr id="8" name="Text 5"/>
          <p:cNvSpPr/>
          <p:nvPr/>
        </p:nvSpPr>
        <p:spPr>
          <a:xfrm>
            <a:off x="685800" y="2944368"/>
            <a:ext cx="1600200" cy="868680"/>
          </a:xfrm>
          <a:prstGeom prst="rect">
            <a:avLst/>
          </a:prstGeom>
          <a:noFill/>
          <a:ln/>
        </p:spPr>
        <p:txBody>
          <a:bodyPr wrap="square" lIns="0" tIns="0" rIns="0" bIns="0" rtlCol="0" anchor="ctr"/>
          <a:lstStyle/>
          <a:p>
            <a:pPr marL="0" indent="0" algn="ctr">
              <a:buNone/>
            </a:pPr>
            <a:r>
              <a:rPr lang="en-US" sz="1050" dirty="0">
                <a:solidFill>
                  <a:srgbClr val="20263F"/>
                </a:solidFill>
                <a:latin typeface="Calibri" pitchFamily="34" charset="0"/>
                <a:ea typeface="Calibri" pitchFamily="34" charset="-122"/>
                <a:cs typeface="Calibri" pitchFamily="34" charset="-120"/>
              </a:rPr>
              <a:t>End-to-end telemetry: every prompt, model call, tool invocation, sub-agent hop</a:t>
            </a:r>
            <a:endParaRPr lang="en-US" sz="1050" dirty="0"/>
          </a:p>
        </p:txBody>
      </p:sp>
      <p:sp>
        <p:nvSpPr>
          <p:cNvPr id="9" name="Text 6"/>
          <p:cNvSpPr/>
          <p:nvPr/>
        </p:nvSpPr>
        <p:spPr>
          <a:xfrm>
            <a:off x="2441448" y="2606040"/>
            <a:ext cx="292608" cy="365760"/>
          </a:xfrm>
          <a:prstGeom prst="rect">
            <a:avLst/>
          </a:prstGeom>
          <a:noFill/>
          <a:ln/>
        </p:spPr>
        <p:txBody>
          <a:bodyPr wrap="square" lIns="0" tIns="0" rIns="0" bIns="0" rtlCol="0" anchor="ctr"/>
          <a:lstStyle/>
          <a:p>
            <a:pPr marL="0" indent="0" algn="ctr">
              <a:buNone/>
            </a:pPr>
            <a:r>
              <a:rPr lang="en-US" sz="2000" b="1" dirty="0">
                <a:solidFill>
                  <a:srgbClr val="5A6378"/>
                </a:solidFill>
                <a:latin typeface="Calibri" pitchFamily="34" charset="0"/>
                <a:ea typeface="Calibri" pitchFamily="34" charset="-122"/>
                <a:cs typeface="Calibri" pitchFamily="34" charset="-120"/>
              </a:rPr>
              <a:t>→</a:t>
            </a:r>
            <a:endParaRPr lang="en-US" sz="2000" dirty="0"/>
          </a:p>
        </p:txBody>
      </p:sp>
      <p:sp>
        <p:nvSpPr>
          <p:cNvPr id="10" name="Shape 7"/>
          <p:cNvSpPr/>
          <p:nvPr/>
        </p:nvSpPr>
        <p:spPr>
          <a:xfrm>
            <a:off x="2743200" y="1737360"/>
            <a:ext cx="1874520" cy="2148840"/>
          </a:xfrm>
          <a:prstGeom prst="roundRect">
            <a:avLst>
              <a:gd name="adj" fmla="val 2927"/>
            </a:avLst>
          </a:prstGeom>
          <a:solidFill>
            <a:srgbClr val="1E2761"/>
          </a:solidFill>
          <a:ln/>
          <a:effectLst>
            <a:outerShdw blurRad="88900" dist="25400" dir="2700000" algn="bl" rotWithShape="0">
              <a:srgbClr val="000000">
                <a:alpha val="14000"/>
              </a:srgbClr>
            </a:outerShdw>
          </a:effectLst>
        </p:spPr>
        <p:txBody>
          <a:bodyPr/>
          <a:lstStyle/>
          <a:p>
            <a:endParaRPr lang="en-GB"/>
          </a:p>
        </p:txBody>
      </p:sp>
      <p:sp>
        <p:nvSpPr>
          <p:cNvPr id="11" name="Shape 8"/>
          <p:cNvSpPr/>
          <p:nvPr/>
        </p:nvSpPr>
        <p:spPr>
          <a:xfrm>
            <a:off x="3396996" y="1938528"/>
            <a:ext cx="566928" cy="566928"/>
          </a:xfrm>
          <a:prstGeom prst="ellipse">
            <a:avLst/>
          </a:prstGeom>
          <a:solidFill>
            <a:srgbClr val="0E9F7E"/>
          </a:solidFill>
          <a:ln/>
        </p:spPr>
        <p:txBody>
          <a:bodyPr/>
          <a:lstStyle/>
          <a:p>
            <a:endParaRPr lang="en-GB"/>
          </a:p>
        </p:txBody>
      </p:sp>
      <p:pic>
        <p:nvPicPr>
          <p:cNvPr id="12" name="Image 1" descr="preencoded.png"/>
          <p:cNvPicPr>
            <a:picLocks noChangeAspect="1"/>
          </p:cNvPicPr>
          <p:nvPr/>
        </p:nvPicPr>
        <p:blipFill>
          <a:blip r:embed="rId4"/>
          <a:stretch>
            <a:fillRect/>
          </a:stretch>
        </p:blipFill>
        <p:spPr>
          <a:xfrm>
            <a:off x="3544397" y="2085929"/>
            <a:ext cx="272125" cy="272125"/>
          </a:xfrm>
          <a:prstGeom prst="rect">
            <a:avLst/>
          </a:prstGeom>
        </p:spPr>
      </p:pic>
      <p:sp>
        <p:nvSpPr>
          <p:cNvPr id="13" name="Text 9"/>
          <p:cNvSpPr/>
          <p:nvPr/>
        </p:nvSpPr>
        <p:spPr>
          <a:xfrm>
            <a:off x="2743200" y="2606040"/>
            <a:ext cx="1874520" cy="32004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Evaluate</a:t>
            </a:r>
            <a:endParaRPr lang="en-US" sz="1600" dirty="0"/>
          </a:p>
        </p:txBody>
      </p:sp>
      <p:sp>
        <p:nvSpPr>
          <p:cNvPr id="14" name="Text 10"/>
          <p:cNvSpPr/>
          <p:nvPr/>
        </p:nvSpPr>
        <p:spPr>
          <a:xfrm>
            <a:off x="2880360" y="2944368"/>
            <a:ext cx="1600200" cy="868680"/>
          </a:xfrm>
          <a:prstGeom prst="rect">
            <a:avLst/>
          </a:prstGeom>
          <a:noFill/>
          <a:ln/>
        </p:spPr>
        <p:txBody>
          <a:bodyPr wrap="square" lIns="0" tIns="0" rIns="0" bIns="0" rtlCol="0" anchor="ctr"/>
          <a:lstStyle/>
          <a:p>
            <a:pPr marL="0" indent="0" algn="ctr">
              <a:buNone/>
            </a:pPr>
            <a:r>
              <a:rPr lang="en-US" sz="1050" dirty="0">
                <a:solidFill>
                  <a:srgbClr val="CADCFC"/>
                </a:solidFill>
                <a:latin typeface="Calibri" pitchFamily="34" charset="0"/>
                <a:ea typeface="Calibri" pitchFamily="34" charset="-122"/>
                <a:cs typeface="Calibri" pitchFamily="34" charset="-120"/>
              </a:rPr>
              <a:t>Quality, safety, task-completion scoring — single-turn and multi-turn</a:t>
            </a:r>
            <a:endParaRPr lang="en-US" sz="1050" dirty="0"/>
          </a:p>
        </p:txBody>
      </p:sp>
      <p:sp>
        <p:nvSpPr>
          <p:cNvPr id="15" name="Text 11"/>
          <p:cNvSpPr/>
          <p:nvPr/>
        </p:nvSpPr>
        <p:spPr>
          <a:xfrm>
            <a:off x="4636008" y="2606040"/>
            <a:ext cx="292608" cy="365760"/>
          </a:xfrm>
          <a:prstGeom prst="rect">
            <a:avLst/>
          </a:prstGeom>
          <a:noFill/>
          <a:ln/>
        </p:spPr>
        <p:txBody>
          <a:bodyPr wrap="square" lIns="0" tIns="0" rIns="0" bIns="0" rtlCol="0" anchor="ctr"/>
          <a:lstStyle/>
          <a:p>
            <a:pPr marL="0" indent="0" algn="ctr">
              <a:buNone/>
            </a:pPr>
            <a:r>
              <a:rPr lang="en-US" sz="2000" b="1" dirty="0">
                <a:solidFill>
                  <a:srgbClr val="5A6378"/>
                </a:solidFill>
                <a:latin typeface="Calibri" pitchFamily="34" charset="0"/>
                <a:ea typeface="Calibri" pitchFamily="34" charset="-122"/>
                <a:cs typeface="Calibri" pitchFamily="34" charset="-120"/>
              </a:rPr>
              <a:t>→</a:t>
            </a:r>
            <a:endParaRPr lang="en-US" sz="2000" dirty="0"/>
          </a:p>
        </p:txBody>
      </p:sp>
      <p:sp>
        <p:nvSpPr>
          <p:cNvPr id="16" name="Shape 12"/>
          <p:cNvSpPr/>
          <p:nvPr/>
        </p:nvSpPr>
        <p:spPr>
          <a:xfrm>
            <a:off x="4937760" y="1737360"/>
            <a:ext cx="1874520" cy="2148840"/>
          </a:xfrm>
          <a:prstGeom prst="roundRect">
            <a:avLst>
              <a:gd name="adj" fmla="val 2927"/>
            </a:avLst>
          </a:prstGeom>
          <a:solidFill>
            <a:srgbClr val="EEF4FE"/>
          </a:solidFill>
          <a:ln/>
          <a:effectLst>
            <a:outerShdw blurRad="88900" dist="25400" dir="2700000" algn="bl" rotWithShape="0">
              <a:srgbClr val="000000">
                <a:alpha val="14000"/>
              </a:srgbClr>
            </a:outerShdw>
          </a:effectLst>
        </p:spPr>
        <p:txBody>
          <a:bodyPr/>
          <a:lstStyle/>
          <a:p>
            <a:endParaRPr lang="en-GB"/>
          </a:p>
        </p:txBody>
      </p:sp>
      <p:sp>
        <p:nvSpPr>
          <p:cNvPr id="17" name="Shape 13"/>
          <p:cNvSpPr/>
          <p:nvPr/>
        </p:nvSpPr>
        <p:spPr>
          <a:xfrm>
            <a:off x="5591556" y="1938528"/>
            <a:ext cx="566928" cy="566928"/>
          </a:xfrm>
          <a:prstGeom prst="ellipse">
            <a:avLst/>
          </a:prstGeom>
          <a:solidFill>
            <a:srgbClr val="1E2761"/>
          </a:solidFill>
          <a:ln/>
        </p:spPr>
        <p:txBody>
          <a:bodyPr/>
          <a:lstStyle/>
          <a:p>
            <a:endParaRPr lang="en-GB"/>
          </a:p>
        </p:txBody>
      </p:sp>
      <p:pic>
        <p:nvPicPr>
          <p:cNvPr id="18" name="Image 2" descr="preencoded.png"/>
          <p:cNvPicPr>
            <a:picLocks noChangeAspect="1"/>
          </p:cNvPicPr>
          <p:nvPr/>
        </p:nvPicPr>
        <p:blipFill>
          <a:blip r:embed="rId5"/>
          <a:stretch>
            <a:fillRect/>
          </a:stretch>
        </p:blipFill>
        <p:spPr>
          <a:xfrm>
            <a:off x="5738957" y="2085929"/>
            <a:ext cx="272125" cy="272125"/>
          </a:xfrm>
          <a:prstGeom prst="rect">
            <a:avLst/>
          </a:prstGeom>
        </p:spPr>
      </p:pic>
      <p:sp>
        <p:nvSpPr>
          <p:cNvPr id="19" name="Text 14"/>
          <p:cNvSpPr/>
          <p:nvPr/>
        </p:nvSpPr>
        <p:spPr>
          <a:xfrm>
            <a:off x="4937760" y="2606040"/>
            <a:ext cx="1874520" cy="320040"/>
          </a:xfrm>
          <a:prstGeom prst="rect">
            <a:avLst/>
          </a:prstGeom>
          <a:noFill/>
          <a:ln/>
        </p:spPr>
        <p:txBody>
          <a:bodyPr wrap="square" lIns="0" tIns="0" rIns="0" bIns="0" rtlCol="0" anchor="ctr"/>
          <a:lstStyle/>
          <a:p>
            <a:pPr marL="0" indent="0" algn="ctr">
              <a:buNone/>
            </a:pPr>
            <a:r>
              <a:rPr lang="en-US" sz="1600" b="1" dirty="0">
                <a:solidFill>
                  <a:srgbClr val="1E2761"/>
                </a:solidFill>
                <a:latin typeface="Calibri" pitchFamily="34" charset="0"/>
                <a:ea typeface="Calibri" pitchFamily="34" charset="-122"/>
                <a:cs typeface="Calibri" pitchFamily="34" charset="-120"/>
              </a:rPr>
              <a:t>Monitor</a:t>
            </a:r>
            <a:endParaRPr lang="en-US" sz="1600" dirty="0"/>
          </a:p>
        </p:txBody>
      </p:sp>
      <p:sp>
        <p:nvSpPr>
          <p:cNvPr id="20" name="Text 15"/>
          <p:cNvSpPr/>
          <p:nvPr/>
        </p:nvSpPr>
        <p:spPr>
          <a:xfrm>
            <a:off x="5074920" y="2944368"/>
            <a:ext cx="1600200" cy="868680"/>
          </a:xfrm>
          <a:prstGeom prst="rect">
            <a:avLst/>
          </a:prstGeom>
          <a:noFill/>
          <a:ln/>
        </p:spPr>
        <p:txBody>
          <a:bodyPr wrap="square" lIns="0" tIns="0" rIns="0" bIns="0" rtlCol="0" anchor="ctr"/>
          <a:lstStyle/>
          <a:p>
            <a:pPr marL="0" indent="0" algn="ctr">
              <a:buNone/>
            </a:pPr>
            <a:r>
              <a:rPr lang="en-US" sz="1050" dirty="0">
                <a:solidFill>
                  <a:srgbClr val="20263F"/>
                </a:solidFill>
                <a:latin typeface="Calibri" pitchFamily="34" charset="0"/>
                <a:ea typeface="Calibri" pitchFamily="34" charset="-122"/>
                <a:cs typeface="Calibri" pitchFamily="34" charset="-120"/>
              </a:rPr>
              <a:t>Real-time detection, alerts, dashboards via Azure Monitor</a:t>
            </a:r>
            <a:endParaRPr lang="en-US" sz="1050" dirty="0"/>
          </a:p>
        </p:txBody>
      </p:sp>
      <p:sp>
        <p:nvSpPr>
          <p:cNvPr id="21" name="Text 16"/>
          <p:cNvSpPr/>
          <p:nvPr/>
        </p:nvSpPr>
        <p:spPr>
          <a:xfrm>
            <a:off x="6830568" y="2606040"/>
            <a:ext cx="292608" cy="365760"/>
          </a:xfrm>
          <a:prstGeom prst="rect">
            <a:avLst/>
          </a:prstGeom>
          <a:noFill/>
          <a:ln/>
        </p:spPr>
        <p:txBody>
          <a:bodyPr wrap="square" lIns="0" tIns="0" rIns="0" bIns="0" rtlCol="0" anchor="ctr"/>
          <a:lstStyle/>
          <a:p>
            <a:pPr marL="0" indent="0" algn="ctr">
              <a:buNone/>
            </a:pPr>
            <a:r>
              <a:rPr lang="en-US" sz="2000" b="1" dirty="0">
                <a:solidFill>
                  <a:srgbClr val="5A6378"/>
                </a:solidFill>
                <a:latin typeface="Calibri" pitchFamily="34" charset="0"/>
                <a:ea typeface="Calibri" pitchFamily="34" charset="-122"/>
                <a:cs typeface="Calibri" pitchFamily="34" charset="-120"/>
              </a:rPr>
              <a:t>→</a:t>
            </a:r>
            <a:endParaRPr lang="en-US" sz="2000" dirty="0"/>
          </a:p>
        </p:txBody>
      </p:sp>
      <p:sp>
        <p:nvSpPr>
          <p:cNvPr id="22" name="Shape 17"/>
          <p:cNvSpPr/>
          <p:nvPr/>
        </p:nvSpPr>
        <p:spPr>
          <a:xfrm>
            <a:off x="7132320" y="1737360"/>
            <a:ext cx="1874520" cy="2148840"/>
          </a:xfrm>
          <a:prstGeom prst="roundRect">
            <a:avLst>
              <a:gd name="adj" fmla="val 2927"/>
            </a:avLst>
          </a:prstGeom>
          <a:solidFill>
            <a:srgbClr val="EEF4FE"/>
          </a:solidFill>
          <a:ln/>
          <a:effectLst>
            <a:outerShdw blurRad="88900" dist="25400" dir="2700000" algn="bl" rotWithShape="0">
              <a:srgbClr val="000000">
                <a:alpha val="14000"/>
              </a:srgbClr>
            </a:outerShdw>
          </a:effectLst>
        </p:spPr>
        <p:txBody>
          <a:bodyPr/>
          <a:lstStyle/>
          <a:p>
            <a:endParaRPr lang="en-GB"/>
          </a:p>
        </p:txBody>
      </p:sp>
      <p:sp>
        <p:nvSpPr>
          <p:cNvPr id="23" name="Shape 18"/>
          <p:cNvSpPr/>
          <p:nvPr/>
        </p:nvSpPr>
        <p:spPr>
          <a:xfrm>
            <a:off x="7786116" y="1938528"/>
            <a:ext cx="566928" cy="566928"/>
          </a:xfrm>
          <a:prstGeom prst="ellipse">
            <a:avLst/>
          </a:prstGeom>
          <a:solidFill>
            <a:srgbClr val="1E2761"/>
          </a:solidFill>
          <a:ln/>
        </p:spPr>
        <p:txBody>
          <a:bodyPr/>
          <a:lstStyle/>
          <a:p>
            <a:endParaRPr lang="en-GB"/>
          </a:p>
        </p:txBody>
      </p:sp>
      <p:pic>
        <p:nvPicPr>
          <p:cNvPr id="24" name="Image 3" descr="preencoded.png"/>
          <p:cNvPicPr>
            <a:picLocks noChangeAspect="1"/>
          </p:cNvPicPr>
          <p:nvPr/>
        </p:nvPicPr>
        <p:blipFill>
          <a:blip r:embed="rId6"/>
          <a:stretch>
            <a:fillRect/>
          </a:stretch>
        </p:blipFill>
        <p:spPr>
          <a:xfrm>
            <a:off x="7933517" y="2085929"/>
            <a:ext cx="272125" cy="272125"/>
          </a:xfrm>
          <a:prstGeom prst="rect">
            <a:avLst/>
          </a:prstGeom>
        </p:spPr>
      </p:pic>
      <p:sp>
        <p:nvSpPr>
          <p:cNvPr id="25" name="Text 19"/>
          <p:cNvSpPr/>
          <p:nvPr/>
        </p:nvSpPr>
        <p:spPr>
          <a:xfrm>
            <a:off x="7132320" y="2606040"/>
            <a:ext cx="1874520" cy="320040"/>
          </a:xfrm>
          <a:prstGeom prst="rect">
            <a:avLst/>
          </a:prstGeom>
          <a:noFill/>
          <a:ln/>
        </p:spPr>
        <p:txBody>
          <a:bodyPr wrap="square" lIns="0" tIns="0" rIns="0" bIns="0" rtlCol="0" anchor="ctr"/>
          <a:lstStyle/>
          <a:p>
            <a:pPr marL="0" indent="0" algn="ctr">
              <a:buNone/>
            </a:pPr>
            <a:r>
              <a:rPr lang="en-US" sz="1600" b="1" dirty="0">
                <a:solidFill>
                  <a:srgbClr val="1E2761"/>
                </a:solidFill>
                <a:latin typeface="Calibri" pitchFamily="34" charset="0"/>
                <a:ea typeface="Calibri" pitchFamily="34" charset="-122"/>
                <a:cs typeface="Calibri" pitchFamily="34" charset="-120"/>
              </a:rPr>
              <a:t>Optimize</a:t>
            </a:r>
            <a:endParaRPr lang="en-US" sz="1600" dirty="0"/>
          </a:p>
        </p:txBody>
      </p:sp>
      <p:sp>
        <p:nvSpPr>
          <p:cNvPr id="26" name="Text 20"/>
          <p:cNvSpPr/>
          <p:nvPr/>
        </p:nvSpPr>
        <p:spPr>
          <a:xfrm>
            <a:off x="7269480" y="2944368"/>
            <a:ext cx="1600200" cy="868680"/>
          </a:xfrm>
          <a:prstGeom prst="rect">
            <a:avLst/>
          </a:prstGeom>
          <a:noFill/>
          <a:ln/>
        </p:spPr>
        <p:txBody>
          <a:bodyPr wrap="square" lIns="0" tIns="0" rIns="0" bIns="0" rtlCol="0" anchor="ctr"/>
          <a:lstStyle/>
          <a:p>
            <a:pPr marL="0" indent="0" algn="ctr">
              <a:buNone/>
            </a:pPr>
            <a:r>
              <a:rPr lang="en-US" sz="1050" dirty="0">
                <a:solidFill>
                  <a:srgbClr val="20263F"/>
                </a:solidFill>
                <a:latin typeface="Calibri" pitchFamily="34" charset="0"/>
                <a:ea typeface="Calibri" pitchFamily="34" charset="-122"/>
                <a:cs typeface="Calibri" pitchFamily="34" charset="-120"/>
              </a:rPr>
              <a:t>Production signal → ranked, evidence-backed agent improvements</a:t>
            </a:r>
            <a:endParaRPr lang="en-US" sz="1050" dirty="0"/>
          </a:p>
        </p:txBody>
      </p:sp>
      <p:sp>
        <p:nvSpPr>
          <p:cNvPr id="27" name="Text 21"/>
          <p:cNvSpPr/>
          <p:nvPr/>
        </p:nvSpPr>
        <p:spPr>
          <a:xfrm>
            <a:off x="548640" y="4206240"/>
            <a:ext cx="8046720" cy="320040"/>
          </a:xfrm>
          <a:prstGeom prst="rect">
            <a:avLst/>
          </a:prstGeom>
          <a:noFill/>
          <a:ln/>
        </p:spPr>
        <p:txBody>
          <a:bodyPr wrap="square" lIns="0" tIns="0" rIns="0" bIns="0" rtlCol="0" anchor="ctr"/>
          <a:lstStyle/>
          <a:p>
            <a:pPr marL="0" indent="0" algn="ctr">
              <a:buNone/>
            </a:pPr>
            <a:r>
              <a:rPr lang="en-US" sz="1300" i="1" dirty="0">
                <a:solidFill>
                  <a:srgbClr val="5A6378"/>
                </a:solidFill>
                <a:latin typeface="Calibri" pitchFamily="34" charset="0"/>
                <a:ea typeface="Calibri" pitchFamily="34" charset="-122"/>
                <a:cs typeface="Calibri" pitchFamily="34" charset="-120"/>
              </a:rPr>
              <a:t>Today's focus is Evaluate — but it only earns its keep wired into the other three.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8138160" cy="274320"/>
          </a:xfrm>
          <a:prstGeom prst="rect">
            <a:avLst/>
          </a:prstGeom>
          <a:noFill/>
          <a:ln/>
        </p:spPr>
        <p:txBody>
          <a:bodyPr wrap="square" lIns="0" tIns="0" rIns="0" bIns="0" rtlCol="0" anchor="ctr"/>
          <a:lstStyle/>
          <a:p>
            <a:pPr marL="0" indent="0">
              <a:buNone/>
            </a:pPr>
            <a:r>
              <a:rPr lang="en-US" sz="1100" b="1" kern="0" spc="300" dirty="0">
                <a:solidFill>
                  <a:srgbClr val="5A6378"/>
                </a:solidFill>
                <a:latin typeface="Calibri" pitchFamily="34" charset="0"/>
                <a:ea typeface="Calibri" pitchFamily="34" charset="-122"/>
                <a:cs typeface="Calibri" pitchFamily="34" charset="-120"/>
              </a:rPr>
              <a:t>MODULE 1 · WHAT'S IN THE BOX</a:t>
            </a:r>
            <a:endParaRPr lang="en-US" sz="1100" dirty="0"/>
          </a:p>
        </p:txBody>
      </p:sp>
      <p:sp>
        <p:nvSpPr>
          <p:cNvPr id="3" name="Text 1"/>
          <p:cNvSpPr/>
          <p:nvPr/>
        </p:nvSpPr>
        <p:spPr>
          <a:xfrm>
            <a:off x="502920" y="530352"/>
            <a:ext cx="8138160" cy="68580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The evaluator taxonomy</a:t>
            </a:r>
            <a:endParaRPr lang="en-US" sz="3000" dirty="0"/>
          </a:p>
        </p:txBody>
      </p:sp>
      <p:sp>
        <p:nvSpPr>
          <p:cNvPr id="4" name="Shape 2"/>
          <p:cNvSpPr/>
          <p:nvPr/>
        </p:nvSpPr>
        <p:spPr>
          <a:xfrm>
            <a:off x="502920" y="1417320"/>
            <a:ext cx="3950208" cy="1572768"/>
          </a:xfrm>
          <a:prstGeom prst="roundRect">
            <a:avLst>
              <a:gd name="adj" fmla="val 3488"/>
            </a:avLst>
          </a:prstGeom>
          <a:solidFill>
            <a:srgbClr val="EEF4FE"/>
          </a:solidFill>
          <a:ln/>
          <a:effectLst>
            <a:outerShdw blurRad="88900" dist="25400" dir="2700000" algn="bl" rotWithShape="0">
              <a:srgbClr val="000000">
                <a:alpha val="14000"/>
              </a:srgbClr>
            </a:outerShdw>
          </a:effectLst>
        </p:spPr>
        <p:txBody>
          <a:bodyPr/>
          <a:lstStyle/>
          <a:p>
            <a:endParaRPr lang="en-GB"/>
          </a:p>
        </p:txBody>
      </p:sp>
      <p:sp>
        <p:nvSpPr>
          <p:cNvPr id="5" name="Shape 3"/>
          <p:cNvSpPr/>
          <p:nvPr/>
        </p:nvSpPr>
        <p:spPr>
          <a:xfrm>
            <a:off x="649224" y="1563624"/>
            <a:ext cx="457200" cy="457200"/>
          </a:xfrm>
          <a:prstGeom prst="ellipse">
            <a:avLst/>
          </a:prstGeom>
          <a:solidFill>
            <a:srgbClr val="1E2761"/>
          </a:solidFill>
          <a:ln/>
        </p:spPr>
        <p:txBody>
          <a:bodyPr/>
          <a:lstStyle/>
          <a:p>
            <a:endParaRPr lang="en-GB"/>
          </a:p>
        </p:txBody>
      </p:sp>
      <p:pic>
        <p:nvPicPr>
          <p:cNvPr id="6" name="Image 0" descr="preencoded.png"/>
          <p:cNvPicPr>
            <a:picLocks noChangeAspect="1"/>
          </p:cNvPicPr>
          <p:nvPr/>
        </p:nvPicPr>
        <p:blipFill>
          <a:blip r:embed="rId3"/>
          <a:stretch>
            <a:fillRect/>
          </a:stretch>
        </p:blipFill>
        <p:spPr>
          <a:xfrm>
            <a:off x="768096" y="1682496"/>
            <a:ext cx="219456" cy="219456"/>
          </a:xfrm>
          <a:prstGeom prst="rect">
            <a:avLst/>
          </a:prstGeom>
        </p:spPr>
      </p:pic>
      <p:sp>
        <p:nvSpPr>
          <p:cNvPr id="7" name="Text 4"/>
          <p:cNvSpPr/>
          <p:nvPr/>
        </p:nvSpPr>
        <p:spPr>
          <a:xfrm>
            <a:off x="1216152" y="1618488"/>
            <a:ext cx="3081528" cy="32004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Quality</a:t>
            </a:r>
            <a:endParaRPr lang="en-US" sz="1500" dirty="0"/>
          </a:p>
        </p:txBody>
      </p:sp>
      <p:sp>
        <p:nvSpPr>
          <p:cNvPr id="8" name="Text 5"/>
          <p:cNvSpPr/>
          <p:nvPr/>
        </p:nvSpPr>
        <p:spPr>
          <a:xfrm>
            <a:off x="685800" y="2075688"/>
            <a:ext cx="3584448" cy="868680"/>
          </a:xfrm>
          <a:prstGeom prst="rect">
            <a:avLst/>
          </a:prstGeom>
          <a:noFill/>
          <a:ln/>
        </p:spPr>
        <p:txBody>
          <a:bodyPr wrap="square" lIns="0" tIns="0" rIns="0" bIns="0" rtlCol="0" anchor="ctr"/>
          <a:lstStyle/>
          <a:p>
            <a:pPr marL="0" indent="0">
              <a:buNone/>
            </a:pPr>
            <a:r>
              <a:rPr lang="en-US" sz="1050" dirty="0">
                <a:solidFill>
                  <a:srgbClr val="20263F"/>
                </a:solidFill>
                <a:latin typeface="Calibri" pitchFamily="34" charset="0"/>
                <a:ea typeface="Calibri" pitchFamily="34" charset="-122"/>
                <a:cs typeface="Calibri" pitchFamily="34" charset="-120"/>
              </a:rPr>
              <a:t>Relevance · Coherence · Fluency · Groundedness · Retrieval · Quality Grader (relevance, abstention, completeness — plus groundedness &amp; context coverage when context is supplied)</a:t>
            </a:r>
            <a:endParaRPr lang="en-US" sz="1050" dirty="0"/>
          </a:p>
        </p:txBody>
      </p:sp>
      <p:sp>
        <p:nvSpPr>
          <p:cNvPr id="9" name="Shape 6"/>
          <p:cNvSpPr/>
          <p:nvPr/>
        </p:nvSpPr>
        <p:spPr>
          <a:xfrm>
            <a:off x="4690872" y="1417320"/>
            <a:ext cx="3950208" cy="1572768"/>
          </a:xfrm>
          <a:prstGeom prst="roundRect">
            <a:avLst>
              <a:gd name="adj" fmla="val 3488"/>
            </a:avLst>
          </a:prstGeom>
          <a:solidFill>
            <a:srgbClr val="EEF4FE"/>
          </a:solidFill>
          <a:ln/>
          <a:effectLst>
            <a:outerShdw blurRad="88900" dist="25400" dir="2700000" algn="bl" rotWithShape="0">
              <a:srgbClr val="000000">
                <a:alpha val="14000"/>
              </a:srgbClr>
            </a:outerShdw>
          </a:effectLst>
        </p:spPr>
        <p:txBody>
          <a:bodyPr/>
          <a:lstStyle/>
          <a:p>
            <a:endParaRPr lang="en-GB"/>
          </a:p>
        </p:txBody>
      </p:sp>
      <p:sp>
        <p:nvSpPr>
          <p:cNvPr id="10" name="Shape 7"/>
          <p:cNvSpPr/>
          <p:nvPr/>
        </p:nvSpPr>
        <p:spPr>
          <a:xfrm>
            <a:off x="4837176" y="1563624"/>
            <a:ext cx="457200" cy="457200"/>
          </a:xfrm>
          <a:prstGeom prst="ellipse">
            <a:avLst/>
          </a:prstGeom>
          <a:solidFill>
            <a:srgbClr val="1E2761"/>
          </a:solidFill>
          <a:ln/>
        </p:spPr>
        <p:txBody>
          <a:bodyPr/>
          <a:lstStyle/>
          <a:p>
            <a:endParaRPr lang="en-GB"/>
          </a:p>
        </p:txBody>
      </p:sp>
      <p:pic>
        <p:nvPicPr>
          <p:cNvPr id="11" name="Image 1" descr="preencoded.png"/>
          <p:cNvPicPr>
            <a:picLocks noChangeAspect="1"/>
          </p:cNvPicPr>
          <p:nvPr/>
        </p:nvPicPr>
        <p:blipFill>
          <a:blip r:embed="rId4"/>
          <a:stretch>
            <a:fillRect/>
          </a:stretch>
        </p:blipFill>
        <p:spPr>
          <a:xfrm>
            <a:off x="4956048" y="1682496"/>
            <a:ext cx="219456" cy="219456"/>
          </a:xfrm>
          <a:prstGeom prst="rect">
            <a:avLst/>
          </a:prstGeom>
        </p:spPr>
      </p:pic>
      <p:sp>
        <p:nvSpPr>
          <p:cNvPr id="12" name="Text 8"/>
          <p:cNvSpPr/>
          <p:nvPr/>
        </p:nvSpPr>
        <p:spPr>
          <a:xfrm>
            <a:off x="5404104" y="1618488"/>
            <a:ext cx="3081528" cy="32004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Safety</a:t>
            </a:r>
            <a:endParaRPr lang="en-US" sz="1500" dirty="0"/>
          </a:p>
        </p:txBody>
      </p:sp>
      <p:sp>
        <p:nvSpPr>
          <p:cNvPr id="13" name="Text 9"/>
          <p:cNvSpPr/>
          <p:nvPr/>
        </p:nvSpPr>
        <p:spPr>
          <a:xfrm>
            <a:off x="4873752" y="2075688"/>
            <a:ext cx="3584448" cy="868680"/>
          </a:xfrm>
          <a:prstGeom prst="rect">
            <a:avLst/>
          </a:prstGeom>
          <a:noFill/>
          <a:ln/>
        </p:spPr>
        <p:txBody>
          <a:bodyPr wrap="square" lIns="0" tIns="0" rIns="0" bIns="0" rtlCol="0" anchor="ctr"/>
          <a:lstStyle/>
          <a:p>
            <a:pPr marL="0" indent="0">
              <a:buNone/>
            </a:pPr>
            <a:r>
              <a:rPr lang="en-US" sz="1050" dirty="0">
                <a:solidFill>
                  <a:srgbClr val="20263F"/>
                </a:solidFill>
                <a:latin typeface="Calibri" pitchFamily="34" charset="0"/>
                <a:ea typeface="Calibri" pitchFamily="34" charset="-122"/>
                <a:cs typeface="Calibri" pitchFamily="34" charset="-120"/>
              </a:rPr>
              <a:t>Violence · Self-harm · Sexual · Hate/unfairness · Protected material · Indirect attack (XPIA) — powered by Azure AI Content Safety</a:t>
            </a:r>
            <a:endParaRPr lang="en-US" sz="1050" dirty="0"/>
          </a:p>
        </p:txBody>
      </p:sp>
      <p:sp>
        <p:nvSpPr>
          <p:cNvPr id="14" name="Shape 10"/>
          <p:cNvSpPr/>
          <p:nvPr/>
        </p:nvSpPr>
        <p:spPr>
          <a:xfrm>
            <a:off x="502920" y="3209544"/>
            <a:ext cx="3950208" cy="1572768"/>
          </a:xfrm>
          <a:prstGeom prst="roundRect">
            <a:avLst>
              <a:gd name="adj" fmla="val 3488"/>
            </a:avLst>
          </a:prstGeom>
          <a:solidFill>
            <a:srgbClr val="EEF4FE"/>
          </a:solidFill>
          <a:ln/>
          <a:effectLst>
            <a:outerShdw blurRad="88900" dist="25400" dir="2700000" algn="bl" rotWithShape="0">
              <a:srgbClr val="000000">
                <a:alpha val="14000"/>
              </a:srgbClr>
            </a:outerShdw>
          </a:effectLst>
        </p:spPr>
        <p:txBody>
          <a:bodyPr/>
          <a:lstStyle/>
          <a:p>
            <a:endParaRPr lang="en-GB"/>
          </a:p>
        </p:txBody>
      </p:sp>
      <p:sp>
        <p:nvSpPr>
          <p:cNvPr id="15" name="Shape 11"/>
          <p:cNvSpPr/>
          <p:nvPr/>
        </p:nvSpPr>
        <p:spPr>
          <a:xfrm>
            <a:off x="649224" y="3355848"/>
            <a:ext cx="457200" cy="457200"/>
          </a:xfrm>
          <a:prstGeom prst="ellipse">
            <a:avLst/>
          </a:prstGeom>
          <a:solidFill>
            <a:srgbClr val="1E2761"/>
          </a:solidFill>
          <a:ln/>
        </p:spPr>
        <p:txBody>
          <a:bodyPr/>
          <a:lstStyle/>
          <a:p>
            <a:endParaRPr lang="en-GB"/>
          </a:p>
        </p:txBody>
      </p:sp>
      <p:pic>
        <p:nvPicPr>
          <p:cNvPr id="16" name="Image 2" descr="preencoded.png"/>
          <p:cNvPicPr>
            <a:picLocks noChangeAspect="1"/>
          </p:cNvPicPr>
          <p:nvPr/>
        </p:nvPicPr>
        <p:blipFill>
          <a:blip r:embed="rId5"/>
          <a:stretch>
            <a:fillRect/>
          </a:stretch>
        </p:blipFill>
        <p:spPr>
          <a:xfrm>
            <a:off x="768096" y="3474720"/>
            <a:ext cx="219456" cy="219456"/>
          </a:xfrm>
          <a:prstGeom prst="rect">
            <a:avLst/>
          </a:prstGeom>
        </p:spPr>
      </p:pic>
      <p:sp>
        <p:nvSpPr>
          <p:cNvPr id="17" name="Text 12"/>
          <p:cNvSpPr/>
          <p:nvPr/>
        </p:nvSpPr>
        <p:spPr>
          <a:xfrm>
            <a:off x="1216152" y="3410712"/>
            <a:ext cx="3081528" cy="32004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Agent</a:t>
            </a:r>
            <a:endParaRPr lang="en-US" sz="1500" dirty="0"/>
          </a:p>
        </p:txBody>
      </p:sp>
      <p:sp>
        <p:nvSpPr>
          <p:cNvPr id="18" name="Text 13"/>
          <p:cNvSpPr/>
          <p:nvPr/>
        </p:nvSpPr>
        <p:spPr>
          <a:xfrm>
            <a:off x="685800" y="3867912"/>
            <a:ext cx="3584448" cy="868680"/>
          </a:xfrm>
          <a:prstGeom prst="rect">
            <a:avLst/>
          </a:prstGeom>
          <a:noFill/>
          <a:ln/>
        </p:spPr>
        <p:txBody>
          <a:bodyPr wrap="square" lIns="0" tIns="0" rIns="0" bIns="0" rtlCol="0" anchor="ctr"/>
          <a:lstStyle/>
          <a:p>
            <a:pPr marL="0" indent="0">
              <a:buNone/>
            </a:pPr>
            <a:r>
              <a:rPr lang="en-US" sz="1050" dirty="0">
                <a:solidFill>
                  <a:srgbClr val="20263F"/>
                </a:solidFill>
                <a:latin typeface="Calibri" pitchFamily="34" charset="0"/>
                <a:ea typeface="Calibri" pitchFamily="34" charset="-122"/>
                <a:cs typeface="Calibri" pitchFamily="34" charset="-120"/>
              </a:rPr>
              <a:t>System: Intent Resolution, Task Adherence. Process: Tool Call Accuracy, Tool Selection, Tool Input Accuracy, Tool Output Utilization, Tool Call Success</a:t>
            </a:r>
            <a:endParaRPr lang="en-US" sz="1050" dirty="0"/>
          </a:p>
        </p:txBody>
      </p:sp>
      <p:sp>
        <p:nvSpPr>
          <p:cNvPr id="19" name="Shape 14"/>
          <p:cNvSpPr/>
          <p:nvPr/>
        </p:nvSpPr>
        <p:spPr>
          <a:xfrm>
            <a:off x="4690872" y="3209544"/>
            <a:ext cx="3950208" cy="1572768"/>
          </a:xfrm>
          <a:prstGeom prst="roundRect">
            <a:avLst>
              <a:gd name="adj" fmla="val 3488"/>
            </a:avLst>
          </a:prstGeom>
          <a:solidFill>
            <a:srgbClr val="EEF4FE"/>
          </a:solidFill>
          <a:ln/>
          <a:effectLst>
            <a:outerShdw blurRad="88900" dist="25400" dir="2700000" algn="bl" rotWithShape="0">
              <a:srgbClr val="000000">
                <a:alpha val="14000"/>
              </a:srgbClr>
            </a:outerShdw>
          </a:effectLst>
        </p:spPr>
        <p:txBody>
          <a:bodyPr/>
          <a:lstStyle/>
          <a:p>
            <a:endParaRPr lang="en-GB"/>
          </a:p>
        </p:txBody>
      </p:sp>
      <p:sp>
        <p:nvSpPr>
          <p:cNvPr id="20" name="Shape 15"/>
          <p:cNvSpPr/>
          <p:nvPr/>
        </p:nvSpPr>
        <p:spPr>
          <a:xfrm>
            <a:off x="4837176" y="3355848"/>
            <a:ext cx="457200" cy="457200"/>
          </a:xfrm>
          <a:prstGeom prst="ellipse">
            <a:avLst/>
          </a:prstGeom>
          <a:solidFill>
            <a:srgbClr val="1E2761"/>
          </a:solidFill>
          <a:ln/>
        </p:spPr>
        <p:txBody>
          <a:bodyPr/>
          <a:lstStyle/>
          <a:p>
            <a:endParaRPr lang="en-GB"/>
          </a:p>
        </p:txBody>
      </p:sp>
      <p:pic>
        <p:nvPicPr>
          <p:cNvPr id="21" name="Image 3" descr="preencoded.png"/>
          <p:cNvPicPr>
            <a:picLocks noChangeAspect="1"/>
          </p:cNvPicPr>
          <p:nvPr/>
        </p:nvPicPr>
        <p:blipFill>
          <a:blip r:embed="rId6"/>
          <a:stretch>
            <a:fillRect/>
          </a:stretch>
        </p:blipFill>
        <p:spPr>
          <a:xfrm>
            <a:off x="4956048" y="3474720"/>
            <a:ext cx="219456" cy="219456"/>
          </a:xfrm>
          <a:prstGeom prst="rect">
            <a:avLst/>
          </a:prstGeom>
        </p:spPr>
      </p:pic>
      <p:sp>
        <p:nvSpPr>
          <p:cNvPr id="22" name="Text 16"/>
          <p:cNvSpPr/>
          <p:nvPr/>
        </p:nvSpPr>
        <p:spPr>
          <a:xfrm>
            <a:off x="5404104" y="3410712"/>
            <a:ext cx="3081528" cy="32004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Custom &amp; Rubric</a:t>
            </a:r>
            <a:endParaRPr lang="en-US" sz="1500" dirty="0"/>
          </a:p>
        </p:txBody>
      </p:sp>
      <p:sp>
        <p:nvSpPr>
          <p:cNvPr id="23" name="Text 17"/>
          <p:cNvSpPr/>
          <p:nvPr/>
        </p:nvSpPr>
        <p:spPr>
          <a:xfrm>
            <a:off x="4873752" y="3867912"/>
            <a:ext cx="3584448" cy="868680"/>
          </a:xfrm>
          <a:prstGeom prst="rect">
            <a:avLst/>
          </a:prstGeom>
          <a:noFill/>
          <a:ln/>
        </p:spPr>
        <p:txBody>
          <a:bodyPr wrap="square" lIns="0" tIns="0" rIns="0" bIns="0" rtlCol="0" anchor="ctr"/>
          <a:lstStyle/>
          <a:p>
            <a:pPr marL="0" indent="0">
              <a:buNone/>
            </a:pPr>
            <a:r>
              <a:rPr lang="en-US" sz="1050" dirty="0">
                <a:solidFill>
                  <a:srgbClr val="20263F"/>
                </a:solidFill>
                <a:latin typeface="Calibri" pitchFamily="34" charset="0"/>
                <a:ea typeface="Calibri" pitchFamily="34" charset="-122"/>
                <a:cs typeface="Calibri" pitchFamily="34" charset="-120"/>
              </a:rPr>
              <a:t>Code-based or prompt-based evaluators in your project catalog. Rubric evaluator (preview) auto-generates weighted criteria from the agent's own definition</a:t>
            </a:r>
            <a:endParaRPr lang="en-US" sz="1050" dirty="0"/>
          </a:p>
        </p:txBody>
      </p:sp>
      <p:sp>
        <p:nvSpPr>
          <p:cNvPr id="24" name="Text 18"/>
          <p:cNvSpPr/>
          <p:nvPr/>
        </p:nvSpPr>
        <p:spPr>
          <a:xfrm>
            <a:off x="502920" y="4681728"/>
            <a:ext cx="8138160" cy="274320"/>
          </a:xfrm>
          <a:prstGeom prst="rect">
            <a:avLst/>
          </a:prstGeom>
          <a:noFill/>
          <a:ln/>
        </p:spPr>
        <p:txBody>
          <a:bodyPr wrap="square" lIns="0" tIns="0" rIns="0" bIns="0" rtlCol="0" anchor="ctr"/>
          <a:lstStyle/>
          <a:p>
            <a:pPr marL="0" indent="0">
              <a:buNone/>
            </a:pPr>
            <a:r>
              <a:rPr lang="en-US" sz="1100" i="1" dirty="0">
                <a:solidFill>
                  <a:srgbClr val="5A6378"/>
                </a:solidFill>
                <a:latin typeface="Calibri" pitchFamily="34" charset="0"/>
                <a:ea typeface="Calibri" pitchFamily="34" charset="-122"/>
                <a:cs typeface="Calibri" pitchFamily="34" charset="-120"/>
              </a:rPr>
              <a:t>Agent evaluators output binary pass/fail with a reasoning field — deliberately shaped like unit tests.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8138160" cy="274320"/>
          </a:xfrm>
          <a:prstGeom prst="rect">
            <a:avLst/>
          </a:prstGeom>
          <a:noFill/>
          <a:ln/>
        </p:spPr>
        <p:txBody>
          <a:bodyPr wrap="square" lIns="0" tIns="0" rIns="0" bIns="0" rtlCol="0" anchor="ctr"/>
          <a:lstStyle/>
          <a:p>
            <a:pPr marL="0" indent="0">
              <a:buNone/>
            </a:pPr>
            <a:r>
              <a:rPr lang="en-US" sz="1100" b="1" kern="0" spc="300" dirty="0">
                <a:solidFill>
                  <a:srgbClr val="5A6378"/>
                </a:solidFill>
                <a:latin typeface="Calibri" pitchFamily="34" charset="0"/>
                <a:ea typeface="Calibri" pitchFamily="34" charset="-122"/>
                <a:cs typeface="Calibri" pitchFamily="34" charset="-120"/>
              </a:rPr>
              <a:t>MODULE 1 · TWO PRACTICES</a:t>
            </a:r>
            <a:endParaRPr lang="en-US" sz="1100" dirty="0"/>
          </a:p>
        </p:txBody>
      </p:sp>
      <p:sp>
        <p:nvSpPr>
          <p:cNvPr id="3" name="Text 1"/>
          <p:cNvSpPr/>
          <p:nvPr/>
        </p:nvSpPr>
        <p:spPr>
          <a:xfrm>
            <a:off x="502920" y="530352"/>
            <a:ext cx="8138160" cy="68580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Agent evaluation: judge the outcome AND the execution</a:t>
            </a:r>
            <a:endParaRPr lang="en-US" sz="3000" dirty="0"/>
          </a:p>
        </p:txBody>
      </p:sp>
      <p:sp>
        <p:nvSpPr>
          <p:cNvPr id="4" name="Shape 2"/>
          <p:cNvSpPr/>
          <p:nvPr/>
        </p:nvSpPr>
        <p:spPr>
          <a:xfrm>
            <a:off x="502920" y="1417320"/>
            <a:ext cx="3950208" cy="3154680"/>
          </a:xfrm>
          <a:prstGeom prst="roundRect">
            <a:avLst>
              <a:gd name="adj" fmla="val 1739"/>
            </a:avLst>
          </a:prstGeom>
          <a:solidFill>
            <a:srgbClr val="1E2761"/>
          </a:solidFill>
          <a:ln/>
          <a:effectLst>
            <a:outerShdw blurRad="88900" dist="25400" dir="2700000" algn="bl" rotWithShape="0">
              <a:srgbClr val="000000">
                <a:alpha val="14000"/>
              </a:srgbClr>
            </a:outerShdw>
          </a:effectLst>
        </p:spPr>
        <p:txBody>
          <a:bodyPr/>
          <a:lstStyle/>
          <a:p>
            <a:endParaRPr lang="en-GB"/>
          </a:p>
        </p:txBody>
      </p:sp>
      <p:sp>
        <p:nvSpPr>
          <p:cNvPr id="5" name="Shape 3"/>
          <p:cNvSpPr/>
          <p:nvPr/>
        </p:nvSpPr>
        <p:spPr>
          <a:xfrm>
            <a:off x="685800" y="1600200"/>
            <a:ext cx="502920" cy="502920"/>
          </a:xfrm>
          <a:prstGeom prst="ellipse">
            <a:avLst/>
          </a:prstGeom>
          <a:solidFill>
            <a:srgbClr val="0E9F7E"/>
          </a:solidFill>
          <a:ln/>
        </p:spPr>
        <p:txBody>
          <a:bodyPr/>
          <a:lstStyle/>
          <a:p>
            <a:endParaRPr lang="en-GB"/>
          </a:p>
        </p:txBody>
      </p:sp>
      <p:pic>
        <p:nvPicPr>
          <p:cNvPr id="6" name="Image 0" descr="preencoded.png"/>
          <p:cNvPicPr>
            <a:picLocks noChangeAspect="1"/>
          </p:cNvPicPr>
          <p:nvPr/>
        </p:nvPicPr>
        <p:blipFill>
          <a:blip r:embed="rId3"/>
          <a:stretch>
            <a:fillRect/>
          </a:stretch>
        </p:blipFill>
        <p:spPr>
          <a:xfrm>
            <a:off x="816559" y="1730959"/>
            <a:ext cx="241402" cy="241402"/>
          </a:xfrm>
          <a:prstGeom prst="rect">
            <a:avLst/>
          </a:prstGeom>
        </p:spPr>
      </p:pic>
      <p:sp>
        <p:nvSpPr>
          <p:cNvPr id="7" name="Text 4"/>
          <p:cNvSpPr/>
          <p:nvPr/>
        </p:nvSpPr>
        <p:spPr>
          <a:xfrm>
            <a:off x="1325880" y="1682496"/>
            <a:ext cx="3017520" cy="32004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System evaluation</a:t>
            </a:r>
            <a:endParaRPr lang="en-US" sz="1600" dirty="0"/>
          </a:p>
        </p:txBody>
      </p:sp>
      <p:sp>
        <p:nvSpPr>
          <p:cNvPr id="8" name="Text 5"/>
          <p:cNvSpPr/>
          <p:nvPr/>
        </p:nvSpPr>
        <p:spPr>
          <a:xfrm>
            <a:off x="731520" y="2240280"/>
            <a:ext cx="3520440" cy="274320"/>
          </a:xfrm>
          <a:prstGeom prst="rect">
            <a:avLst/>
          </a:prstGeom>
          <a:noFill/>
          <a:ln/>
        </p:spPr>
        <p:txBody>
          <a:bodyPr wrap="square" lIns="0" tIns="0" rIns="0" bIns="0" rtlCol="0" anchor="ctr"/>
          <a:lstStyle/>
          <a:p>
            <a:pPr marL="0" indent="0">
              <a:buNone/>
            </a:pPr>
            <a:r>
              <a:rPr lang="en-US" sz="1200" i="1" dirty="0">
                <a:solidFill>
                  <a:srgbClr val="CADCFC"/>
                </a:solidFill>
                <a:latin typeface="Calibri" pitchFamily="34" charset="0"/>
                <a:ea typeface="Calibri" pitchFamily="34" charset="-122"/>
                <a:cs typeface="Calibri" pitchFamily="34" charset="-120"/>
              </a:rPr>
              <a:t>Did the end-to-end outcome succeed?</a:t>
            </a:r>
            <a:endParaRPr lang="en-US" sz="1200" dirty="0"/>
          </a:p>
        </p:txBody>
      </p:sp>
      <p:sp>
        <p:nvSpPr>
          <p:cNvPr id="9" name="Text 6"/>
          <p:cNvSpPr/>
          <p:nvPr/>
        </p:nvSpPr>
        <p:spPr>
          <a:xfrm>
            <a:off x="777240" y="2606040"/>
            <a:ext cx="3474720" cy="1737360"/>
          </a:xfrm>
          <a:prstGeom prst="rect">
            <a:avLst/>
          </a:prstGeom>
          <a:noFill/>
          <a:ln/>
        </p:spPr>
        <p:txBody>
          <a:bodyPr wrap="square" rtlCol="0" anchor="ctr"/>
          <a:lstStyle/>
          <a:p>
            <a:pPr marL="342900" indent="-342900">
              <a:spcAft>
                <a:spcPts val="600"/>
              </a:spcAft>
              <a:buSzPct val="100000"/>
              <a:buChar char="•"/>
            </a:pPr>
            <a:r>
              <a:rPr lang="en-US" sz="1200" dirty="0">
                <a:solidFill>
                  <a:srgbClr val="FFFFFF"/>
                </a:solidFill>
                <a:latin typeface="Calibri" pitchFamily="34" charset="0"/>
                <a:ea typeface="Calibri" pitchFamily="34" charset="-122"/>
                <a:cs typeface="Calibri" pitchFamily="34" charset="-120"/>
              </a:rPr>
              <a:t>Intent Resolution — did it understand the ask?</a:t>
            </a:r>
            <a:endParaRPr lang="en-US" sz="1200" dirty="0"/>
          </a:p>
          <a:p>
            <a:pPr marL="342900" indent="-342900">
              <a:spcAft>
                <a:spcPts val="600"/>
              </a:spcAft>
              <a:buSzPct val="100000"/>
              <a:buChar char="•"/>
            </a:pPr>
            <a:r>
              <a:rPr lang="en-US" sz="1200" dirty="0">
                <a:solidFill>
                  <a:srgbClr val="FFFFFF"/>
                </a:solidFill>
                <a:latin typeface="Calibri" pitchFamily="34" charset="0"/>
                <a:ea typeface="Calibri" pitchFamily="34" charset="-122"/>
                <a:cs typeface="Calibri" pitchFamily="34" charset="-120"/>
              </a:rPr>
              <a:t>Task Adherence — does the final answer do the job per the system message?</a:t>
            </a:r>
            <a:endParaRPr lang="en-US" sz="1200" dirty="0"/>
          </a:p>
          <a:p>
            <a:pPr marL="342900" indent="-342900">
              <a:buSzPct val="100000"/>
              <a:buChar char="•"/>
            </a:pPr>
            <a:r>
              <a:rPr lang="en-US" sz="1200" dirty="0">
                <a:solidFill>
                  <a:srgbClr val="FFFFFF"/>
                </a:solidFill>
                <a:latin typeface="Calibri" pitchFamily="34" charset="0"/>
                <a:ea typeface="Calibri" pitchFamily="34" charset="-122"/>
                <a:cs typeface="Calibri" pitchFamily="34" charset="-120"/>
              </a:rPr>
              <a:t>RAG quality evaluators applied to the final response</a:t>
            </a:r>
            <a:endParaRPr lang="en-US" sz="1200" dirty="0"/>
          </a:p>
        </p:txBody>
      </p:sp>
      <p:sp>
        <p:nvSpPr>
          <p:cNvPr id="10" name="Shape 7"/>
          <p:cNvSpPr/>
          <p:nvPr/>
        </p:nvSpPr>
        <p:spPr>
          <a:xfrm>
            <a:off x="4690872" y="1417320"/>
            <a:ext cx="3950208" cy="3154680"/>
          </a:xfrm>
          <a:prstGeom prst="roundRect">
            <a:avLst>
              <a:gd name="adj" fmla="val 1739"/>
            </a:avLst>
          </a:prstGeom>
          <a:solidFill>
            <a:srgbClr val="EEF4FE"/>
          </a:solidFill>
          <a:ln/>
          <a:effectLst>
            <a:outerShdw blurRad="88900" dist="25400" dir="2700000" algn="bl" rotWithShape="0">
              <a:srgbClr val="000000">
                <a:alpha val="14000"/>
              </a:srgbClr>
            </a:outerShdw>
          </a:effectLst>
        </p:spPr>
        <p:txBody>
          <a:bodyPr/>
          <a:lstStyle/>
          <a:p>
            <a:endParaRPr lang="en-GB"/>
          </a:p>
        </p:txBody>
      </p:sp>
      <p:sp>
        <p:nvSpPr>
          <p:cNvPr id="11" name="Shape 8"/>
          <p:cNvSpPr/>
          <p:nvPr/>
        </p:nvSpPr>
        <p:spPr>
          <a:xfrm>
            <a:off x="4873752" y="1600200"/>
            <a:ext cx="502920" cy="502920"/>
          </a:xfrm>
          <a:prstGeom prst="ellipse">
            <a:avLst/>
          </a:prstGeom>
          <a:solidFill>
            <a:srgbClr val="1E2761"/>
          </a:solidFill>
          <a:ln/>
        </p:spPr>
        <p:txBody>
          <a:bodyPr/>
          <a:lstStyle/>
          <a:p>
            <a:endParaRPr lang="en-GB"/>
          </a:p>
        </p:txBody>
      </p:sp>
      <p:pic>
        <p:nvPicPr>
          <p:cNvPr id="12" name="Image 1" descr="preencoded.png"/>
          <p:cNvPicPr>
            <a:picLocks noChangeAspect="1"/>
          </p:cNvPicPr>
          <p:nvPr/>
        </p:nvPicPr>
        <p:blipFill>
          <a:blip r:embed="rId4"/>
          <a:stretch>
            <a:fillRect/>
          </a:stretch>
        </p:blipFill>
        <p:spPr>
          <a:xfrm>
            <a:off x="5004511" y="1730959"/>
            <a:ext cx="241402" cy="241402"/>
          </a:xfrm>
          <a:prstGeom prst="rect">
            <a:avLst/>
          </a:prstGeom>
        </p:spPr>
      </p:pic>
      <p:sp>
        <p:nvSpPr>
          <p:cNvPr id="13" name="Text 9"/>
          <p:cNvSpPr/>
          <p:nvPr/>
        </p:nvSpPr>
        <p:spPr>
          <a:xfrm>
            <a:off x="5513832" y="1682496"/>
            <a:ext cx="3017520" cy="320040"/>
          </a:xfrm>
          <a:prstGeom prst="rect">
            <a:avLst/>
          </a:prstGeom>
          <a:noFill/>
          <a:ln/>
        </p:spPr>
        <p:txBody>
          <a:bodyPr wrap="square" lIns="0" tIns="0" rIns="0" bIns="0" rtlCol="0" anchor="ctr"/>
          <a:lstStyle/>
          <a:p>
            <a:pPr marL="0" indent="0">
              <a:buNone/>
            </a:pPr>
            <a:r>
              <a:rPr lang="en-US" sz="1600" b="1" dirty="0">
                <a:solidFill>
                  <a:srgbClr val="1E2761"/>
                </a:solidFill>
                <a:latin typeface="Calibri" pitchFamily="34" charset="0"/>
                <a:ea typeface="Calibri" pitchFamily="34" charset="-122"/>
                <a:cs typeface="Calibri" pitchFamily="34" charset="-120"/>
              </a:rPr>
              <a:t>Process evaluation</a:t>
            </a:r>
            <a:endParaRPr lang="en-US" sz="1600" dirty="0"/>
          </a:p>
        </p:txBody>
      </p:sp>
      <p:sp>
        <p:nvSpPr>
          <p:cNvPr id="14" name="Text 10"/>
          <p:cNvSpPr/>
          <p:nvPr/>
        </p:nvSpPr>
        <p:spPr>
          <a:xfrm>
            <a:off x="4919472" y="2240280"/>
            <a:ext cx="3520440" cy="274320"/>
          </a:xfrm>
          <a:prstGeom prst="rect">
            <a:avLst/>
          </a:prstGeom>
          <a:noFill/>
          <a:ln/>
        </p:spPr>
        <p:txBody>
          <a:bodyPr wrap="square" lIns="0" tIns="0" rIns="0" bIns="0" rtlCol="0" anchor="ctr"/>
          <a:lstStyle/>
          <a:p>
            <a:pPr marL="0" indent="0">
              <a:buNone/>
            </a:pPr>
            <a:r>
              <a:rPr lang="en-US" sz="1200" i="1" dirty="0">
                <a:solidFill>
                  <a:srgbClr val="5A6378"/>
                </a:solidFill>
                <a:latin typeface="Calibri" pitchFamily="34" charset="0"/>
                <a:ea typeface="Calibri" pitchFamily="34" charset="-122"/>
                <a:cs typeface="Calibri" pitchFamily="34" charset="-120"/>
              </a:rPr>
              <a:t>Unit tests for the agentic workflow's steps</a:t>
            </a:r>
            <a:endParaRPr lang="en-US" sz="1200" dirty="0"/>
          </a:p>
        </p:txBody>
      </p:sp>
      <p:sp>
        <p:nvSpPr>
          <p:cNvPr id="15" name="Text 11"/>
          <p:cNvSpPr/>
          <p:nvPr/>
        </p:nvSpPr>
        <p:spPr>
          <a:xfrm>
            <a:off x="4965192" y="2606040"/>
            <a:ext cx="3474720" cy="1737360"/>
          </a:xfrm>
          <a:prstGeom prst="rect">
            <a:avLst/>
          </a:prstGeom>
          <a:noFill/>
          <a:ln/>
        </p:spPr>
        <p:txBody>
          <a:bodyPr wrap="square" rtlCol="0" anchor="ctr"/>
          <a:lstStyle/>
          <a:p>
            <a:pPr marL="342900" indent="-342900">
              <a:spcAft>
                <a:spcPts val="500"/>
              </a:spcAft>
              <a:buSzPct val="100000"/>
              <a:buChar char="•"/>
            </a:pPr>
            <a:r>
              <a:rPr lang="en-US" sz="1200" dirty="0">
                <a:solidFill>
                  <a:srgbClr val="20263F"/>
                </a:solidFill>
                <a:latin typeface="Calibri" pitchFamily="34" charset="0"/>
                <a:ea typeface="Calibri" pitchFamily="34" charset="-122"/>
                <a:cs typeface="Calibri" pitchFamily="34" charset="-120"/>
              </a:rPr>
              <a:t>Tool Call Accuracy — right calls, right parameters, no redundancy</a:t>
            </a:r>
            <a:endParaRPr lang="en-US" sz="1200" dirty="0"/>
          </a:p>
          <a:p>
            <a:pPr marL="342900" indent="-342900">
              <a:spcAft>
                <a:spcPts val="500"/>
              </a:spcAft>
              <a:buSzPct val="100000"/>
              <a:buChar char="•"/>
            </a:pPr>
            <a:r>
              <a:rPr lang="en-US" sz="1200" dirty="0">
                <a:solidFill>
                  <a:srgbClr val="20263F"/>
                </a:solidFill>
                <a:latin typeface="Calibri" pitchFamily="34" charset="0"/>
                <a:ea typeface="Calibri" pitchFamily="34" charset="-122"/>
                <a:cs typeface="Calibri" pitchFamily="34" charset="-120"/>
              </a:rPr>
              <a:t>Tool Selection · Tool Input Accuracy</a:t>
            </a:r>
            <a:endParaRPr lang="en-US" sz="1200" dirty="0"/>
          </a:p>
          <a:p>
            <a:pPr marL="342900" indent="-342900">
              <a:spcAft>
                <a:spcPts val="500"/>
              </a:spcAft>
              <a:buSzPct val="100000"/>
              <a:buChar char="•"/>
            </a:pPr>
            <a:r>
              <a:rPr lang="en-US" sz="1200" dirty="0">
                <a:solidFill>
                  <a:srgbClr val="20263F"/>
                </a:solidFill>
                <a:latin typeface="Calibri" pitchFamily="34" charset="0"/>
                <a:ea typeface="Calibri" pitchFamily="34" charset="-122"/>
                <a:cs typeface="Calibri" pitchFamily="34" charset="-120"/>
              </a:rPr>
              <a:t>Tool Output Utilization — did it actually use the results?</a:t>
            </a:r>
            <a:endParaRPr lang="en-US" sz="1200" dirty="0"/>
          </a:p>
          <a:p>
            <a:pPr marL="342900" indent="-342900">
              <a:buSzPct val="100000"/>
              <a:buChar char="•"/>
            </a:pPr>
            <a:r>
              <a:rPr lang="en-US" sz="1200" dirty="0">
                <a:solidFill>
                  <a:srgbClr val="20263F"/>
                </a:solidFill>
                <a:latin typeface="Calibri" pitchFamily="34" charset="0"/>
                <a:ea typeface="Calibri" pitchFamily="34" charset="-122"/>
                <a:cs typeface="Calibri" pitchFamily="34" charset="-120"/>
              </a:rPr>
              <a:t>Tool Call Success — no technical errors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8138160" cy="274320"/>
          </a:xfrm>
          <a:prstGeom prst="rect">
            <a:avLst/>
          </a:prstGeom>
          <a:noFill/>
          <a:ln/>
        </p:spPr>
        <p:txBody>
          <a:bodyPr wrap="square" lIns="0" tIns="0" rIns="0" bIns="0" rtlCol="0" anchor="ctr"/>
          <a:lstStyle/>
          <a:p>
            <a:pPr marL="0" indent="0">
              <a:buNone/>
            </a:pPr>
            <a:r>
              <a:rPr lang="en-US" sz="1100" b="1" kern="0" spc="300" dirty="0">
                <a:solidFill>
                  <a:srgbClr val="5A6378"/>
                </a:solidFill>
                <a:latin typeface="Calibri" pitchFamily="34" charset="0"/>
                <a:ea typeface="Calibri" pitchFamily="34" charset="-122"/>
                <a:cs typeface="Calibri" pitchFamily="34" charset="-120"/>
              </a:rPr>
              <a:t>MODULE 1 · HOW IT WORKS</a:t>
            </a:r>
            <a:endParaRPr lang="en-US" sz="1100" dirty="0"/>
          </a:p>
        </p:txBody>
      </p:sp>
      <p:sp>
        <p:nvSpPr>
          <p:cNvPr id="3" name="Text 1"/>
          <p:cNvSpPr/>
          <p:nvPr/>
        </p:nvSpPr>
        <p:spPr>
          <a:xfrm>
            <a:off x="502920" y="530352"/>
            <a:ext cx="8138160" cy="68580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Most evaluators are an LLM judging an LLM</a:t>
            </a:r>
            <a:endParaRPr lang="en-US" sz="3000" dirty="0"/>
          </a:p>
        </p:txBody>
      </p:sp>
      <p:sp>
        <p:nvSpPr>
          <p:cNvPr id="4" name="Shape 2"/>
          <p:cNvSpPr/>
          <p:nvPr/>
        </p:nvSpPr>
        <p:spPr>
          <a:xfrm>
            <a:off x="548640" y="1554480"/>
            <a:ext cx="777240" cy="777240"/>
          </a:xfrm>
          <a:prstGeom prst="ellipse">
            <a:avLst/>
          </a:prstGeom>
          <a:solidFill>
            <a:srgbClr val="1E2761"/>
          </a:solidFill>
          <a:ln/>
        </p:spPr>
        <p:txBody>
          <a:bodyPr/>
          <a:lstStyle/>
          <a:p>
            <a:endParaRPr lang="en-GB"/>
          </a:p>
        </p:txBody>
      </p:sp>
      <p:pic>
        <p:nvPicPr>
          <p:cNvPr id="5" name="Image 0" descr="preencoded.png"/>
          <p:cNvPicPr>
            <a:picLocks noChangeAspect="1"/>
          </p:cNvPicPr>
          <p:nvPr/>
        </p:nvPicPr>
        <p:blipFill>
          <a:blip r:embed="rId3"/>
          <a:stretch>
            <a:fillRect/>
          </a:stretch>
        </p:blipFill>
        <p:spPr>
          <a:xfrm>
            <a:off x="750722" y="1756562"/>
            <a:ext cx="373075" cy="373075"/>
          </a:xfrm>
          <a:prstGeom prst="rect">
            <a:avLst/>
          </a:prstGeom>
        </p:spPr>
      </p:pic>
      <p:sp>
        <p:nvSpPr>
          <p:cNvPr id="6" name="Text 3"/>
          <p:cNvSpPr/>
          <p:nvPr/>
        </p:nvSpPr>
        <p:spPr>
          <a:xfrm>
            <a:off x="1600200" y="1554480"/>
            <a:ext cx="6949440" cy="868680"/>
          </a:xfrm>
          <a:prstGeom prst="rect">
            <a:avLst/>
          </a:prstGeom>
          <a:noFill/>
          <a:ln/>
        </p:spPr>
        <p:txBody>
          <a:bodyPr wrap="square" lIns="0" tIns="0" rIns="0" bIns="0" rtlCol="0" anchor="ctr"/>
          <a:lstStyle/>
          <a:p>
            <a:pPr marL="0" indent="0">
              <a:buNone/>
            </a:pPr>
            <a:r>
              <a:rPr lang="en-US" sz="1500" dirty="0">
                <a:solidFill>
                  <a:srgbClr val="20263F"/>
                </a:solidFill>
                <a:latin typeface="Calibri" pitchFamily="34" charset="0"/>
                <a:ea typeface="Calibri" pitchFamily="34" charset="-122"/>
                <a:cs typeface="Calibri" pitchFamily="34" charset="-120"/>
              </a:rPr>
              <a:t>AI-assisted evaluators send your output to a judge model with a metric definition and scoring rubric. Others are rule- or algorithm-based — no judge required.</a:t>
            </a:r>
            <a:endParaRPr lang="en-US" sz="1500" dirty="0"/>
          </a:p>
        </p:txBody>
      </p:sp>
      <p:sp>
        <p:nvSpPr>
          <p:cNvPr id="7" name="Shape 4"/>
          <p:cNvSpPr/>
          <p:nvPr/>
        </p:nvSpPr>
        <p:spPr>
          <a:xfrm>
            <a:off x="548640" y="2743200"/>
            <a:ext cx="2651760" cy="1828800"/>
          </a:xfrm>
          <a:prstGeom prst="roundRect">
            <a:avLst>
              <a:gd name="adj" fmla="val 3000"/>
            </a:avLst>
          </a:prstGeom>
          <a:solidFill>
            <a:srgbClr val="1E2761"/>
          </a:solidFill>
          <a:ln/>
          <a:effectLst>
            <a:outerShdw blurRad="88900" dist="25400" dir="2700000" algn="bl" rotWithShape="0">
              <a:srgbClr val="000000">
                <a:alpha val="14000"/>
              </a:srgbClr>
            </a:outerShdw>
          </a:effectLst>
        </p:spPr>
        <p:txBody>
          <a:bodyPr/>
          <a:lstStyle/>
          <a:p>
            <a:endParaRPr lang="en-GB"/>
          </a:p>
        </p:txBody>
      </p:sp>
      <p:sp>
        <p:nvSpPr>
          <p:cNvPr id="8" name="Text 5"/>
          <p:cNvSpPr/>
          <p:nvPr/>
        </p:nvSpPr>
        <p:spPr>
          <a:xfrm>
            <a:off x="713232" y="2880360"/>
            <a:ext cx="2322576" cy="685800"/>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Your results are only as good as your judge + rubric</a:t>
            </a:r>
            <a:endParaRPr lang="en-US" sz="1250" dirty="0"/>
          </a:p>
        </p:txBody>
      </p:sp>
      <p:sp>
        <p:nvSpPr>
          <p:cNvPr id="9" name="Text 6"/>
          <p:cNvSpPr/>
          <p:nvPr/>
        </p:nvSpPr>
        <p:spPr>
          <a:xfrm>
            <a:off x="713232" y="3611880"/>
            <a:ext cx="2322576" cy="868680"/>
          </a:xfrm>
          <a:prstGeom prst="rect">
            <a:avLst/>
          </a:prstGeom>
          <a:noFill/>
          <a:ln/>
        </p:spPr>
        <p:txBody>
          <a:bodyPr wrap="square" lIns="0" tIns="0" rIns="0" bIns="0" rtlCol="0" anchor="ctr"/>
          <a:lstStyle/>
          <a:p>
            <a:pPr marL="0" indent="0">
              <a:buNone/>
            </a:pPr>
            <a:r>
              <a:rPr lang="en-US" sz="1050" dirty="0">
                <a:solidFill>
                  <a:srgbClr val="CADCFC"/>
                </a:solidFill>
                <a:latin typeface="Calibri" pitchFamily="34" charset="0"/>
                <a:ea typeface="Calibri" pitchFamily="34" charset="-122"/>
                <a:cs typeface="Calibri" pitchFamily="34" charset="-120"/>
              </a:rPr>
              <a:t>Invest here first. Microsoft open-sources its quality rubrics — customise them to your scenario.</a:t>
            </a:r>
            <a:endParaRPr lang="en-US" sz="1050" dirty="0"/>
          </a:p>
        </p:txBody>
      </p:sp>
      <p:sp>
        <p:nvSpPr>
          <p:cNvPr id="10" name="Shape 7"/>
          <p:cNvSpPr/>
          <p:nvPr/>
        </p:nvSpPr>
        <p:spPr>
          <a:xfrm>
            <a:off x="3429000" y="2743200"/>
            <a:ext cx="2651760" cy="1828800"/>
          </a:xfrm>
          <a:prstGeom prst="roundRect">
            <a:avLst>
              <a:gd name="adj" fmla="val 3000"/>
            </a:avLst>
          </a:prstGeom>
          <a:solidFill>
            <a:srgbClr val="EEF4FE"/>
          </a:solidFill>
          <a:ln/>
          <a:effectLst>
            <a:outerShdw blurRad="88900" dist="25400" dir="2700000" algn="bl" rotWithShape="0">
              <a:srgbClr val="000000">
                <a:alpha val="14000"/>
              </a:srgbClr>
            </a:outerShdw>
          </a:effectLst>
        </p:spPr>
        <p:txBody>
          <a:bodyPr/>
          <a:lstStyle/>
          <a:p>
            <a:endParaRPr lang="en-GB"/>
          </a:p>
        </p:txBody>
      </p:sp>
      <p:sp>
        <p:nvSpPr>
          <p:cNvPr id="11" name="Text 8"/>
          <p:cNvSpPr/>
          <p:nvPr/>
        </p:nvSpPr>
        <p:spPr>
          <a:xfrm>
            <a:off x="3593592" y="2880360"/>
            <a:ext cx="2322576" cy="685800"/>
          </a:xfrm>
          <a:prstGeom prst="rect">
            <a:avLst/>
          </a:prstGeom>
          <a:noFill/>
          <a:ln/>
        </p:spPr>
        <p:txBody>
          <a:bodyPr wrap="square" lIns="0" tIns="0" rIns="0" bIns="0"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The judge costs tokens</a:t>
            </a:r>
            <a:endParaRPr lang="en-US" sz="1250" dirty="0"/>
          </a:p>
        </p:txBody>
      </p:sp>
      <p:sp>
        <p:nvSpPr>
          <p:cNvPr id="12" name="Text 9"/>
          <p:cNvSpPr/>
          <p:nvPr/>
        </p:nvSpPr>
        <p:spPr>
          <a:xfrm>
            <a:off x="3593592" y="3611880"/>
            <a:ext cx="2322576" cy="868680"/>
          </a:xfrm>
          <a:prstGeom prst="rect">
            <a:avLst/>
          </a:prstGeom>
          <a:noFill/>
          <a:ln/>
        </p:spPr>
        <p:txBody>
          <a:bodyPr wrap="square" lIns="0" tIns="0" rIns="0" bIns="0" rtlCol="0" anchor="ctr"/>
          <a:lstStyle/>
          <a:p>
            <a:pPr marL="0" indent="0">
              <a:buNone/>
            </a:pPr>
            <a:r>
              <a:rPr lang="en-US" sz="1050" dirty="0">
                <a:solidFill>
                  <a:srgbClr val="20263F"/>
                </a:solidFill>
                <a:latin typeface="Calibri" pitchFamily="34" charset="0"/>
                <a:ea typeface="Calibri" pitchFamily="34" charset="-122"/>
                <a:cs typeface="Calibri" pitchFamily="34" charset="-120"/>
              </a:rPr>
              <a:t>Recommended balance: gpt-5-mini for complex evaluation. This is why continuous evaluation samples rather than scoring everything.</a:t>
            </a:r>
            <a:endParaRPr lang="en-US" sz="1050" dirty="0"/>
          </a:p>
        </p:txBody>
      </p:sp>
      <p:sp>
        <p:nvSpPr>
          <p:cNvPr id="13" name="Shape 10"/>
          <p:cNvSpPr/>
          <p:nvPr/>
        </p:nvSpPr>
        <p:spPr>
          <a:xfrm>
            <a:off x="6309360" y="2743200"/>
            <a:ext cx="2651760" cy="1828800"/>
          </a:xfrm>
          <a:prstGeom prst="roundRect">
            <a:avLst>
              <a:gd name="adj" fmla="val 3000"/>
            </a:avLst>
          </a:prstGeom>
          <a:solidFill>
            <a:srgbClr val="EEF4FE"/>
          </a:solidFill>
          <a:ln/>
          <a:effectLst>
            <a:outerShdw blurRad="88900" dist="25400" dir="2700000" algn="bl" rotWithShape="0">
              <a:srgbClr val="000000">
                <a:alpha val="14000"/>
              </a:srgbClr>
            </a:outerShdw>
          </a:effectLst>
        </p:spPr>
        <p:txBody>
          <a:bodyPr/>
          <a:lstStyle/>
          <a:p>
            <a:endParaRPr lang="en-GB"/>
          </a:p>
        </p:txBody>
      </p:sp>
      <p:sp>
        <p:nvSpPr>
          <p:cNvPr id="14" name="Text 11"/>
          <p:cNvSpPr/>
          <p:nvPr/>
        </p:nvSpPr>
        <p:spPr>
          <a:xfrm>
            <a:off x="6473952" y="2880360"/>
            <a:ext cx="2322576" cy="685800"/>
          </a:xfrm>
          <a:prstGeom prst="rect">
            <a:avLst/>
          </a:prstGeom>
          <a:noFill/>
          <a:ln/>
        </p:spPr>
        <p:txBody>
          <a:bodyPr wrap="square" lIns="0" tIns="0" rIns="0" bIns="0"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Reasoning fields are the payoff</a:t>
            </a:r>
            <a:endParaRPr lang="en-US" sz="1250" dirty="0"/>
          </a:p>
        </p:txBody>
      </p:sp>
      <p:sp>
        <p:nvSpPr>
          <p:cNvPr id="15" name="Text 12"/>
          <p:cNvSpPr/>
          <p:nvPr/>
        </p:nvSpPr>
        <p:spPr>
          <a:xfrm>
            <a:off x="6473952" y="3611880"/>
            <a:ext cx="2322576" cy="868680"/>
          </a:xfrm>
          <a:prstGeom prst="rect">
            <a:avLst/>
          </a:prstGeom>
          <a:noFill/>
          <a:ln/>
        </p:spPr>
        <p:txBody>
          <a:bodyPr wrap="square" lIns="0" tIns="0" rIns="0" bIns="0" rtlCol="0" anchor="ctr"/>
          <a:lstStyle/>
          <a:p>
            <a:pPr marL="0" indent="0">
              <a:buNone/>
            </a:pPr>
            <a:r>
              <a:rPr lang="en-US" sz="1050" dirty="0">
                <a:solidFill>
                  <a:srgbClr val="20263F"/>
                </a:solidFill>
                <a:latin typeface="Calibri" pitchFamily="34" charset="0"/>
                <a:ea typeface="Calibri" pitchFamily="34" charset="-122"/>
                <a:cs typeface="Calibri" pitchFamily="34" charset="-120"/>
              </a:rPr>
              <a:t>Every pass/fail ships with the judge's explanation — the debugging surface you'll use all day.</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8138160" cy="274320"/>
          </a:xfrm>
          <a:prstGeom prst="rect">
            <a:avLst/>
          </a:prstGeom>
          <a:noFill/>
          <a:ln/>
        </p:spPr>
        <p:txBody>
          <a:bodyPr wrap="square" lIns="0" tIns="0" rIns="0" bIns="0" rtlCol="0" anchor="ctr"/>
          <a:lstStyle/>
          <a:p>
            <a:pPr marL="0" indent="0">
              <a:buNone/>
            </a:pPr>
            <a:r>
              <a:rPr lang="en-US" sz="1100" b="1" kern="0" spc="300" dirty="0">
                <a:solidFill>
                  <a:srgbClr val="5A6378"/>
                </a:solidFill>
                <a:latin typeface="Calibri" pitchFamily="34" charset="0"/>
                <a:ea typeface="Calibri" pitchFamily="34" charset="-122"/>
                <a:cs typeface="Calibri" pitchFamily="34" charset="-120"/>
              </a:rPr>
              <a:t>MODULE 1 · WHERE EVALUATION HAPPENS</a:t>
            </a:r>
            <a:endParaRPr lang="en-US" sz="1100" dirty="0"/>
          </a:p>
        </p:txBody>
      </p:sp>
      <p:sp>
        <p:nvSpPr>
          <p:cNvPr id="3" name="Text 1"/>
          <p:cNvSpPr/>
          <p:nvPr/>
        </p:nvSpPr>
        <p:spPr>
          <a:xfrm>
            <a:off x="502920" y="530352"/>
            <a:ext cx="8138160" cy="68580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Four targets, three places to run</a:t>
            </a:r>
            <a:endParaRPr lang="en-US" sz="3000" dirty="0"/>
          </a:p>
        </p:txBody>
      </p:sp>
      <p:sp>
        <p:nvSpPr>
          <p:cNvPr id="4" name="Text 2"/>
          <p:cNvSpPr/>
          <p:nvPr/>
        </p:nvSpPr>
        <p:spPr>
          <a:xfrm>
            <a:off x="502920" y="1371600"/>
            <a:ext cx="3657600" cy="256032"/>
          </a:xfrm>
          <a:prstGeom prst="rect">
            <a:avLst/>
          </a:prstGeom>
          <a:noFill/>
          <a:ln/>
        </p:spPr>
        <p:txBody>
          <a:bodyPr wrap="square" lIns="0" tIns="0" rIns="0" bIns="0" rtlCol="0" anchor="ctr"/>
          <a:lstStyle/>
          <a:p>
            <a:pPr marL="0" indent="0">
              <a:buNone/>
            </a:pPr>
            <a:r>
              <a:rPr lang="en-US" sz="1100" b="1" kern="0" spc="200" dirty="0">
                <a:solidFill>
                  <a:srgbClr val="5A6378"/>
                </a:solidFill>
                <a:latin typeface="Calibri" pitchFamily="34" charset="0"/>
                <a:ea typeface="Calibri" pitchFamily="34" charset="-122"/>
                <a:cs typeface="Calibri" pitchFamily="34" charset="-120"/>
              </a:rPr>
              <a:t>WHAT YOU POINT AT</a:t>
            </a:r>
            <a:endParaRPr lang="en-US" sz="1100" dirty="0"/>
          </a:p>
        </p:txBody>
      </p:sp>
      <p:sp>
        <p:nvSpPr>
          <p:cNvPr id="5" name="Shape 3"/>
          <p:cNvSpPr/>
          <p:nvPr/>
        </p:nvSpPr>
        <p:spPr>
          <a:xfrm>
            <a:off x="502920" y="1691640"/>
            <a:ext cx="1938528" cy="1325880"/>
          </a:xfrm>
          <a:prstGeom prst="roundRect">
            <a:avLst>
              <a:gd name="adj" fmla="val 4138"/>
            </a:avLst>
          </a:prstGeom>
          <a:solidFill>
            <a:srgbClr val="EEF4FE"/>
          </a:solidFill>
          <a:ln/>
          <a:effectLst>
            <a:outerShdw blurRad="88900" dist="25400" dir="2700000" algn="bl" rotWithShape="0">
              <a:srgbClr val="000000">
                <a:alpha val="14000"/>
              </a:srgbClr>
            </a:outerShdw>
          </a:effectLst>
        </p:spPr>
        <p:txBody>
          <a:bodyPr/>
          <a:lstStyle/>
          <a:p>
            <a:endParaRPr lang="en-GB"/>
          </a:p>
        </p:txBody>
      </p:sp>
      <p:sp>
        <p:nvSpPr>
          <p:cNvPr id="6" name="Shape 4"/>
          <p:cNvSpPr/>
          <p:nvPr/>
        </p:nvSpPr>
        <p:spPr>
          <a:xfrm>
            <a:off x="640080" y="1828800"/>
            <a:ext cx="402336" cy="402336"/>
          </a:xfrm>
          <a:prstGeom prst="ellipse">
            <a:avLst/>
          </a:prstGeom>
          <a:solidFill>
            <a:srgbClr val="1E2761"/>
          </a:solidFill>
          <a:ln/>
        </p:spPr>
        <p:txBody>
          <a:bodyPr/>
          <a:lstStyle/>
          <a:p>
            <a:endParaRPr lang="en-GB"/>
          </a:p>
        </p:txBody>
      </p:sp>
      <p:pic>
        <p:nvPicPr>
          <p:cNvPr id="7" name="Image 0" descr="preencoded.png"/>
          <p:cNvPicPr>
            <a:picLocks noChangeAspect="1"/>
          </p:cNvPicPr>
          <p:nvPr/>
        </p:nvPicPr>
        <p:blipFill>
          <a:blip r:embed="rId3"/>
          <a:stretch>
            <a:fillRect/>
          </a:stretch>
        </p:blipFill>
        <p:spPr>
          <a:xfrm>
            <a:off x="744687" y="1933407"/>
            <a:ext cx="193121" cy="193121"/>
          </a:xfrm>
          <a:prstGeom prst="rect">
            <a:avLst/>
          </a:prstGeom>
        </p:spPr>
      </p:pic>
      <p:sp>
        <p:nvSpPr>
          <p:cNvPr id="8" name="Text 5"/>
          <p:cNvSpPr/>
          <p:nvPr/>
        </p:nvSpPr>
        <p:spPr>
          <a:xfrm>
            <a:off x="1143000" y="1874520"/>
            <a:ext cx="1161288" cy="292608"/>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Model</a:t>
            </a:r>
            <a:endParaRPr lang="en-US" sz="1350" dirty="0"/>
          </a:p>
        </p:txBody>
      </p:sp>
      <p:sp>
        <p:nvSpPr>
          <p:cNvPr id="9" name="Text 6"/>
          <p:cNvSpPr/>
          <p:nvPr/>
        </p:nvSpPr>
        <p:spPr>
          <a:xfrm>
            <a:off x="640080" y="2313432"/>
            <a:ext cx="1664208" cy="640080"/>
          </a:xfrm>
          <a:prstGeom prst="rect">
            <a:avLst/>
          </a:prstGeom>
          <a:noFill/>
          <a:ln/>
        </p:spPr>
        <p:txBody>
          <a:bodyPr wrap="square" lIns="0" tIns="0" rIns="0" bIns="0" rtlCol="0" anchor="ctr"/>
          <a:lstStyle/>
          <a:p>
            <a:pPr marL="0" indent="0">
              <a:buNone/>
            </a:pPr>
            <a:r>
              <a:rPr lang="en-US" sz="1000" dirty="0">
                <a:solidFill>
                  <a:srgbClr val="20263F"/>
                </a:solidFill>
                <a:latin typeface="Calibri" pitchFamily="34" charset="0"/>
                <a:ea typeface="Calibri" pitchFamily="34" charset="-122"/>
                <a:cs typeface="Calibri" pitchFamily="34" charset="-120"/>
              </a:rPr>
              <a:t>Benchmark &amp; compare deployments</a:t>
            </a:r>
            <a:endParaRPr lang="en-US" sz="1000" dirty="0"/>
          </a:p>
        </p:txBody>
      </p:sp>
      <p:sp>
        <p:nvSpPr>
          <p:cNvPr id="10" name="Shape 7"/>
          <p:cNvSpPr/>
          <p:nvPr/>
        </p:nvSpPr>
        <p:spPr>
          <a:xfrm>
            <a:off x="2606040" y="1691640"/>
            <a:ext cx="1938528" cy="1325880"/>
          </a:xfrm>
          <a:prstGeom prst="roundRect">
            <a:avLst>
              <a:gd name="adj" fmla="val 4138"/>
            </a:avLst>
          </a:prstGeom>
          <a:solidFill>
            <a:srgbClr val="EEF4FE"/>
          </a:solidFill>
          <a:ln/>
          <a:effectLst>
            <a:outerShdw blurRad="88900" dist="25400" dir="2700000" algn="bl" rotWithShape="0">
              <a:srgbClr val="000000">
                <a:alpha val="14000"/>
              </a:srgbClr>
            </a:outerShdw>
          </a:effectLst>
        </p:spPr>
        <p:txBody>
          <a:bodyPr/>
          <a:lstStyle/>
          <a:p>
            <a:endParaRPr lang="en-GB"/>
          </a:p>
        </p:txBody>
      </p:sp>
      <p:sp>
        <p:nvSpPr>
          <p:cNvPr id="11" name="Shape 8"/>
          <p:cNvSpPr/>
          <p:nvPr/>
        </p:nvSpPr>
        <p:spPr>
          <a:xfrm>
            <a:off x="2743200" y="1828800"/>
            <a:ext cx="402336" cy="402336"/>
          </a:xfrm>
          <a:prstGeom prst="ellipse">
            <a:avLst/>
          </a:prstGeom>
          <a:solidFill>
            <a:srgbClr val="1E2761"/>
          </a:solidFill>
          <a:ln/>
        </p:spPr>
        <p:txBody>
          <a:bodyPr/>
          <a:lstStyle/>
          <a:p>
            <a:endParaRPr lang="en-GB"/>
          </a:p>
        </p:txBody>
      </p:sp>
      <p:pic>
        <p:nvPicPr>
          <p:cNvPr id="12" name="Image 1" descr="preencoded.png"/>
          <p:cNvPicPr>
            <a:picLocks noChangeAspect="1"/>
          </p:cNvPicPr>
          <p:nvPr/>
        </p:nvPicPr>
        <p:blipFill>
          <a:blip r:embed="rId4"/>
          <a:stretch>
            <a:fillRect/>
          </a:stretch>
        </p:blipFill>
        <p:spPr>
          <a:xfrm>
            <a:off x="2847807" y="1933407"/>
            <a:ext cx="193121" cy="193121"/>
          </a:xfrm>
          <a:prstGeom prst="rect">
            <a:avLst/>
          </a:prstGeom>
        </p:spPr>
      </p:pic>
      <p:sp>
        <p:nvSpPr>
          <p:cNvPr id="13" name="Text 9"/>
          <p:cNvSpPr/>
          <p:nvPr/>
        </p:nvSpPr>
        <p:spPr>
          <a:xfrm>
            <a:off x="3246120" y="1874520"/>
            <a:ext cx="1161288" cy="292608"/>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Agent</a:t>
            </a:r>
            <a:endParaRPr lang="en-US" sz="1350" dirty="0"/>
          </a:p>
        </p:txBody>
      </p:sp>
      <p:sp>
        <p:nvSpPr>
          <p:cNvPr id="14" name="Text 10"/>
          <p:cNvSpPr/>
          <p:nvPr/>
        </p:nvSpPr>
        <p:spPr>
          <a:xfrm>
            <a:off x="2743200" y="2313432"/>
            <a:ext cx="1664208" cy="640080"/>
          </a:xfrm>
          <a:prstGeom prst="rect">
            <a:avLst/>
          </a:prstGeom>
          <a:noFill/>
          <a:ln/>
        </p:spPr>
        <p:txBody>
          <a:bodyPr wrap="square" lIns="0" tIns="0" rIns="0" bIns="0" rtlCol="0" anchor="ctr"/>
          <a:lstStyle/>
          <a:p>
            <a:pPr marL="0" indent="0">
              <a:buNone/>
            </a:pPr>
            <a:r>
              <a:rPr lang="en-US" sz="1000" dirty="0">
                <a:solidFill>
                  <a:srgbClr val="20263F"/>
                </a:solidFill>
                <a:latin typeface="Calibri" pitchFamily="34" charset="0"/>
                <a:ea typeface="Calibri" pitchFamily="34" charset="-122"/>
                <a:cs typeface="Calibri" pitchFamily="34" charset="-120"/>
              </a:rPr>
              <a:t>Live queries, simulated or real conversations</a:t>
            </a:r>
            <a:endParaRPr lang="en-US" sz="1000" dirty="0"/>
          </a:p>
        </p:txBody>
      </p:sp>
      <p:sp>
        <p:nvSpPr>
          <p:cNvPr id="15" name="Shape 11"/>
          <p:cNvSpPr/>
          <p:nvPr/>
        </p:nvSpPr>
        <p:spPr>
          <a:xfrm>
            <a:off x="4709160" y="1691640"/>
            <a:ext cx="1938528" cy="1325880"/>
          </a:xfrm>
          <a:prstGeom prst="roundRect">
            <a:avLst>
              <a:gd name="adj" fmla="val 4138"/>
            </a:avLst>
          </a:prstGeom>
          <a:solidFill>
            <a:srgbClr val="EEF4FE"/>
          </a:solidFill>
          <a:ln/>
          <a:effectLst>
            <a:outerShdw blurRad="88900" dist="25400" dir="2700000" algn="bl" rotWithShape="0">
              <a:srgbClr val="000000">
                <a:alpha val="14000"/>
              </a:srgbClr>
            </a:outerShdw>
          </a:effectLst>
        </p:spPr>
        <p:txBody>
          <a:bodyPr/>
          <a:lstStyle/>
          <a:p>
            <a:endParaRPr lang="en-GB"/>
          </a:p>
        </p:txBody>
      </p:sp>
      <p:sp>
        <p:nvSpPr>
          <p:cNvPr id="16" name="Shape 12"/>
          <p:cNvSpPr/>
          <p:nvPr/>
        </p:nvSpPr>
        <p:spPr>
          <a:xfrm>
            <a:off x="4846320" y="1828800"/>
            <a:ext cx="402336" cy="402336"/>
          </a:xfrm>
          <a:prstGeom prst="ellipse">
            <a:avLst/>
          </a:prstGeom>
          <a:solidFill>
            <a:srgbClr val="1E2761"/>
          </a:solidFill>
          <a:ln/>
        </p:spPr>
        <p:txBody>
          <a:bodyPr/>
          <a:lstStyle/>
          <a:p>
            <a:endParaRPr lang="en-GB"/>
          </a:p>
        </p:txBody>
      </p:sp>
      <p:pic>
        <p:nvPicPr>
          <p:cNvPr id="17" name="Image 2" descr="preencoded.png"/>
          <p:cNvPicPr>
            <a:picLocks noChangeAspect="1"/>
          </p:cNvPicPr>
          <p:nvPr/>
        </p:nvPicPr>
        <p:blipFill>
          <a:blip r:embed="rId5"/>
          <a:stretch>
            <a:fillRect/>
          </a:stretch>
        </p:blipFill>
        <p:spPr>
          <a:xfrm>
            <a:off x="4950927" y="1933407"/>
            <a:ext cx="193121" cy="193121"/>
          </a:xfrm>
          <a:prstGeom prst="rect">
            <a:avLst/>
          </a:prstGeom>
        </p:spPr>
      </p:pic>
      <p:sp>
        <p:nvSpPr>
          <p:cNvPr id="18" name="Text 13"/>
          <p:cNvSpPr/>
          <p:nvPr/>
        </p:nvSpPr>
        <p:spPr>
          <a:xfrm>
            <a:off x="5349240" y="1874520"/>
            <a:ext cx="1161288" cy="292608"/>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Dataset</a:t>
            </a:r>
            <a:endParaRPr lang="en-US" sz="1350" dirty="0"/>
          </a:p>
        </p:txBody>
      </p:sp>
      <p:sp>
        <p:nvSpPr>
          <p:cNvPr id="19" name="Text 14"/>
          <p:cNvSpPr/>
          <p:nvPr/>
        </p:nvSpPr>
        <p:spPr>
          <a:xfrm>
            <a:off x="4846320" y="2313432"/>
            <a:ext cx="1664208" cy="640080"/>
          </a:xfrm>
          <a:prstGeom prst="rect">
            <a:avLst/>
          </a:prstGeom>
          <a:noFill/>
          <a:ln/>
        </p:spPr>
        <p:txBody>
          <a:bodyPr wrap="square" lIns="0" tIns="0" rIns="0" bIns="0" rtlCol="0" anchor="ctr"/>
          <a:lstStyle/>
          <a:p>
            <a:pPr marL="0" indent="0">
              <a:buNone/>
            </a:pPr>
            <a:r>
              <a:rPr lang="en-US" sz="1000" dirty="0">
                <a:solidFill>
                  <a:srgbClr val="20263F"/>
                </a:solidFill>
                <a:latin typeface="Calibri" pitchFamily="34" charset="0"/>
                <a:ea typeface="Calibri" pitchFamily="34" charset="-122"/>
                <a:cs typeface="Calibri" pitchFamily="34" charset="-120"/>
              </a:rPr>
              <a:t>Pre-existing outputs, CSV/JSONL — no live calls</a:t>
            </a:r>
            <a:endParaRPr lang="en-US" sz="1000" dirty="0"/>
          </a:p>
        </p:txBody>
      </p:sp>
      <p:sp>
        <p:nvSpPr>
          <p:cNvPr id="20" name="Shape 15"/>
          <p:cNvSpPr/>
          <p:nvPr/>
        </p:nvSpPr>
        <p:spPr>
          <a:xfrm>
            <a:off x="6812280" y="1691640"/>
            <a:ext cx="1938528" cy="1325880"/>
          </a:xfrm>
          <a:prstGeom prst="roundRect">
            <a:avLst>
              <a:gd name="adj" fmla="val 4138"/>
            </a:avLst>
          </a:prstGeom>
          <a:solidFill>
            <a:srgbClr val="EEF4FE"/>
          </a:solidFill>
          <a:ln/>
          <a:effectLst>
            <a:outerShdw blurRad="88900" dist="25400" dir="2700000" algn="bl" rotWithShape="0">
              <a:srgbClr val="000000">
                <a:alpha val="14000"/>
              </a:srgbClr>
            </a:outerShdw>
          </a:effectLst>
        </p:spPr>
        <p:txBody>
          <a:bodyPr/>
          <a:lstStyle/>
          <a:p>
            <a:endParaRPr lang="en-GB"/>
          </a:p>
        </p:txBody>
      </p:sp>
      <p:sp>
        <p:nvSpPr>
          <p:cNvPr id="21" name="Shape 16"/>
          <p:cNvSpPr/>
          <p:nvPr/>
        </p:nvSpPr>
        <p:spPr>
          <a:xfrm>
            <a:off x="6949440" y="1828800"/>
            <a:ext cx="402336" cy="402336"/>
          </a:xfrm>
          <a:prstGeom prst="ellipse">
            <a:avLst/>
          </a:prstGeom>
          <a:solidFill>
            <a:srgbClr val="1E2761"/>
          </a:solidFill>
          <a:ln/>
        </p:spPr>
        <p:txBody>
          <a:bodyPr/>
          <a:lstStyle/>
          <a:p>
            <a:endParaRPr lang="en-GB"/>
          </a:p>
        </p:txBody>
      </p:sp>
      <p:pic>
        <p:nvPicPr>
          <p:cNvPr id="22" name="Image 3" descr="preencoded.png"/>
          <p:cNvPicPr>
            <a:picLocks noChangeAspect="1"/>
          </p:cNvPicPr>
          <p:nvPr/>
        </p:nvPicPr>
        <p:blipFill>
          <a:blip r:embed="rId6"/>
          <a:stretch>
            <a:fillRect/>
          </a:stretch>
        </p:blipFill>
        <p:spPr>
          <a:xfrm>
            <a:off x="7054047" y="1933407"/>
            <a:ext cx="193121" cy="193121"/>
          </a:xfrm>
          <a:prstGeom prst="rect">
            <a:avLst/>
          </a:prstGeom>
        </p:spPr>
      </p:pic>
      <p:sp>
        <p:nvSpPr>
          <p:cNvPr id="23" name="Text 17"/>
          <p:cNvSpPr/>
          <p:nvPr/>
        </p:nvSpPr>
        <p:spPr>
          <a:xfrm>
            <a:off x="7452360" y="1874520"/>
            <a:ext cx="1161288" cy="292608"/>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Traces</a:t>
            </a:r>
            <a:endParaRPr lang="en-US" sz="1350" dirty="0"/>
          </a:p>
        </p:txBody>
      </p:sp>
      <p:sp>
        <p:nvSpPr>
          <p:cNvPr id="24" name="Text 18"/>
          <p:cNvSpPr/>
          <p:nvPr/>
        </p:nvSpPr>
        <p:spPr>
          <a:xfrm>
            <a:off x="6949440" y="2313432"/>
            <a:ext cx="1664208" cy="640080"/>
          </a:xfrm>
          <a:prstGeom prst="rect">
            <a:avLst/>
          </a:prstGeom>
          <a:noFill/>
          <a:ln/>
        </p:spPr>
        <p:txBody>
          <a:bodyPr wrap="square" lIns="0" tIns="0" rIns="0" bIns="0" rtlCol="0" anchor="ctr"/>
          <a:lstStyle/>
          <a:p>
            <a:pPr marL="0" indent="0">
              <a:buNone/>
            </a:pPr>
            <a:r>
              <a:rPr lang="en-US" sz="1000" dirty="0">
                <a:solidFill>
                  <a:srgbClr val="20263F"/>
                </a:solidFill>
                <a:latin typeface="Calibri" pitchFamily="34" charset="0"/>
                <a:ea typeface="Calibri" pitchFamily="34" charset="-122"/>
                <a:cs typeface="Calibri" pitchFamily="34" charset="-120"/>
              </a:rPr>
              <a:t>Production interactions from App Insights — no curated dataset</a:t>
            </a:r>
            <a:endParaRPr lang="en-US" sz="1000" dirty="0"/>
          </a:p>
        </p:txBody>
      </p:sp>
      <p:sp>
        <p:nvSpPr>
          <p:cNvPr id="25" name="Text 19"/>
          <p:cNvSpPr/>
          <p:nvPr/>
        </p:nvSpPr>
        <p:spPr>
          <a:xfrm>
            <a:off x="502920" y="3200400"/>
            <a:ext cx="3657600" cy="256032"/>
          </a:xfrm>
          <a:prstGeom prst="rect">
            <a:avLst/>
          </a:prstGeom>
          <a:noFill/>
          <a:ln/>
        </p:spPr>
        <p:txBody>
          <a:bodyPr wrap="square" lIns="0" tIns="0" rIns="0" bIns="0" rtlCol="0" anchor="ctr"/>
          <a:lstStyle/>
          <a:p>
            <a:pPr marL="0" indent="0">
              <a:buNone/>
            </a:pPr>
            <a:r>
              <a:rPr lang="en-US" sz="1100" b="1" kern="0" spc="200" dirty="0">
                <a:solidFill>
                  <a:srgbClr val="5A6378"/>
                </a:solidFill>
                <a:latin typeface="Calibri" pitchFamily="34" charset="0"/>
                <a:ea typeface="Calibri" pitchFamily="34" charset="-122"/>
                <a:cs typeface="Calibri" pitchFamily="34" charset="-120"/>
              </a:rPr>
              <a:t>WHERE IT EXECUTES</a:t>
            </a:r>
            <a:endParaRPr lang="en-US" sz="1100" dirty="0"/>
          </a:p>
        </p:txBody>
      </p:sp>
      <p:sp>
        <p:nvSpPr>
          <p:cNvPr id="26" name="Shape 20"/>
          <p:cNvSpPr/>
          <p:nvPr/>
        </p:nvSpPr>
        <p:spPr>
          <a:xfrm>
            <a:off x="502920" y="3520440"/>
            <a:ext cx="2633472" cy="1280160"/>
          </a:xfrm>
          <a:prstGeom prst="roundRect">
            <a:avLst>
              <a:gd name="adj" fmla="val 4286"/>
            </a:avLst>
          </a:prstGeom>
          <a:solidFill>
            <a:srgbClr val="EEF4FE"/>
          </a:solidFill>
          <a:ln/>
          <a:effectLst>
            <a:outerShdw blurRad="88900" dist="25400" dir="2700000" algn="bl" rotWithShape="0">
              <a:srgbClr val="000000">
                <a:alpha val="14000"/>
              </a:srgbClr>
            </a:outerShdw>
          </a:effectLst>
        </p:spPr>
        <p:txBody>
          <a:bodyPr/>
          <a:lstStyle/>
          <a:p>
            <a:endParaRPr lang="en-GB"/>
          </a:p>
        </p:txBody>
      </p:sp>
      <p:sp>
        <p:nvSpPr>
          <p:cNvPr id="27" name="Shape 21"/>
          <p:cNvSpPr/>
          <p:nvPr/>
        </p:nvSpPr>
        <p:spPr>
          <a:xfrm>
            <a:off x="640080" y="3657600"/>
            <a:ext cx="402336" cy="402336"/>
          </a:xfrm>
          <a:prstGeom prst="ellipse">
            <a:avLst/>
          </a:prstGeom>
          <a:solidFill>
            <a:srgbClr val="1E2761"/>
          </a:solidFill>
          <a:ln/>
        </p:spPr>
        <p:txBody>
          <a:bodyPr/>
          <a:lstStyle/>
          <a:p>
            <a:endParaRPr lang="en-GB"/>
          </a:p>
        </p:txBody>
      </p:sp>
      <p:pic>
        <p:nvPicPr>
          <p:cNvPr id="28" name="Image 4" descr="preencoded.png"/>
          <p:cNvPicPr>
            <a:picLocks noChangeAspect="1"/>
          </p:cNvPicPr>
          <p:nvPr/>
        </p:nvPicPr>
        <p:blipFill>
          <a:blip r:embed="rId7"/>
          <a:stretch>
            <a:fillRect/>
          </a:stretch>
        </p:blipFill>
        <p:spPr>
          <a:xfrm>
            <a:off x="744687" y="3762207"/>
            <a:ext cx="193121" cy="193121"/>
          </a:xfrm>
          <a:prstGeom prst="rect">
            <a:avLst/>
          </a:prstGeom>
        </p:spPr>
      </p:pic>
      <p:sp>
        <p:nvSpPr>
          <p:cNvPr id="29" name="Text 22"/>
          <p:cNvSpPr/>
          <p:nvPr/>
        </p:nvSpPr>
        <p:spPr>
          <a:xfrm>
            <a:off x="1143000" y="3703320"/>
            <a:ext cx="1856232" cy="292608"/>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Local</a:t>
            </a:r>
            <a:endParaRPr lang="en-US" sz="1350" dirty="0"/>
          </a:p>
        </p:txBody>
      </p:sp>
      <p:sp>
        <p:nvSpPr>
          <p:cNvPr id="30" name="Text 23"/>
          <p:cNvSpPr/>
          <p:nvPr/>
        </p:nvSpPr>
        <p:spPr>
          <a:xfrm>
            <a:off x="640080" y="4087368"/>
            <a:ext cx="2359152" cy="685800"/>
          </a:xfrm>
          <a:prstGeom prst="rect">
            <a:avLst/>
          </a:prstGeom>
          <a:noFill/>
          <a:ln/>
        </p:spPr>
        <p:txBody>
          <a:bodyPr wrap="square" lIns="0" tIns="0" rIns="0" bIns="0" rtlCol="0" anchor="ctr"/>
          <a:lstStyle/>
          <a:p>
            <a:pPr marL="0" indent="0">
              <a:buNone/>
            </a:pPr>
            <a:r>
              <a:rPr lang="en-US" sz="950" dirty="0">
                <a:solidFill>
                  <a:srgbClr val="20263F"/>
                </a:solidFill>
                <a:latin typeface="Calibri" pitchFamily="34" charset="0"/>
                <a:ea typeface="Calibri" pitchFamily="34" charset="-122"/>
                <a:cs typeface="Calibri" pitchFamily="34" charset="-120"/>
              </a:rPr>
              <a:t>SDK on your machine. Second-scale iteration while designing rubrics — now aligned with the hosted evaluator catalog.</a:t>
            </a:r>
            <a:endParaRPr lang="en-US" sz="950" dirty="0"/>
          </a:p>
        </p:txBody>
      </p:sp>
      <p:sp>
        <p:nvSpPr>
          <p:cNvPr id="31" name="Shape 24"/>
          <p:cNvSpPr/>
          <p:nvPr/>
        </p:nvSpPr>
        <p:spPr>
          <a:xfrm>
            <a:off x="3310128" y="3520440"/>
            <a:ext cx="2633472" cy="1280160"/>
          </a:xfrm>
          <a:prstGeom prst="roundRect">
            <a:avLst>
              <a:gd name="adj" fmla="val 4286"/>
            </a:avLst>
          </a:prstGeom>
          <a:solidFill>
            <a:srgbClr val="EEF4FE"/>
          </a:solidFill>
          <a:ln/>
          <a:effectLst>
            <a:outerShdw blurRad="88900" dist="25400" dir="2700000" algn="bl" rotWithShape="0">
              <a:srgbClr val="000000">
                <a:alpha val="14000"/>
              </a:srgbClr>
            </a:outerShdw>
          </a:effectLst>
        </p:spPr>
        <p:txBody>
          <a:bodyPr/>
          <a:lstStyle/>
          <a:p>
            <a:endParaRPr lang="en-GB"/>
          </a:p>
        </p:txBody>
      </p:sp>
      <p:sp>
        <p:nvSpPr>
          <p:cNvPr id="32" name="Shape 25"/>
          <p:cNvSpPr/>
          <p:nvPr/>
        </p:nvSpPr>
        <p:spPr>
          <a:xfrm>
            <a:off x="3447288" y="3657600"/>
            <a:ext cx="402336" cy="402336"/>
          </a:xfrm>
          <a:prstGeom prst="ellipse">
            <a:avLst/>
          </a:prstGeom>
          <a:solidFill>
            <a:srgbClr val="1E2761"/>
          </a:solidFill>
          <a:ln/>
        </p:spPr>
        <p:txBody>
          <a:bodyPr/>
          <a:lstStyle/>
          <a:p>
            <a:endParaRPr lang="en-GB"/>
          </a:p>
        </p:txBody>
      </p:sp>
      <p:pic>
        <p:nvPicPr>
          <p:cNvPr id="33" name="Image 5" descr="preencoded.png"/>
          <p:cNvPicPr>
            <a:picLocks noChangeAspect="1"/>
          </p:cNvPicPr>
          <p:nvPr/>
        </p:nvPicPr>
        <p:blipFill>
          <a:blip r:embed="rId3"/>
          <a:stretch>
            <a:fillRect/>
          </a:stretch>
        </p:blipFill>
        <p:spPr>
          <a:xfrm>
            <a:off x="3551895" y="3762207"/>
            <a:ext cx="193121" cy="193121"/>
          </a:xfrm>
          <a:prstGeom prst="rect">
            <a:avLst/>
          </a:prstGeom>
        </p:spPr>
      </p:pic>
      <p:sp>
        <p:nvSpPr>
          <p:cNvPr id="34" name="Text 26"/>
          <p:cNvSpPr/>
          <p:nvPr/>
        </p:nvSpPr>
        <p:spPr>
          <a:xfrm>
            <a:off x="3950208" y="3703320"/>
            <a:ext cx="1856232" cy="292608"/>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Cloud</a:t>
            </a:r>
            <a:endParaRPr lang="en-US" sz="1350" dirty="0"/>
          </a:p>
        </p:txBody>
      </p:sp>
      <p:sp>
        <p:nvSpPr>
          <p:cNvPr id="35" name="Text 27"/>
          <p:cNvSpPr/>
          <p:nvPr/>
        </p:nvSpPr>
        <p:spPr>
          <a:xfrm>
            <a:off x="3447288" y="4087368"/>
            <a:ext cx="2359152" cy="685800"/>
          </a:xfrm>
          <a:prstGeom prst="rect">
            <a:avLst/>
          </a:prstGeom>
          <a:noFill/>
          <a:ln/>
        </p:spPr>
        <p:txBody>
          <a:bodyPr wrap="square" lIns="0" tIns="0" rIns="0" bIns="0" rtlCol="0" anchor="ctr"/>
          <a:lstStyle/>
          <a:p>
            <a:pPr marL="0" indent="0">
              <a:buNone/>
            </a:pPr>
            <a:r>
              <a:rPr lang="en-US" sz="950" dirty="0">
                <a:solidFill>
                  <a:srgbClr val="20263F"/>
                </a:solidFill>
                <a:latin typeface="Calibri" pitchFamily="34" charset="0"/>
                <a:ea typeface="Calibri" pitchFamily="34" charset="-122"/>
                <a:cs typeface="Calibri" pitchFamily="34" charset="-120"/>
              </a:rPr>
              <a:t>Portal or SDK. Scale, CI/CD gates, pre-deployment testing. Results logged to the project, linked to traces.</a:t>
            </a:r>
            <a:endParaRPr lang="en-US" sz="950" dirty="0"/>
          </a:p>
        </p:txBody>
      </p:sp>
      <p:sp>
        <p:nvSpPr>
          <p:cNvPr id="36" name="Shape 28"/>
          <p:cNvSpPr/>
          <p:nvPr/>
        </p:nvSpPr>
        <p:spPr>
          <a:xfrm>
            <a:off x="6117336" y="3520440"/>
            <a:ext cx="2633472" cy="1280160"/>
          </a:xfrm>
          <a:prstGeom prst="roundRect">
            <a:avLst>
              <a:gd name="adj" fmla="val 4286"/>
            </a:avLst>
          </a:prstGeom>
          <a:solidFill>
            <a:srgbClr val="1E2761"/>
          </a:solidFill>
          <a:ln/>
          <a:effectLst>
            <a:outerShdw blurRad="88900" dist="25400" dir="2700000" algn="bl" rotWithShape="0">
              <a:srgbClr val="000000">
                <a:alpha val="14000"/>
              </a:srgbClr>
            </a:outerShdw>
          </a:effectLst>
        </p:spPr>
        <p:txBody>
          <a:bodyPr/>
          <a:lstStyle/>
          <a:p>
            <a:endParaRPr lang="en-GB"/>
          </a:p>
        </p:txBody>
      </p:sp>
      <p:sp>
        <p:nvSpPr>
          <p:cNvPr id="37" name="Shape 29"/>
          <p:cNvSpPr/>
          <p:nvPr/>
        </p:nvSpPr>
        <p:spPr>
          <a:xfrm>
            <a:off x="6254496" y="3657600"/>
            <a:ext cx="402336" cy="402336"/>
          </a:xfrm>
          <a:prstGeom prst="ellipse">
            <a:avLst/>
          </a:prstGeom>
          <a:solidFill>
            <a:srgbClr val="0E9F7E"/>
          </a:solidFill>
          <a:ln/>
        </p:spPr>
        <p:txBody>
          <a:bodyPr/>
          <a:lstStyle/>
          <a:p>
            <a:endParaRPr lang="en-GB"/>
          </a:p>
        </p:txBody>
      </p:sp>
      <p:pic>
        <p:nvPicPr>
          <p:cNvPr id="38" name="Image 6" descr="preencoded.png"/>
          <p:cNvPicPr>
            <a:picLocks noChangeAspect="1"/>
          </p:cNvPicPr>
          <p:nvPr/>
        </p:nvPicPr>
        <p:blipFill>
          <a:blip r:embed="rId8"/>
          <a:stretch>
            <a:fillRect/>
          </a:stretch>
        </p:blipFill>
        <p:spPr>
          <a:xfrm>
            <a:off x="6359103" y="3762207"/>
            <a:ext cx="193121" cy="193121"/>
          </a:xfrm>
          <a:prstGeom prst="rect">
            <a:avLst/>
          </a:prstGeom>
        </p:spPr>
      </p:pic>
      <p:sp>
        <p:nvSpPr>
          <p:cNvPr id="39" name="Text 30"/>
          <p:cNvSpPr/>
          <p:nvPr/>
        </p:nvSpPr>
        <p:spPr>
          <a:xfrm>
            <a:off x="6757416" y="3703320"/>
            <a:ext cx="1856232" cy="292608"/>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Continuous</a:t>
            </a:r>
            <a:endParaRPr lang="en-US" sz="1350" dirty="0"/>
          </a:p>
        </p:txBody>
      </p:sp>
      <p:sp>
        <p:nvSpPr>
          <p:cNvPr id="40" name="Text 31"/>
          <p:cNvSpPr/>
          <p:nvPr/>
        </p:nvSpPr>
        <p:spPr>
          <a:xfrm>
            <a:off x="6254496" y="4087368"/>
            <a:ext cx="2359152" cy="685800"/>
          </a:xfrm>
          <a:prstGeom prst="rect">
            <a:avLst/>
          </a:prstGeom>
          <a:noFill/>
          <a:ln/>
        </p:spPr>
        <p:txBody>
          <a:bodyPr wrap="square" lIns="0" tIns="0" rIns="0" bIns="0" rtlCol="0" anchor="ctr"/>
          <a:lstStyle/>
          <a:p>
            <a:pPr marL="0" indent="0">
              <a:buNone/>
            </a:pPr>
            <a:r>
              <a:rPr lang="en-US" sz="950" dirty="0">
                <a:solidFill>
                  <a:srgbClr val="CADCFC"/>
                </a:solidFill>
                <a:latin typeface="Calibri" pitchFamily="34" charset="0"/>
                <a:ea typeface="Calibri" pitchFamily="34" charset="-122"/>
                <a:cs typeface="Calibri" pitchFamily="34" charset="-120"/>
              </a:rPr>
              <a:t>Sampled production responses scored automatically, piped to Azure Monitor &amp; App Insights.</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8138160" cy="274320"/>
          </a:xfrm>
          <a:prstGeom prst="rect">
            <a:avLst/>
          </a:prstGeom>
          <a:noFill/>
          <a:ln/>
        </p:spPr>
        <p:txBody>
          <a:bodyPr wrap="square" lIns="0" tIns="0" rIns="0" bIns="0" rtlCol="0" anchor="ctr"/>
          <a:lstStyle/>
          <a:p>
            <a:pPr marL="0" indent="0">
              <a:buNone/>
            </a:pPr>
            <a:r>
              <a:rPr lang="en-US" sz="1100" b="1" kern="0" spc="300" dirty="0">
                <a:solidFill>
                  <a:srgbClr val="5A6378"/>
                </a:solidFill>
                <a:latin typeface="Calibri" pitchFamily="34" charset="0"/>
                <a:ea typeface="Calibri" pitchFamily="34" charset="-122"/>
                <a:cs typeface="Calibri" pitchFamily="34" charset="-120"/>
              </a:rPr>
              <a:t>HANDS-ON · 60 MINUTES</a:t>
            </a:r>
            <a:endParaRPr lang="en-US" sz="1100" dirty="0"/>
          </a:p>
        </p:txBody>
      </p:sp>
      <p:sp>
        <p:nvSpPr>
          <p:cNvPr id="3" name="Text 1"/>
          <p:cNvSpPr/>
          <p:nvPr/>
        </p:nvSpPr>
        <p:spPr>
          <a:xfrm>
            <a:off x="502920" y="530352"/>
            <a:ext cx="8138160" cy="68580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Lab 1 — Verify live Foundry, then evaluate: portal + SDK</a:t>
            </a:r>
            <a:endParaRPr lang="en-US" sz="3000" dirty="0"/>
          </a:p>
        </p:txBody>
      </p:sp>
      <p:sp>
        <p:nvSpPr>
          <p:cNvPr id="4" name="Shape 2"/>
          <p:cNvSpPr/>
          <p:nvPr/>
        </p:nvSpPr>
        <p:spPr>
          <a:xfrm>
            <a:off x="7955280" y="384048"/>
            <a:ext cx="566928" cy="566928"/>
          </a:xfrm>
          <a:prstGeom prst="ellipse">
            <a:avLst/>
          </a:prstGeom>
          <a:solidFill>
            <a:srgbClr val="1E2761"/>
          </a:solidFill>
          <a:ln/>
        </p:spPr>
        <p:txBody>
          <a:bodyPr/>
          <a:lstStyle/>
          <a:p>
            <a:endParaRPr lang="en-GB"/>
          </a:p>
        </p:txBody>
      </p:sp>
      <p:pic>
        <p:nvPicPr>
          <p:cNvPr id="5" name="Image 0" descr="preencoded.png"/>
          <p:cNvPicPr>
            <a:picLocks noChangeAspect="1"/>
          </p:cNvPicPr>
          <p:nvPr/>
        </p:nvPicPr>
        <p:blipFill>
          <a:blip r:embed="rId3"/>
          <a:stretch>
            <a:fillRect/>
          </a:stretch>
        </p:blipFill>
        <p:spPr>
          <a:xfrm>
            <a:off x="8102681" y="531449"/>
            <a:ext cx="272125" cy="272125"/>
          </a:xfrm>
          <a:prstGeom prst="rect">
            <a:avLst/>
          </a:prstGeom>
        </p:spPr>
      </p:pic>
      <p:sp>
        <p:nvSpPr>
          <p:cNvPr id="6" name="Text 3"/>
          <p:cNvSpPr/>
          <p:nvPr/>
        </p:nvSpPr>
        <p:spPr>
          <a:xfrm>
            <a:off x="502920" y="1371600"/>
            <a:ext cx="3931920" cy="256032"/>
          </a:xfrm>
          <a:prstGeom prst="rect">
            <a:avLst/>
          </a:prstGeom>
          <a:noFill/>
          <a:ln/>
        </p:spPr>
        <p:txBody>
          <a:bodyPr wrap="square" lIns="0" tIns="0" rIns="0" bIns="0" rtlCol="0" anchor="ctr"/>
          <a:lstStyle/>
          <a:p>
            <a:pPr marL="0" indent="0">
              <a:buNone/>
            </a:pPr>
            <a:r>
              <a:rPr lang="en-US" sz="1100" b="1" kern="0" spc="200" dirty="0">
                <a:solidFill>
                  <a:srgbClr val="5A6378"/>
                </a:solidFill>
                <a:latin typeface="Calibri" pitchFamily="34" charset="0"/>
                <a:ea typeface="Calibri" pitchFamily="34" charset="-122"/>
                <a:cs typeface="Calibri" pitchFamily="34" charset="-120"/>
              </a:rPr>
              <a:t>PART A — LIVE SMOKE + PORTAL (25 MIN)</a:t>
            </a:r>
            <a:endParaRPr lang="en-US" sz="1100" dirty="0"/>
          </a:p>
        </p:txBody>
      </p:sp>
      <p:sp>
        <p:nvSpPr>
          <p:cNvPr id="7" name="Text 4"/>
          <p:cNvSpPr/>
          <p:nvPr/>
        </p:nvSpPr>
        <p:spPr>
          <a:xfrm>
            <a:off x="548640" y="1691640"/>
            <a:ext cx="3977640" cy="1920240"/>
          </a:xfrm>
          <a:prstGeom prst="rect">
            <a:avLst/>
          </a:prstGeom>
          <a:noFill/>
          <a:ln/>
        </p:spPr>
        <p:txBody>
          <a:bodyPr wrap="square" rtlCol="0" anchor="ctr"/>
          <a:lstStyle/>
          <a:p>
            <a:pPr marL="342900" indent="-342900">
              <a:spcAft>
                <a:spcPts val="500"/>
              </a:spcAft>
              <a:buSzPct val="100000"/>
              <a:buFont typeface="+mj-lt"/>
              <a:buAutoNum type="arabicPeriod"/>
            </a:pPr>
            <a:r>
              <a:rPr lang="en-US" sz="1200" dirty="0">
                <a:solidFill>
                  <a:srgbClr val="20263F"/>
                </a:solidFill>
                <a:latin typeface="Calibri" pitchFamily="34" charset="0"/>
                <a:ea typeface="Calibri" pitchFamily="34" charset="-122"/>
                <a:cs typeface="Calibri" pitchFamily="34" charset="-120"/>
              </a:rPr>
              <a:t>check_setup.py → every line [OK]</a:t>
            </a:r>
            <a:endParaRPr lang="en-US" sz="1200" dirty="0"/>
          </a:p>
          <a:p>
            <a:pPr marL="342900" indent="-342900">
              <a:spcAft>
                <a:spcPts val="500"/>
              </a:spcAft>
              <a:buSzPct val="100000"/>
              <a:buFont typeface="+mj-lt"/>
              <a:buAutoNum type="arabicPeriod"/>
            </a:pPr>
            <a:r>
              <a:rPr lang="en-US" sz="1200" dirty="0">
                <a:solidFill>
                  <a:srgbClr val="20263F"/>
                </a:solidFill>
                <a:latin typeface="Calibri" pitchFamily="34" charset="0"/>
                <a:ea typeface="Calibri" pitchFamily="34" charset="-122"/>
                <a:cs typeface="Calibri" pitchFamily="34" charset="-120"/>
              </a:rPr>
              <a:t>create_agent.py → real Foundry agent version</a:t>
            </a:r>
          </a:p>
          <a:p>
            <a:pPr marL="342900" indent="-342900">
              <a:spcAft>
                <a:spcPts val="500"/>
              </a:spcAft>
              <a:buSzPct val="100000"/>
              <a:buFont typeface="+mj-lt"/>
              <a:buAutoNum type="arabicPeriod"/>
            </a:pPr>
            <a:r>
              <a:rPr lang="en-US" sz="1200" dirty="0">
                <a:solidFill>
                  <a:srgbClr val="20263F"/>
                </a:solidFill>
                <a:latin typeface="Calibri" pitchFamily="34" charset="0"/>
                <a:ea typeface="Calibri" pitchFamily="34" charset="-122"/>
                <a:cs typeface="Calibri" pitchFamily="34" charset="-120"/>
              </a:rPr>
              <a:t>run_agent.py --query ‘Weather in Truro?’ → tool call + result + grounded answer</a:t>
            </a:r>
          </a:p>
          <a:p>
            <a:pPr marL="342900" indent="-342900">
              <a:spcAft>
                <a:spcPts val="500"/>
              </a:spcAft>
              <a:buSzPct val="100000"/>
              <a:buFont typeface="+mj-lt"/>
              <a:buAutoNum type="arabicPeriod"/>
            </a:pPr>
            <a:r>
              <a:rPr lang="en-US" sz="1200" dirty="0">
                <a:solidFill>
                  <a:srgbClr val="20263F"/>
                </a:solidFill>
                <a:latin typeface="Calibri" pitchFamily="34" charset="0"/>
                <a:ea typeface="Calibri" pitchFamily="34" charset="-122"/>
                <a:cs typeface="Calibri" pitchFamily="34" charset="-120"/>
              </a:rPr>
              <a:t>Portal: submit, then read one FAIL reasoning aloud</a:t>
            </a:r>
          </a:p>
        </p:txBody>
      </p:sp>
      <p:sp>
        <p:nvSpPr>
          <p:cNvPr id="8" name="Text 5"/>
          <p:cNvSpPr/>
          <p:nvPr/>
        </p:nvSpPr>
        <p:spPr>
          <a:xfrm>
            <a:off x="502920" y="3703320"/>
            <a:ext cx="3931920" cy="256032"/>
          </a:xfrm>
          <a:prstGeom prst="rect">
            <a:avLst/>
          </a:prstGeom>
          <a:noFill/>
          <a:ln/>
        </p:spPr>
        <p:txBody>
          <a:bodyPr wrap="square" lIns="0" tIns="0" rIns="0" bIns="0" rtlCol="0" anchor="ctr"/>
          <a:lstStyle/>
          <a:p>
            <a:pPr marL="0" indent="0">
              <a:buNone/>
            </a:pPr>
            <a:r>
              <a:rPr lang="en-US" sz="1100" b="1" kern="0" spc="200" dirty="0">
                <a:solidFill>
                  <a:srgbClr val="5A6378"/>
                </a:solidFill>
                <a:latin typeface="Calibri" pitchFamily="34" charset="0"/>
                <a:ea typeface="Calibri" pitchFamily="34" charset="-122"/>
                <a:cs typeface="Calibri" pitchFamily="34" charset="-120"/>
              </a:rPr>
              <a:t>PART B — SDK + ARTIFACTS (25 MIN)</a:t>
            </a:r>
            <a:endParaRPr lang="en-US" sz="1100" dirty="0"/>
          </a:p>
        </p:txBody>
      </p:sp>
      <p:sp>
        <p:nvSpPr>
          <p:cNvPr id="9" name="Text 6"/>
          <p:cNvSpPr/>
          <p:nvPr/>
        </p:nvSpPr>
        <p:spPr>
          <a:xfrm>
            <a:off x="548640" y="4005072"/>
            <a:ext cx="3977640" cy="868680"/>
          </a:xfrm>
          <a:prstGeom prst="rect">
            <a:avLst/>
          </a:prstGeom>
          <a:noFill/>
          <a:ln/>
        </p:spPr>
        <p:txBody>
          <a:bodyPr wrap="square" lIns="0" tIns="0" rIns="0" bIns="0" rtlCol="0" anchor="ctr"/>
          <a:lstStyle/>
          <a:p>
            <a:pPr marL="0" indent="0">
              <a:buNone/>
            </a:pPr>
            <a:r>
              <a:rPr lang="en-US" sz="1200" dirty="0">
                <a:solidFill>
                  <a:srgbClr val="20263F"/>
                </a:solidFill>
                <a:latin typeface="Calibri" pitchFamily="34" charset="0"/>
                <a:ea typeface="Calibri" pitchFamily="34" charset="-122"/>
                <a:cs typeface="Calibri" pitchFamily="34" charset="-120"/>
              </a:rPr>
              <a:t>run_agent.py builds completed responses; run_cloud_eval.py --precomputed scores them. Export run.json · output-items.jsonl · summary.json for reproducible gates.</a:t>
            </a:r>
            <a:endParaRPr lang="en-US" sz="1200" dirty="0"/>
          </a:p>
        </p:txBody>
      </p:sp>
      <p:sp>
        <p:nvSpPr>
          <p:cNvPr id="10" name="Shape 7"/>
          <p:cNvSpPr/>
          <p:nvPr/>
        </p:nvSpPr>
        <p:spPr>
          <a:xfrm>
            <a:off x="4800600" y="1417320"/>
            <a:ext cx="3840480" cy="3429000"/>
          </a:xfrm>
          <a:prstGeom prst="roundRect">
            <a:avLst>
              <a:gd name="adj" fmla="val 1600"/>
            </a:avLst>
          </a:prstGeom>
          <a:solidFill>
            <a:srgbClr val="1E2761"/>
          </a:solidFill>
          <a:ln/>
          <a:effectLst>
            <a:outerShdw blurRad="88900" dist="25400" dir="2700000" algn="bl" rotWithShape="0">
              <a:srgbClr val="000000">
                <a:alpha val="14000"/>
              </a:srgbClr>
            </a:outerShdw>
          </a:effectLst>
        </p:spPr>
        <p:txBody>
          <a:bodyPr/>
          <a:lstStyle/>
          <a:p>
            <a:endParaRPr lang="en-GB"/>
          </a:p>
        </p:txBody>
      </p:sp>
      <p:sp>
        <p:nvSpPr>
          <p:cNvPr id="11" name="Text 8"/>
          <p:cNvSpPr/>
          <p:nvPr/>
        </p:nvSpPr>
        <p:spPr>
          <a:xfrm>
            <a:off x="5029200" y="1600200"/>
            <a:ext cx="3383280" cy="32004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Run states, evidence &amp; first-aid</a:t>
            </a:r>
            <a:endParaRPr lang="en-US" sz="1500" dirty="0"/>
          </a:p>
        </p:txBody>
      </p:sp>
      <p:sp>
        <p:nvSpPr>
          <p:cNvPr id="12" name="Text 9"/>
          <p:cNvSpPr/>
          <p:nvPr/>
        </p:nvSpPr>
        <p:spPr>
          <a:xfrm>
            <a:off x="5029200" y="2011680"/>
            <a:ext cx="3383280" cy="2103120"/>
          </a:xfrm>
          <a:prstGeom prst="rect">
            <a:avLst/>
          </a:prstGeom>
          <a:noFill/>
          <a:ln/>
        </p:spPr>
        <p:txBody>
          <a:bodyPr wrap="square" rtlCol="0" anchor="ctr"/>
          <a:lstStyle/>
          <a:p>
            <a:pPr marL="0" indent="0">
              <a:spcAft>
                <a:spcPts val="800"/>
              </a:spcAft>
              <a:buNone/>
            </a:pPr>
            <a:r>
              <a:rPr lang="en-US" sz="1200" b="1" dirty="0">
                <a:solidFill>
                  <a:srgbClr val="7DE3C3"/>
                </a:solidFill>
                <a:latin typeface="Calibri" pitchFamily="34" charset="0"/>
                <a:ea typeface="Calibri" pitchFamily="34" charset="-122"/>
                <a:cs typeface="Calibri" pitchFamily="34" charset="-120"/>
              </a:rPr>
              <a:t>Completed — inspect reasoning + artifacts</a:t>
            </a:r>
            <a:endParaRPr lang="en-US" sz="1200" dirty="0"/>
          </a:p>
          <a:p>
            <a:pPr marL="0" indent="0">
              <a:spcAft>
                <a:spcPts val="800"/>
              </a:spcAft>
              <a:buNone/>
            </a:pPr>
            <a:r>
              <a:rPr lang="en-US" sz="1200" b="1" dirty="0">
                <a:solidFill>
                  <a:srgbClr val="7DE3C3"/>
                </a:solidFill>
                <a:latin typeface="Calibri" pitchFamily="34" charset="0"/>
                <a:ea typeface="Calibri" pitchFamily="34" charset="-122"/>
                <a:cs typeface="Calibri" pitchFamily="34" charset="-120"/>
              </a:rPr>
              <a:t>Partial / failed / canceled — never gateable</a:t>
            </a:r>
          </a:p>
          <a:p>
            <a:pPr marL="0" indent="0">
              <a:spcAft>
                <a:spcPts val="800"/>
              </a:spcAft>
              <a:buNone/>
            </a:pPr>
            <a:r>
              <a:rPr lang="en-US" sz="1200" b="1" dirty="0">
                <a:solidFill>
                  <a:srgbClr val="7DE3C3"/>
                </a:solidFill>
                <a:latin typeface="Calibri" pitchFamily="34" charset="0"/>
                <a:ea typeface="Calibri" pitchFamily="34" charset="-122"/>
                <a:cs typeface="Calibri" pitchFamily="34" charset="-120"/>
              </a:rPr>
              <a:t>429 — honour retry-after; bounded backoff</a:t>
            </a:r>
          </a:p>
          <a:p>
            <a:pPr marL="0" indent="0">
              <a:spcAft>
                <a:spcPts val="800"/>
              </a:spcAft>
              <a:buNone/>
            </a:pPr>
            <a:r>
              <a:rPr lang="en-US" sz="1200" b="1" dirty="0">
                <a:solidFill>
                  <a:srgbClr val="7DE3C3"/>
                </a:solidFill>
                <a:latin typeface="Calibri" pitchFamily="34" charset="0"/>
                <a:ea typeface="Calibri" pitchFamily="34" charset="-122"/>
                <a:cs typeface="Calibri" pitchFamily="34" charset="-120"/>
              </a:rPr>
              <a:t>Artifacts — capture run, dataset, judge + criteria provenance</a:t>
            </a:r>
          </a:p>
        </p:txBody>
      </p:sp>
      <p:sp>
        <p:nvSpPr>
          <p:cNvPr id="13" name="Text 10"/>
          <p:cNvSpPr/>
          <p:nvPr/>
        </p:nvSpPr>
        <p:spPr>
          <a:xfrm>
            <a:off x="5029200" y="4297680"/>
            <a:ext cx="3383280" cy="457200"/>
          </a:xfrm>
          <a:prstGeom prst="rect">
            <a:avLst/>
          </a:prstGeom>
          <a:noFill/>
          <a:ln/>
        </p:spPr>
        <p:txBody>
          <a:bodyPr wrap="square" lIns="0" tIns="0" rIns="0" bIns="0" rtlCol="0" anchor="ctr"/>
          <a:lstStyle/>
          <a:p>
            <a:pPr marL="0" indent="0">
              <a:buNone/>
            </a:pPr>
            <a:r>
              <a:rPr lang="en-US" sz="1000" i="1" dirty="0">
                <a:solidFill>
                  <a:srgbClr val="8FA3D9"/>
                </a:solidFill>
                <a:latin typeface="Calibri" pitchFamily="34" charset="0"/>
                <a:ea typeface="Calibri" pitchFamily="34" charset="-122"/>
                <a:cs typeface="Calibri" pitchFamily="34" charset="-120"/>
              </a:rPr>
              <a:t>Auth check: az login · Foundry User role · endpoint includes account AND project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8138160" cy="274320"/>
          </a:xfrm>
          <a:prstGeom prst="rect">
            <a:avLst/>
          </a:prstGeom>
          <a:noFill/>
          <a:ln/>
        </p:spPr>
        <p:txBody>
          <a:bodyPr wrap="square" lIns="0" tIns="0" rIns="0" bIns="0" rtlCol="0" anchor="ctr"/>
          <a:lstStyle/>
          <a:p>
            <a:pPr marL="0" indent="0">
              <a:buNone/>
            </a:pPr>
            <a:r>
              <a:rPr lang="en-US" sz="1100" b="1" kern="0" spc="300" dirty="0">
                <a:solidFill>
                  <a:srgbClr val="5A6378"/>
                </a:solidFill>
                <a:latin typeface="Calibri" pitchFamily="34" charset="0"/>
                <a:ea typeface="Calibri" pitchFamily="34" charset="-122"/>
                <a:cs typeface="Calibri" pitchFamily="34" charset="-120"/>
              </a:rPr>
              <a:t>LAB 1 · KEY CONCEPT</a:t>
            </a:r>
            <a:endParaRPr lang="en-US" sz="1100" dirty="0"/>
          </a:p>
        </p:txBody>
      </p:sp>
      <p:sp>
        <p:nvSpPr>
          <p:cNvPr id="3" name="Text 1"/>
          <p:cNvSpPr/>
          <p:nvPr/>
        </p:nvSpPr>
        <p:spPr>
          <a:xfrm>
            <a:off x="502920" y="530352"/>
            <a:ext cx="8138160" cy="68580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Data mappings: the one syntax to memorise</a:t>
            </a:r>
            <a:endParaRPr lang="en-US" sz="3000" dirty="0"/>
          </a:p>
        </p:txBody>
      </p:sp>
      <p:sp>
        <p:nvSpPr>
          <p:cNvPr id="4" name="Shape 2"/>
          <p:cNvSpPr/>
          <p:nvPr/>
        </p:nvSpPr>
        <p:spPr>
          <a:xfrm>
            <a:off x="502920" y="1463040"/>
            <a:ext cx="8138160" cy="2057400"/>
          </a:xfrm>
          <a:prstGeom prst="roundRect">
            <a:avLst>
              <a:gd name="adj" fmla="val 2667"/>
            </a:avLst>
          </a:prstGeom>
          <a:solidFill>
            <a:srgbClr val="171C36"/>
          </a:solidFill>
          <a:ln/>
          <a:effectLst>
            <a:outerShdw blurRad="88900" dist="25400" dir="2700000" algn="bl" rotWithShape="0">
              <a:srgbClr val="000000">
                <a:alpha val="14000"/>
              </a:srgbClr>
            </a:outerShdw>
          </a:effectLst>
        </p:spPr>
        <p:txBody>
          <a:bodyPr/>
          <a:lstStyle/>
          <a:p>
            <a:endParaRPr lang="en-GB"/>
          </a:p>
        </p:txBody>
      </p:sp>
      <p:sp>
        <p:nvSpPr>
          <p:cNvPr id="5" name="Text 3"/>
          <p:cNvSpPr/>
          <p:nvPr/>
        </p:nvSpPr>
        <p:spPr>
          <a:xfrm>
            <a:off x="777240" y="1645920"/>
            <a:ext cx="7589520" cy="1691640"/>
          </a:xfrm>
          <a:prstGeom prst="rect">
            <a:avLst/>
          </a:prstGeom>
          <a:noFill/>
          <a:ln/>
        </p:spPr>
        <p:txBody>
          <a:bodyPr wrap="square" rtlCol="0" anchor="ctr"/>
          <a:lstStyle/>
          <a:p>
            <a:pPr marL="0" indent="0">
              <a:buNone/>
            </a:pPr>
            <a:r>
              <a:rPr lang="en-US" sz="1500" dirty="0">
                <a:solidFill>
                  <a:srgbClr val="CADCFC"/>
                </a:solidFill>
                <a:latin typeface="Courier New" pitchFamily="34" charset="0"/>
                <a:ea typeface="Courier New" pitchFamily="34" charset="-122"/>
                <a:cs typeface="Courier New" pitchFamily="34" charset="-120"/>
              </a:rPr>
              <a:t>"data_mapping": {</a:t>
            </a:r>
            <a:endParaRPr lang="en-US" sz="1500" dirty="0"/>
          </a:p>
          <a:p>
            <a:pPr marL="0" indent="0">
              <a:buNone/>
            </a:pPr>
            <a:r>
              <a:rPr lang="en-US" sz="1500" dirty="0">
                <a:solidFill>
                  <a:srgbClr val="9EF0D2"/>
                </a:solidFill>
                <a:latin typeface="Courier New" pitchFamily="34" charset="0"/>
                <a:ea typeface="Courier New" pitchFamily="34" charset="-122"/>
                <a:cs typeface="Courier New" pitchFamily="34" charset="-120"/>
              </a:rPr>
              <a:t>    "query":    "{{item.query}}",</a:t>
            </a:r>
            <a:endParaRPr lang="en-US" sz="1500" dirty="0"/>
          </a:p>
          <a:p>
            <a:pPr marL="0" indent="0">
              <a:buNone/>
            </a:pPr>
            <a:r>
              <a:rPr lang="en-US" sz="1500" dirty="0">
                <a:solidFill>
                  <a:srgbClr val="9EF0D2"/>
                </a:solidFill>
                <a:latin typeface="Courier New" pitchFamily="34" charset="0"/>
                <a:ea typeface="Courier New" pitchFamily="34" charset="-122"/>
                <a:cs typeface="Courier New" pitchFamily="34" charset="-120"/>
              </a:rPr>
              <a:t>    "response": "{{sample.output_text}}"</a:t>
            </a:r>
            <a:endParaRPr lang="en-US" sz="1500" dirty="0"/>
          </a:p>
          <a:p>
            <a:pPr marL="0" indent="0">
              <a:buNone/>
            </a:pPr>
            <a:r>
              <a:rPr lang="en-US" sz="1500" dirty="0">
                <a:solidFill>
                  <a:srgbClr val="CADCFC"/>
                </a:solidFill>
                <a:latin typeface="Courier New" pitchFamily="34" charset="0"/>
                <a:ea typeface="Courier New" pitchFamily="34" charset="-122"/>
                <a:cs typeface="Courier New" pitchFamily="34" charset="-120"/>
              </a:rPr>
              <a:t>}</a:t>
            </a:r>
            <a:endParaRPr lang="en-US" sz="1500" dirty="0"/>
          </a:p>
        </p:txBody>
      </p:sp>
      <p:sp>
        <p:nvSpPr>
          <p:cNvPr id="6" name="Text 4"/>
          <p:cNvSpPr/>
          <p:nvPr/>
        </p:nvSpPr>
        <p:spPr>
          <a:xfrm>
            <a:off x="548640" y="3703320"/>
            <a:ext cx="2651760" cy="365760"/>
          </a:xfrm>
          <a:prstGeom prst="rect">
            <a:avLst/>
          </a:prstGeom>
          <a:noFill/>
          <a:ln/>
        </p:spPr>
        <p:txBody>
          <a:bodyPr wrap="square" lIns="0" tIns="0" rIns="0" bIns="0" rtlCol="0" anchor="ctr"/>
          <a:lstStyle/>
          <a:p>
            <a:pPr marL="0" indent="0">
              <a:buNone/>
            </a:pPr>
            <a:r>
              <a:rPr lang="en-US" sz="1200" b="1" dirty="0">
                <a:solidFill>
                  <a:srgbClr val="1E2761"/>
                </a:solidFill>
                <a:latin typeface="Courier New" pitchFamily="34" charset="0"/>
                <a:ea typeface="Courier New" pitchFamily="34" charset="-122"/>
                <a:cs typeface="Courier New" pitchFamily="34" charset="-120"/>
              </a:rPr>
              <a:t>{{item.X}}</a:t>
            </a:r>
            <a:endParaRPr lang="en-US" sz="1200" dirty="0"/>
          </a:p>
        </p:txBody>
      </p:sp>
      <p:sp>
        <p:nvSpPr>
          <p:cNvPr id="7" name="Text 5"/>
          <p:cNvSpPr/>
          <p:nvPr/>
        </p:nvSpPr>
        <p:spPr>
          <a:xfrm>
            <a:off x="3291840" y="3703320"/>
            <a:ext cx="5349240" cy="365760"/>
          </a:xfrm>
          <a:prstGeom prst="rect">
            <a:avLst/>
          </a:prstGeom>
          <a:noFill/>
          <a:ln/>
        </p:spPr>
        <p:txBody>
          <a:bodyPr wrap="square" lIns="0" tIns="0" rIns="0" bIns="0" rtlCol="0" anchor="ctr"/>
          <a:lstStyle/>
          <a:p>
            <a:pPr marL="0" indent="0">
              <a:buNone/>
            </a:pPr>
            <a:r>
              <a:rPr lang="en-US" sz="1200" dirty="0">
                <a:solidFill>
                  <a:srgbClr val="20263F"/>
                </a:solidFill>
                <a:latin typeface="Calibri" pitchFamily="34" charset="0"/>
                <a:ea typeface="Calibri" pitchFamily="34" charset="-122"/>
                <a:cs typeface="Calibri" pitchFamily="34" charset="-120"/>
              </a:rPr>
              <a:t>A field from your test data — e.g. {{item.query}}, {{item.ground_truth}}</a:t>
            </a:r>
            <a:endParaRPr lang="en-US" sz="1200" dirty="0"/>
          </a:p>
        </p:txBody>
      </p:sp>
      <p:sp>
        <p:nvSpPr>
          <p:cNvPr id="8" name="Text 6"/>
          <p:cNvSpPr/>
          <p:nvPr/>
        </p:nvSpPr>
        <p:spPr>
          <a:xfrm>
            <a:off x="548640" y="4114800"/>
            <a:ext cx="2651760" cy="365760"/>
          </a:xfrm>
          <a:prstGeom prst="rect">
            <a:avLst/>
          </a:prstGeom>
          <a:noFill/>
          <a:ln/>
        </p:spPr>
        <p:txBody>
          <a:bodyPr wrap="square" lIns="0" tIns="0" rIns="0" bIns="0" rtlCol="0" anchor="ctr"/>
          <a:lstStyle/>
          <a:p>
            <a:pPr marL="0" indent="0">
              <a:buNone/>
            </a:pPr>
            <a:r>
              <a:rPr lang="en-US" sz="1200" b="1" dirty="0">
                <a:solidFill>
                  <a:srgbClr val="1E2761"/>
                </a:solidFill>
                <a:latin typeface="Courier New" pitchFamily="34" charset="0"/>
                <a:ea typeface="Courier New" pitchFamily="34" charset="-122"/>
                <a:cs typeface="Courier New" pitchFamily="34" charset="-120"/>
              </a:rPr>
              <a:t>{{sample.output_text}}</a:t>
            </a:r>
            <a:endParaRPr lang="en-US" sz="1200" dirty="0"/>
          </a:p>
        </p:txBody>
      </p:sp>
      <p:sp>
        <p:nvSpPr>
          <p:cNvPr id="9" name="Text 7"/>
          <p:cNvSpPr/>
          <p:nvPr/>
        </p:nvSpPr>
        <p:spPr>
          <a:xfrm>
            <a:off x="3291840" y="4114800"/>
            <a:ext cx="5349240" cy="365760"/>
          </a:xfrm>
          <a:prstGeom prst="rect">
            <a:avLst/>
          </a:prstGeom>
          <a:noFill/>
          <a:ln/>
        </p:spPr>
        <p:txBody>
          <a:bodyPr wrap="square" lIns="0" tIns="0" rIns="0" bIns="0" rtlCol="0" anchor="ctr"/>
          <a:lstStyle/>
          <a:p>
            <a:pPr marL="0" indent="0">
              <a:buNone/>
            </a:pPr>
            <a:r>
              <a:rPr lang="en-US" sz="1200" dirty="0">
                <a:solidFill>
                  <a:srgbClr val="20263F"/>
                </a:solidFill>
                <a:latin typeface="Calibri" pitchFamily="34" charset="0"/>
                <a:ea typeface="Calibri" pitchFamily="34" charset="-122"/>
                <a:cs typeface="Calibri" pitchFamily="34" charset="-120"/>
              </a:rPr>
              <a:t>Just the response message text — right for Task Adherence, Fluency</a:t>
            </a:r>
            <a:endParaRPr lang="en-US" sz="1200" dirty="0"/>
          </a:p>
        </p:txBody>
      </p:sp>
      <p:sp>
        <p:nvSpPr>
          <p:cNvPr id="10" name="Text 8"/>
          <p:cNvSpPr/>
          <p:nvPr/>
        </p:nvSpPr>
        <p:spPr>
          <a:xfrm>
            <a:off x="548640" y="4526280"/>
            <a:ext cx="2651760" cy="365760"/>
          </a:xfrm>
          <a:prstGeom prst="rect">
            <a:avLst/>
          </a:prstGeom>
          <a:noFill/>
          <a:ln/>
        </p:spPr>
        <p:txBody>
          <a:bodyPr wrap="square" lIns="0" tIns="0" rIns="0" bIns="0" rtlCol="0" anchor="ctr"/>
          <a:lstStyle/>
          <a:p>
            <a:pPr marL="0" indent="0">
              <a:buNone/>
            </a:pPr>
            <a:r>
              <a:rPr lang="en-US" sz="1200" b="1" dirty="0">
                <a:solidFill>
                  <a:srgbClr val="1E2761"/>
                </a:solidFill>
                <a:latin typeface="Courier New" pitchFamily="34" charset="0"/>
                <a:ea typeface="Courier New" pitchFamily="34" charset="-122"/>
                <a:cs typeface="Courier New" pitchFamily="34" charset="-120"/>
              </a:rPr>
              <a:t>{{sample.output_messages}}</a:t>
            </a:r>
            <a:endParaRPr lang="en-US" sz="1200" dirty="0"/>
          </a:p>
        </p:txBody>
      </p:sp>
      <p:sp>
        <p:nvSpPr>
          <p:cNvPr id="11" name="Text 9"/>
          <p:cNvSpPr/>
          <p:nvPr/>
        </p:nvSpPr>
        <p:spPr>
          <a:xfrm>
            <a:off x="3291840" y="4526280"/>
            <a:ext cx="5349240" cy="365760"/>
          </a:xfrm>
          <a:prstGeom prst="rect">
            <a:avLst/>
          </a:prstGeom>
          <a:noFill/>
          <a:ln/>
        </p:spPr>
        <p:txBody>
          <a:bodyPr wrap="square" lIns="0" tIns="0" rIns="0" bIns="0" rtlCol="0" anchor="ctr"/>
          <a:lstStyle/>
          <a:p>
            <a:pPr marL="0" indent="0">
              <a:buNone/>
            </a:pPr>
            <a:r>
              <a:rPr lang="en-US" sz="1200" dirty="0">
                <a:solidFill>
                  <a:srgbClr val="20263F"/>
                </a:solidFill>
                <a:latin typeface="Calibri" pitchFamily="34" charset="0"/>
                <a:ea typeface="Calibri" pitchFamily="34" charset="-122"/>
                <a:cs typeface="Calibri" pitchFamily="34" charset="-120"/>
              </a:rPr>
              <a:t>Role-bearing conversation with tool calls + results — use for agent/process evaluators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8138160" cy="274320"/>
          </a:xfrm>
          <a:prstGeom prst="rect">
            <a:avLst/>
          </a:prstGeom>
          <a:noFill/>
          <a:ln/>
        </p:spPr>
        <p:txBody>
          <a:bodyPr wrap="square" lIns="0" tIns="0" rIns="0" bIns="0" rtlCol="0" anchor="ctr"/>
          <a:lstStyle/>
          <a:p>
            <a:pPr marL="0" indent="0">
              <a:buNone/>
            </a:pPr>
            <a:r>
              <a:rPr lang="en-US" sz="1100" b="1" kern="0" spc="300" dirty="0">
                <a:solidFill>
                  <a:srgbClr val="5A6378"/>
                </a:solidFill>
                <a:latin typeface="Calibri" pitchFamily="34" charset="0"/>
                <a:ea typeface="Calibri" pitchFamily="34" charset="-122"/>
                <a:cs typeface="Calibri" pitchFamily="34" charset="-120"/>
              </a:rPr>
              <a:t>HANDS-ON · 45 MINUTES</a:t>
            </a:r>
            <a:endParaRPr lang="en-US" sz="1100" dirty="0"/>
          </a:p>
        </p:txBody>
      </p:sp>
      <p:sp>
        <p:nvSpPr>
          <p:cNvPr id="3" name="Text 1"/>
          <p:cNvSpPr/>
          <p:nvPr/>
        </p:nvSpPr>
        <p:spPr>
          <a:xfrm>
            <a:off x="502920" y="530352"/>
            <a:ext cx="8138160" cy="68580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Lab 2 — Execute the agent, check contracts, then extend</a:t>
            </a:r>
            <a:endParaRPr lang="en-US" sz="3000" dirty="0"/>
          </a:p>
        </p:txBody>
      </p:sp>
      <p:sp>
        <p:nvSpPr>
          <p:cNvPr id="4" name="Shape 2"/>
          <p:cNvSpPr/>
          <p:nvPr/>
        </p:nvSpPr>
        <p:spPr>
          <a:xfrm>
            <a:off x="7955280" y="384048"/>
            <a:ext cx="566928" cy="566928"/>
          </a:xfrm>
          <a:prstGeom prst="ellipse">
            <a:avLst/>
          </a:prstGeom>
          <a:solidFill>
            <a:srgbClr val="1E2761"/>
          </a:solidFill>
          <a:ln/>
        </p:spPr>
        <p:txBody>
          <a:bodyPr/>
          <a:lstStyle/>
          <a:p>
            <a:endParaRPr lang="en-GB"/>
          </a:p>
        </p:txBody>
      </p:sp>
      <p:pic>
        <p:nvPicPr>
          <p:cNvPr id="5" name="Image 0" descr="preencoded.png"/>
          <p:cNvPicPr>
            <a:picLocks noChangeAspect="1"/>
          </p:cNvPicPr>
          <p:nvPr/>
        </p:nvPicPr>
        <p:blipFill>
          <a:blip r:embed="rId3"/>
          <a:stretch>
            <a:fillRect/>
          </a:stretch>
        </p:blipFill>
        <p:spPr>
          <a:xfrm>
            <a:off x="8102681" y="531449"/>
            <a:ext cx="272125" cy="272125"/>
          </a:xfrm>
          <a:prstGeom prst="rect">
            <a:avLst/>
          </a:prstGeom>
        </p:spPr>
      </p:pic>
      <p:sp>
        <p:nvSpPr>
          <p:cNvPr id="6" name="Shape 3"/>
          <p:cNvSpPr/>
          <p:nvPr/>
        </p:nvSpPr>
        <p:spPr>
          <a:xfrm>
            <a:off x="502920" y="1463040"/>
            <a:ext cx="2651760" cy="2926080"/>
          </a:xfrm>
          <a:prstGeom prst="roundRect">
            <a:avLst>
              <a:gd name="adj" fmla="val 2069"/>
            </a:avLst>
          </a:prstGeom>
          <a:solidFill>
            <a:srgbClr val="1E2761"/>
          </a:solidFill>
          <a:ln/>
          <a:effectLst>
            <a:outerShdw blurRad="88900" dist="25400" dir="2700000" algn="bl" rotWithShape="0">
              <a:srgbClr val="000000">
                <a:alpha val="14000"/>
              </a:srgbClr>
            </a:outerShdw>
          </a:effectLst>
        </p:spPr>
        <p:txBody>
          <a:bodyPr/>
          <a:lstStyle/>
          <a:p>
            <a:endParaRPr lang="en-GB"/>
          </a:p>
        </p:txBody>
      </p:sp>
      <p:sp>
        <p:nvSpPr>
          <p:cNvPr id="7" name="Text 4"/>
          <p:cNvSpPr/>
          <p:nvPr/>
        </p:nvSpPr>
        <p:spPr>
          <a:xfrm>
            <a:off x="667512" y="1627632"/>
            <a:ext cx="2322576" cy="68580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A — Live agent + contracts (20')</a:t>
            </a:r>
            <a:endParaRPr lang="en-US" sz="1300" dirty="0"/>
          </a:p>
        </p:txBody>
      </p:sp>
      <p:sp>
        <p:nvSpPr>
          <p:cNvPr id="8" name="Text 5"/>
          <p:cNvSpPr/>
          <p:nvPr/>
        </p:nvSpPr>
        <p:spPr>
          <a:xfrm>
            <a:off x="667512" y="2359152"/>
            <a:ext cx="2322576" cy="1874520"/>
          </a:xfrm>
          <a:prstGeom prst="rect">
            <a:avLst/>
          </a:prstGeom>
          <a:noFill/>
          <a:ln/>
        </p:spPr>
        <p:txBody>
          <a:bodyPr wrap="square" lIns="0" tIns="0" rIns="0" bIns="0" rtlCol="0" anchor="ctr"/>
          <a:lstStyle/>
          <a:p>
            <a:pPr marL="0" indent="0">
              <a:buNone/>
            </a:pPr>
            <a:r>
              <a:rPr lang="en-US" sz="1050" dirty="0">
                <a:solidFill>
                  <a:srgbClr val="CADCFC"/>
                </a:solidFill>
                <a:latin typeface="Calibri" pitchFamily="34" charset="0"/>
                <a:ea typeface="Calibri" pitchFamily="34" charset="-122"/>
                <a:cs typeface="Calibri" pitchFamily="34" charset="-120"/>
              </a:rPr>
              <a:t>run_agent.py executes the deployed agent and local tool loop. check_contracts.py hard-checks tool names, JSON arguments, required fields, types, and explicit no-tool cases before cloud scoring.</a:t>
            </a:r>
            <a:endParaRPr lang="en-US" sz="1050" dirty="0"/>
          </a:p>
        </p:txBody>
      </p:sp>
      <p:sp>
        <p:nvSpPr>
          <p:cNvPr id="9" name="Shape 6"/>
          <p:cNvSpPr/>
          <p:nvPr/>
        </p:nvSpPr>
        <p:spPr>
          <a:xfrm>
            <a:off x="3383280" y="1463040"/>
            <a:ext cx="2651760" cy="2926080"/>
          </a:xfrm>
          <a:prstGeom prst="roundRect">
            <a:avLst>
              <a:gd name="adj" fmla="val 2069"/>
            </a:avLst>
          </a:prstGeom>
          <a:solidFill>
            <a:srgbClr val="EEF4FE"/>
          </a:solidFill>
          <a:ln/>
          <a:effectLst>
            <a:outerShdw blurRad="88900" dist="25400" dir="2700000" algn="bl" rotWithShape="0">
              <a:srgbClr val="000000">
                <a:alpha val="14000"/>
              </a:srgbClr>
            </a:outerShdw>
          </a:effectLst>
        </p:spPr>
        <p:txBody>
          <a:bodyPr/>
          <a:lstStyle/>
          <a:p>
            <a:endParaRPr lang="en-GB"/>
          </a:p>
        </p:txBody>
      </p:sp>
      <p:sp>
        <p:nvSpPr>
          <p:cNvPr id="10" name="Text 7"/>
          <p:cNvSpPr/>
          <p:nvPr/>
        </p:nvSpPr>
        <p:spPr>
          <a:xfrm>
            <a:off x="3547872" y="1627632"/>
            <a:ext cx="2322576" cy="68580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B — Cloud + custom evaluators (15')</a:t>
            </a:r>
            <a:endParaRPr lang="en-US" sz="1300" dirty="0"/>
          </a:p>
        </p:txBody>
      </p:sp>
      <p:sp>
        <p:nvSpPr>
          <p:cNvPr id="11" name="Text 8"/>
          <p:cNvSpPr/>
          <p:nvPr/>
        </p:nvSpPr>
        <p:spPr>
          <a:xfrm>
            <a:off x="3547872" y="2359152"/>
            <a:ext cx="2322576" cy="1874520"/>
          </a:xfrm>
          <a:prstGeom prst="rect">
            <a:avLst/>
          </a:prstGeom>
          <a:noFill/>
          <a:ln/>
        </p:spPr>
        <p:txBody>
          <a:bodyPr wrap="square" lIns="0" tIns="0" rIns="0" bIns="0" rtlCol="0" anchor="ctr"/>
          <a:lstStyle/>
          <a:p>
            <a:pPr marL="0" indent="0">
              <a:buNone/>
            </a:pPr>
            <a:r>
              <a:rPr lang="en-US" sz="1050" dirty="0">
                <a:solidFill>
                  <a:srgbClr val="20263F"/>
                </a:solidFill>
                <a:latin typeface="Calibri" pitchFamily="34" charset="0"/>
                <a:ea typeface="Calibri" pitchFamily="34" charset="-122"/>
                <a:cs typeface="Calibri" pitchFamily="34" charset="-120"/>
              </a:rPr>
              <a:t>Score precomputed output_messages with Intent Resolution + Tool Call Accuracy + Task Adherence + Violence. Then add prompt- or code-based catalog evaluators.</a:t>
            </a:r>
            <a:endParaRPr lang="en-US" sz="1050" dirty="0"/>
          </a:p>
        </p:txBody>
      </p:sp>
      <p:sp>
        <p:nvSpPr>
          <p:cNvPr id="12" name="Shape 9"/>
          <p:cNvSpPr/>
          <p:nvPr/>
        </p:nvSpPr>
        <p:spPr>
          <a:xfrm>
            <a:off x="6263640" y="1463040"/>
            <a:ext cx="2651760" cy="2926080"/>
          </a:xfrm>
          <a:prstGeom prst="roundRect">
            <a:avLst>
              <a:gd name="adj" fmla="val 2069"/>
            </a:avLst>
          </a:prstGeom>
          <a:solidFill>
            <a:srgbClr val="EEF4FE"/>
          </a:solidFill>
          <a:ln/>
          <a:effectLst>
            <a:outerShdw blurRad="88900" dist="25400" dir="2700000" algn="bl" rotWithShape="0">
              <a:srgbClr val="000000">
                <a:alpha val="14000"/>
              </a:srgbClr>
            </a:outerShdw>
          </a:effectLst>
        </p:spPr>
        <p:txBody>
          <a:bodyPr/>
          <a:lstStyle/>
          <a:p>
            <a:endParaRPr lang="en-GB"/>
          </a:p>
        </p:txBody>
      </p:sp>
      <p:sp>
        <p:nvSpPr>
          <p:cNvPr id="13" name="Text 10"/>
          <p:cNvSpPr/>
          <p:nvPr/>
        </p:nvSpPr>
        <p:spPr>
          <a:xfrm>
            <a:off x="6428232" y="1627632"/>
            <a:ext cx="2322576" cy="68580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C — Trace-based demo (10')</a:t>
            </a:r>
            <a:endParaRPr lang="en-US" sz="1300" dirty="0"/>
          </a:p>
        </p:txBody>
      </p:sp>
      <p:sp>
        <p:nvSpPr>
          <p:cNvPr id="14" name="Text 11"/>
          <p:cNvSpPr/>
          <p:nvPr/>
        </p:nvSpPr>
        <p:spPr>
          <a:xfrm>
            <a:off x="6428232" y="2359152"/>
            <a:ext cx="2322576" cy="1874520"/>
          </a:xfrm>
          <a:prstGeom prst="rect">
            <a:avLst/>
          </a:prstGeom>
          <a:noFill/>
          <a:ln/>
        </p:spPr>
        <p:txBody>
          <a:bodyPr wrap="square" lIns="0" tIns="0" rIns="0" bIns="0" rtlCol="0" anchor="ctr"/>
          <a:lstStyle/>
          <a:p>
            <a:pPr marL="0" indent="0">
              <a:buNone/>
            </a:pPr>
            <a:r>
              <a:rPr lang="en-US" sz="1050" dirty="0">
                <a:solidFill>
                  <a:srgbClr val="20263F"/>
                </a:solidFill>
                <a:latin typeface="Calibri" pitchFamily="34" charset="0"/>
                <a:ea typeface="Calibri" pitchFamily="34" charset="-122"/>
                <a:cs typeface="Calibri" pitchFamily="34" charset="-120"/>
              </a:rPr>
              <a:t>Facilitator demo: evaluate production traces by date range, operation ID, or agent filter — same evaluator suite, intelligent sampling, no hand-curated dataset.</a:t>
            </a:r>
            <a:endParaRPr lang="en-US" sz="1050" dirty="0"/>
          </a:p>
        </p:txBody>
      </p:sp>
      <p:sp>
        <p:nvSpPr>
          <p:cNvPr id="15" name="Text 12"/>
          <p:cNvSpPr/>
          <p:nvPr/>
        </p:nvSpPr>
        <p:spPr>
          <a:xfrm>
            <a:off x="502920" y="4572000"/>
            <a:ext cx="8138160" cy="457200"/>
          </a:xfrm>
          <a:prstGeom prst="rect">
            <a:avLst/>
          </a:prstGeom>
          <a:noFill/>
          <a:ln/>
        </p:spPr>
        <p:txBody>
          <a:bodyPr wrap="square" lIns="0" tIns="0" rIns="0" bIns="0" rtlCol="0" anchor="ctr"/>
          <a:lstStyle/>
          <a:p>
            <a:pPr marL="0" indent="0">
              <a:buNone/>
            </a:pPr>
            <a:r>
              <a:rPr lang="en-US" sz="1100" i="1" dirty="0">
                <a:solidFill>
                  <a:srgbClr val="5A6378"/>
                </a:solidFill>
                <a:latin typeface="Calibri" pitchFamily="34" charset="0"/>
                <a:ea typeface="Calibri" pitchFamily="34" charset="-122"/>
                <a:cs typeface="Calibri" pitchFamily="34" charset="-120"/>
              </a:rPr>
              <a:t>Contract failures are hard failures even when the LLM judge likes the final answer. Unsupported tool-evaluator evidence is missing evidence — never a free pass.</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8138160" cy="274320"/>
          </a:xfrm>
          <a:prstGeom prst="rect">
            <a:avLst/>
          </a:prstGeom>
          <a:noFill/>
          <a:ln/>
        </p:spPr>
        <p:txBody>
          <a:bodyPr wrap="square" lIns="0" tIns="0" rIns="0" bIns="0" rtlCol="0" anchor="ctr"/>
          <a:lstStyle/>
          <a:p>
            <a:pPr marL="0" indent="0">
              <a:buNone/>
            </a:pPr>
            <a:r>
              <a:rPr lang="en-US" sz="1100" b="1" kern="0" spc="300" dirty="0">
                <a:solidFill>
                  <a:srgbClr val="5A6378"/>
                </a:solidFill>
                <a:latin typeface="Calibri" pitchFamily="34" charset="0"/>
                <a:ea typeface="Calibri" pitchFamily="34" charset="-122"/>
                <a:cs typeface="Calibri" pitchFamily="34" charset="-120"/>
              </a:rPr>
              <a:t>MODULE 3 · THE BUILD 2026 SHIFT</a:t>
            </a:r>
            <a:endParaRPr lang="en-US" sz="1100" dirty="0"/>
          </a:p>
        </p:txBody>
      </p:sp>
      <p:sp>
        <p:nvSpPr>
          <p:cNvPr id="3" name="Text 1"/>
          <p:cNvSpPr/>
          <p:nvPr/>
        </p:nvSpPr>
        <p:spPr>
          <a:xfrm>
            <a:off x="502920" y="530352"/>
            <a:ext cx="8138160" cy="68580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Trace-based evaluation: no dataset, any framework</a:t>
            </a:r>
            <a:endParaRPr lang="en-US" sz="3000" dirty="0"/>
          </a:p>
        </p:txBody>
      </p:sp>
      <p:sp>
        <p:nvSpPr>
          <p:cNvPr id="4" name="Shape 2"/>
          <p:cNvSpPr/>
          <p:nvPr/>
        </p:nvSpPr>
        <p:spPr>
          <a:xfrm>
            <a:off x="548640" y="1508760"/>
            <a:ext cx="566928" cy="566928"/>
          </a:xfrm>
          <a:prstGeom prst="ellipse">
            <a:avLst/>
          </a:prstGeom>
          <a:solidFill>
            <a:srgbClr val="1E2761"/>
          </a:solidFill>
          <a:ln/>
        </p:spPr>
        <p:txBody>
          <a:bodyPr/>
          <a:lstStyle/>
          <a:p>
            <a:endParaRPr lang="en-GB"/>
          </a:p>
        </p:txBody>
      </p:sp>
      <p:pic>
        <p:nvPicPr>
          <p:cNvPr id="5" name="Image 0" descr="preencoded.png"/>
          <p:cNvPicPr>
            <a:picLocks noChangeAspect="1"/>
          </p:cNvPicPr>
          <p:nvPr/>
        </p:nvPicPr>
        <p:blipFill>
          <a:blip r:embed="rId3"/>
          <a:stretch>
            <a:fillRect/>
          </a:stretch>
        </p:blipFill>
        <p:spPr>
          <a:xfrm>
            <a:off x="696041" y="1656161"/>
            <a:ext cx="272125" cy="272125"/>
          </a:xfrm>
          <a:prstGeom prst="rect">
            <a:avLst/>
          </a:prstGeom>
        </p:spPr>
      </p:pic>
      <p:sp>
        <p:nvSpPr>
          <p:cNvPr id="6" name="Text 3"/>
          <p:cNvSpPr/>
          <p:nvPr/>
        </p:nvSpPr>
        <p:spPr>
          <a:xfrm>
            <a:off x="1325880" y="1490472"/>
            <a:ext cx="7223760" cy="320040"/>
          </a:xfrm>
          <a:prstGeom prst="rect">
            <a:avLst/>
          </a:prstGeom>
          <a:noFill/>
          <a:ln/>
        </p:spPr>
        <p:txBody>
          <a:bodyPr wrap="square" lIns="0" tIns="0" rIns="0" bIns="0" rtlCol="0" anchor="ctr"/>
          <a:lstStyle/>
          <a:p>
            <a:pPr marL="0" indent="0">
              <a:buNone/>
            </a:pPr>
            <a:r>
              <a:rPr lang="en-US" sz="1600" b="1" dirty="0">
                <a:solidFill>
                  <a:srgbClr val="1E2761"/>
                </a:solidFill>
                <a:latin typeface="Calibri" pitchFamily="34" charset="0"/>
                <a:ea typeface="Calibri" pitchFamily="34" charset="-122"/>
                <a:cs typeface="Calibri" pitchFamily="34" charset="-120"/>
              </a:rPr>
              <a:t>Evaluate what actually happened</a:t>
            </a:r>
            <a:endParaRPr lang="en-US" sz="1600" dirty="0"/>
          </a:p>
        </p:txBody>
      </p:sp>
      <p:sp>
        <p:nvSpPr>
          <p:cNvPr id="7" name="Text 4"/>
          <p:cNvSpPr/>
          <p:nvPr/>
        </p:nvSpPr>
        <p:spPr>
          <a:xfrm>
            <a:off x="1325880" y="1810512"/>
            <a:ext cx="7223760" cy="685800"/>
          </a:xfrm>
          <a:prstGeom prst="rect">
            <a:avLst/>
          </a:prstGeom>
          <a:noFill/>
          <a:ln/>
        </p:spPr>
        <p:txBody>
          <a:bodyPr wrap="square" lIns="0" tIns="0" rIns="0" bIns="0" rtlCol="0" anchor="ctr"/>
          <a:lstStyle/>
          <a:p>
            <a:pPr marL="0" indent="0">
              <a:buNone/>
            </a:pPr>
            <a:r>
              <a:rPr lang="en-US" sz="1250" dirty="0">
                <a:solidFill>
                  <a:srgbClr val="20263F"/>
                </a:solidFill>
                <a:latin typeface="Calibri" pitchFamily="34" charset="0"/>
                <a:ea typeface="Calibri" pitchFamily="34" charset="-122"/>
                <a:cs typeface="Calibri" pitchFamily="34" charset="-120"/>
              </a:rPr>
              <a:t>Grade real production interactions from Application Insights — the hand-curated dataset bottleneck disappears.</a:t>
            </a:r>
            <a:endParaRPr lang="en-US" sz="1250" dirty="0"/>
          </a:p>
        </p:txBody>
      </p:sp>
      <p:sp>
        <p:nvSpPr>
          <p:cNvPr id="8" name="Shape 5"/>
          <p:cNvSpPr/>
          <p:nvPr/>
        </p:nvSpPr>
        <p:spPr>
          <a:xfrm>
            <a:off x="548640" y="2587752"/>
            <a:ext cx="566928" cy="566928"/>
          </a:xfrm>
          <a:prstGeom prst="ellipse">
            <a:avLst/>
          </a:prstGeom>
          <a:solidFill>
            <a:srgbClr val="1E2761"/>
          </a:solidFill>
          <a:ln/>
        </p:spPr>
        <p:txBody>
          <a:bodyPr/>
          <a:lstStyle/>
          <a:p>
            <a:endParaRPr lang="en-GB"/>
          </a:p>
        </p:txBody>
      </p:sp>
      <p:pic>
        <p:nvPicPr>
          <p:cNvPr id="9" name="Image 1" descr="preencoded.png"/>
          <p:cNvPicPr>
            <a:picLocks noChangeAspect="1"/>
          </p:cNvPicPr>
          <p:nvPr/>
        </p:nvPicPr>
        <p:blipFill>
          <a:blip r:embed="rId4"/>
          <a:stretch>
            <a:fillRect/>
          </a:stretch>
        </p:blipFill>
        <p:spPr>
          <a:xfrm>
            <a:off x="696041" y="2735153"/>
            <a:ext cx="272125" cy="272125"/>
          </a:xfrm>
          <a:prstGeom prst="rect">
            <a:avLst/>
          </a:prstGeom>
        </p:spPr>
      </p:pic>
      <p:sp>
        <p:nvSpPr>
          <p:cNvPr id="10" name="Text 6"/>
          <p:cNvSpPr/>
          <p:nvPr/>
        </p:nvSpPr>
        <p:spPr>
          <a:xfrm>
            <a:off x="1325880" y="2569464"/>
            <a:ext cx="7223760" cy="320040"/>
          </a:xfrm>
          <a:prstGeom prst="rect">
            <a:avLst/>
          </a:prstGeom>
          <a:noFill/>
          <a:ln/>
        </p:spPr>
        <p:txBody>
          <a:bodyPr wrap="square" lIns="0" tIns="0" rIns="0" bIns="0" rtlCol="0" anchor="ctr"/>
          <a:lstStyle/>
          <a:p>
            <a:pPr marL="0" indent="0">
              <a:buNone/>
            </a:pPr>
            <a:r>
              <a:rPr lang="en-US" sz="1600" b="1" dirty="0">
                <a:solidFill>
                  <a:srgbClr val="1E2761"/>
                </a:solidFill>
                <a:latin typeface="Calibri" pitchFamily="34" charset="0"/>
                <a:ea typeface="Calibri" pitchFamily="34" charset="-122"/>
                <a:cs typeface="Calibri" pitchFamily="34" charset="-120"/>
              </a:rPr>
              <a:t>Framework- and cloud-agnostic</a:t>
            </a:r>
            <a:endParaRPr lang="en-US" sz="1600" dirty="0"/>
          </a:p>
        </p:txBody>
      </p:sp>
      <p:sp>
        <p:nvSpPr>
          <p:cNvPr id="11" name="Text 7"/>
          <p:cNvSpPr/>
          <p:nvPr/>
        </p:nvSpPr>
        <p:spPr>
          <a:xfrm>
            <a:off x="1325880" y="2889504"/>
            <a:ext cx="7223760" cy="685800"/>
          </a:xfrm>
          <a:prstGeom prst="rect">
            <a:avLst/>
          </a:prstGeom>
          <a:noFill/>
          <a:ln/>
        </p:spPr>
        <p:txBody>
          <a:bodyPr wrap="square" lIns="0" tIns="0" rIns="0" bIns="0" rtlCol="0" anchor="ctr"/>
          <a:lstStyle/>
          <a:p>
            <a:pPr marL="0" indent="0">
              <a:buNone/>
            </a:pPr>
            <a:r>
              <a:rPr lang="en-US" sz="1250" dirty="0">
                <a:solidFill>
                  <a:srgbClr val="20263F"/>
                </a:solidFill>
                <a:latin typeface="Calibri" pitchFamily="34" charset="0"/>
                <a:ea typeface="Calibri" pitchFamily="34" charset="-122"/>
                <a:cs typeface="Calibri" pitchFamily="34" charset="-120"/>
              </a:rPr>
              <a:t>LangChain, LangGraph, OpenAI SDK, Agent Framework, custom — anything emitting OpenTelemetry GenAI semantic-convention spans. Point the OTel exporter at Foundry and evals light up.</a:t>
            </a:r>
            <a:endParaRPr lang="en-US" sz="1250" dirty="0"/>
          </a:p>
        </p:txBody>
      </p:sp>
      <p:sp>
        <p:nvSpPr>
          <p:cNvPr id="12" name="Shape 8"/>
          <p:cNvSpPr/>
          <p:nvPr/>
        </p:nvSpPr>
        <p:spPr>
          <a:xfrm>
            <a:off x="548640" y="3666744"/>
            <a:ext cx="566928" cy="566928"/>
          </a:xfrm>
          <a:prstGeom prst="ellipse">
            <a:avLst/>
          </a:prstGeom>
          <a:solidFill>
            <a:srgbClr val="1E2761"/>
          </a:solidFill>
          <a:ln/>
        </p:spPr>
        <p:txBody>
          <a:bodyPr/>
          <a:lstStyle/>
          <a:p>
            <a:endParaRPr lang="en-GB"/>
          </a:p>
        </p:txBody>
      </p:sp>
      <p:pic>
        <p:nvPicPr>
          <p:cNvPr id="13" name="Image 2" descr="preencoded.png"/>
          <p:cNvPicPr>
            <a:picLocks noChangeAspect="1"/>
          </p:cNvPicPr>
          <p:nvPr/>
        </p:nvPicPr>
        <p:blipFill>
          <a:blip r:embed="rId5"/>
          <a:stretch>
            <a:fillRect/>
          </a:stretch>
        </p:blipFill>
        <p:spPr>
          <a:xfrm>
            <a:off x="696041" y="3814145"/>
            <a:ext cx="272125" cy="272125"/>
          </a:xfrm>
          <a:prstGeom prst="rect">
            <a:avLst/>
          </a:prstGeom>
        </p:spPr>
      </p:pic>
      <p:sp>
        <p:nvSpPr>
          <p:cNvPr id="14" name="Text 9"/>
          <p:cNvSpPr/>
          <p:nvPr/>
        </p:nvSpPr>
        <p:spPr>
          <a:xfrm>
            <a:off x="1325880" y="3648456"/>
            <a:ext cx="7223760" cy="320040"/>
          </a:xfrm>
          <a:prstGeom prst="rect">
            <a:avLst/>
          </a:prstGeom>
          <a:noFill/>
          <a:ln/>
        </p:spPr>
        <p:txBody>
          <a:bodyPr wrap="square" lIns="0" tIns="0" rIns="0" bIns="0" rtlCol="0" anchor="ctr"/>
          <a:lstStyle/>
          <a:p>
            <a:pPr marL="0" indent="0">
              <a:buNone/>
            </a:pPr>
            <a:r>
              <a:rPr lang="en-US" sz="1600" b="1" dirty="0">
                <a:solidFill>
                  <a:srgbClr val="1E2761"/>
                </a:solidFill>
                <a:latin typeface="Calibri" pitchFamily="34" charset="0"/>
                <a:ea typeface="Calibri" pitchFamily="34" charset="-122"/>
                <a:cs typeface="Calibri" pitchFamily="34" charset="-120"/>
              </a:rPr>
              <a:t>Intelligent sampling</a:t>
            </a:r>
            <a:endParaRPr lang="en-US" sz="1600" dirty="0"/>
          </a:p>
        </p:txBody>
      </p:sp>
      <p:sp>
        <p:nvSpPr>
          <p:cNvPr id="15" name="Text 10"/>
          <p:cNvSpPr/>
          <p:nvPr/>
        </p:nvSpPr>
        <p:spPr>
          <a:xfrm>
            <a:off x="1325880" y="3968496"/>
            <a:ext cx="7223760" cy="685800"/>
          </a:xfrm>
          <a:prstGeom prst="rect">
            <a:avLst/>
          </a:prstGeom>
          <a:noFill/>
          <a:ln/>
        </p:spPr>
        <p:txBody>
          <a:bodyPr wrap="square" lIns="0" tIns="0" rIns="0" bIns="0" rtlCol="0" anchor="ctr"/>
          <a:lstStyle/>
          <a:p>
            <a:pPr marL="0" indent="0">
              <a:buNone/>
            </a:pPr>
            <a:r>
              <a:rPr lang="en-US" sz="1250" dirty="0">
                <a:solidFill>
                  <a:srgbClr val="20263F"/>
                </a:solidFill>
                <a:latin typeface="Calibri" pitchFamily="34" charset="0"/>
                <a:ea typeface="Calibri" pitchFamily="34" charset="-122"/>
                <a:cs typeface="Calibri" pitchFamily="34" charset="-120"/>
              </a:rPr>
              <a:t>A representative subset gets scored, not every trace — that's what keeps judge-token costs sane at production volume.</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8138160" cy="274320"/>
          </a:xfrm>
          <a:prstGeom prst="rect">
            <a:avLst/>
          </a:prstGeom>
          <a:noFill/>
          <a:ln/>
        </p:spPr>
        <p:txBody>
          <a:bodyPr wrap="square" lIns="0" tIns="0" rIns="0" bIns="0" rtlCol="0" anchor="ctr"/>
          <a:lstStyle/>
          <a:p>
            <a:pPr marL="0" indent="0">
              <a:buNone/>
            </a:pPr>
            <a:r>
              <a:rPr lang="en-US" sz="1100" b="1" kern="0" spc="300" dirty="0">
                <a:solidFill>
                  <a:srgbClr val="5A6378"/>
                </a:solidFill>
                <a:latin typeface="Calibri" pitchFamily="34" charset="0"/>
                <a:ea typeface="Calibri" pitchFamily="34" charset="-122"/>
                <a:cs typeface="Calibri" pitchFamily="34" charset="-120"/>
              </a:rPr>
              <a:t>MODULE 4 · CI/CD</a:t>
            </a:r>
            <a:endParaRPr lang="en-US" sz="1100" dirty="0"/>
          </a:p>
        </p:txBody>
      </p:sp>
      <p:sp>
        <p:nvSpPr>
          <p:cNvPr id="3" name="Text 1"/>
          <p:cNvSpPr/>
          <p:nvPr/>
        </p:nvSpPr>
        <p:spPr>
          <a:xfrm>
            <a:off x="502920" y="530352"/>
            <a:ext cx="8138160" cy="68580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Two honest patterns: native comparison vs. enforcing policy</a:t>
            </a:r>
            <a:endParaRPr lang="en-US" sz="3000" dirty="0"/>
          </a:p>
        </p:txBody>
      </p:sp>
      <p:sp>
        <p:nvSpPr>
          <p:cNvPr id="4" name="Shape 2"/>
          <p:cNvSpPr/>
          <p:nvPr/>
        </p:nvSpPr>
        <p:spPr>
          <a:xfrm>
            <a:off x="502920" y="1417320"/>
            <a:ext cx="4480560" cy="2880360"/>
          </a:xfrm>
          <a:prstGeom prst="roundRect">
            <a:avLst>
              <a:gd name="adj" fmla="val 1905"/>
            </a:avLst>
          </a:prstGeom>
          <a:solidFill>
            <a:srgbClr val="171C36"/>
          </a:solidFill>
          <a:ln/>
          <a:effectLst>
            <a:outerShdw blurRad="88900" dist="25400" dir="2700000" algn="bl" rotWithShape="0">
              <a:srgbClr val="000000">
                <a:alpha val="14000"/>
              </a:srgbClr>
            </a:outerShdw>
          </a:effectLst>
        </p:spPr>
        <p:txBody>
          <a:bodyPr/>
          <a:lstStyle/>
          <a:p>
            <a:endParaRPr lang="en-GB"/>
          </a:p>
        </p:txBody>
      </p:sp>
      <p:sp>
        <p:nvSpPr>
          <p:cNvPr id="5" name="Text 3"/>
          <p:cNvSpPr/>
          <p:nvPr/>
        </p:nvSpPr>
        <p:spPr>
          <a:xfrm>
            <a:off x="777240" y="1600200"/>
            <a:ext cx="4023360" cy="2560320"/>
          </a:xfrm>
          <a:prstGeom prst="rect">
            <a:avLst/>
          </a:prstGeom>
          <a:noFill/>
          <a:ln/>
        </p:spPr>
        <p:txBody>
          <a:bodyPr wrap="square" rtlCol="0" anchor="ctr"/>
          <a:lstStyle/>
          <a:p>
            <a:pPr marL="0" indent="0">
              <a:buNone/>
            </a:pPr>
            <a:r>
              <a:rPr lang="en-US" sz="1150" dirty="0">
                <a:solidFill>
                  <a:srgbClr val="9EF0D2"/>
                </a:solidFill>
                <a:latin typeface="Courier New" pitchFamily="34" charset="0"/>
                <a:ea typeface="Courier New" pitchFamily="34" charset="-122"/>
                <a:cs typeface="Courier New" pitchFamily="34" charset="-120"/>
              </a:rPr>
              <a:t>NATIVE COMPARISON · HOSTED AGENTS</a:t>
            </a:r>
            <a:endParaRPr lang="en-US" sz="1150" dirty="0"/>
          </a:p>
          <a:p>
            <a:pPr marL="0" indent="0">
              <a:buNone/>
            </a:pPr>
            <a:r>
              <a:rPr lang="en-US" sz="1150" dirty="0">
                <a:solidFill>
                  <a:srgbClr val="9EF0D2"/>
                </a:solidFill>
                <a:latin typeface="Courier New" pitchFamily="34" charset="0"/>
                <a:ea typeface="Courier New" pitchFamily="34" charset="-122"/>
                <a:cs typeface="Courier New" pitchFamily="34" charset="-120"/>
              </a:rPr>
              <a:t/>
            </a:r>
          </a:p>
          <a:p>
            <a:pPr marL="0" indent="0">
              <a:buNone/>
            </a:pPr>
            <a:r>
              <a:rPr lang="en-US" sz="1150" dirty="0">
                <a:solidFill>
                  <a:srgbClr val="9EF0D2"/>
                </a:solidFill>
                <a:latin typeface="Courier New" pitchFamily="34" charset="0"/>
                <a:ea typeface="Courier New" pitchFamily="34" charset="-122"/>
                <a:cs typeface="Courier New" pitchFamily="34" charset="-120"/>
              </a:rPr>
              <a:t>AIAgentEvaluation@2</a:t>
            </a:r>
          </a:p>
          <a:p>
            <a:pPr marL="0" indent="0">
              <a:buNone/>
            </a:pPr>
            <a:r>
              <a:rPr lang="en-US" sz="1150" dirty="0">
                <a:solidFill>
                  <a:srgbClr val="9EF0D2"/>
                </a:solidFill>
                <a:latin typeface="Courier New" pitchFamily="34" charset="0"/>
                <a:ea typeface="Courier New" pitchFamily="34" charset="-122"/>
                <a:cs typeface="Courier New" pitchFamily="34" charset="-120"/>
              </a:rPr>
              <a:t>microsoft/ai-agent-evals@v3-beta</a:t>
            </a:r>
          </a:p>
          <a:p>
            <a:pPr marL="0" indent="0">
              <a:buNone/>
            </a:pPr>
            <a:r>
              <a:rPr lang="en-US" sz="1150" dirty="0">
                <a:solidFill>
                  <a:srgbClr val="9EF0D2"/>
                </a:solidFill>
                <a:latin typeface="Courier New" pitchFamily="34" charset="0"/>
                <a:ea typeface="Courier New" pitchFamily="34" charset="-122"/>
                <a:cs typeface="Courier New" pitchFamily="34" charset="-120"/>
              </a:rPr>
              <a:t/>
            </a:r>
          </a:p>
          <a:p>
            <a:pPr marL="0" indent="0">
              <a:buNone/>
            </a:pPr>
            <a:r>
              <a:rPr lang="en-US" sz="1150" dirty="0">
                <a:solidFill>
                  <a:srgbClr val="9EF0D2"/>
                </a:solidFill>
                <a:latin typeface="Courier New" pitchFamily="34" charset="0"/>
                <a:ea typeface="Courier New" pitchFamily="34" charset="-122"/>
                <a:cs typeface="Courier New" pitchFamily="34" charset="-120"/>
              </a:rPr>
              <a:t>agent-ids: name:version pairs</a:t>
            </a:r>
          </a:p>
          <a:p>
            <a:pPr marL="0" indent="0">
              <a:buNone/>
            </a:pPr>
            <a:r>
              <a:rPr lang="en-US" sz="1150" dirty="0">
                <a:solidFill>
                  <a:srgbClr val="9EF0D2"/>
                </a:solidFill>
                <a:latin typeface="Courier New" pitchFamily="34" charset="0"/>
                <a:ea typeface="Courier New" pitchFamily="34" charset="-122"/>
                <a:cs typeface="Courier New" pitchFamily="34" charset="-120"/>
              </a:rPr>
              <a:t>baseline-agent-id: incumbent</a:t>
            </a:r>
          </a:p>
          <a:p>
            <a:pPr marL="0" indent="0">
              <a:buNone/>
            </a:pPr>
            <a:r>
              <a:rPr lang="en-US" sz="1150" dirty="0">
                <a:solidFill>
                  <a:srgbClr val="9EF0D2"/>
                </a:solidFill>
                <a:latin typeface="Courier New" pitchFamily="34" charset="0"/>
                <a:ea typeface="Courier New" pitchFamily="34" charset="-122"/>
                <a:cs typeface="Courier New" pitchFamily="34" charset="-120"/>
              </a:rPr>
              <a:t/>
            </a:r>
          </a:p>
          <a:p>
            <a:pPr marL="0" indent="0">
              <a:buNone/>
            </a:pPr>
            <a:r>
              <a:rPr lang="en-US" sz="1150" dirty="0">
                <a:solidFill>
                  <a:srgbClr val="9EF0D2"/>
                </a:solidFill>
                <a:latin typeface="Courier New" pitchFamily="34" charset="0"/>
                <a:ea typeface="Courier New" pitchFamily="34" charset="-122"/>
                <a:cs typeface="Courier New" pitchFamily="34" charset="-120"/>
              </a:rPr>
              <a:t>Entra ID / OIDC — no Foundry keys</a:t>
            </a:r>
          </a:p>
        </p:txBody>
      </p:sp>
      <p:sp>
        <p:nvSpPr>
          <p:cNvPr id="6" name="Shape 4"/>
          <p:cNvSpPr/>
          <p:nvPr/>
        </p:nvSpPr>
        <p:spPr>
          <a:xfrm>
            <a:off x="5212080" y="1463040"/>
            <a:ext cx="3429000" cy="896112"/>
          </a:xfrm>
          <a:prstGeom prst="roundRect">
            <a:avLst>
              <a:gd name="adj" fmla="val 6122"/>
            </a:avLst>
          </a:prstGeom>
          <a:solidFill>
            <a:srgbClr val="EEF4FE"/>
          </a:solidFill>
          <a:ln/>
          <a:effectLst>
            <a:outerShdw blurRad="88900" dist="25400" dir="2700000" algn="bl" rotWithShape="0">
              <a:srgbClr val="000000">
                <a:alpha val="14000"/>
              </a:srgbClr>
            </a:outerShdw>
          </a:effectLst>
        </p:spPr>
        <p:txBody>
          <a:bodyPr/>
          <a:lstStyle/>
          <a:p>
            <a:endParaRPr lang="en-GB"/>
          </a:p>
        </p:txBody>
      </p:sp>
      <p:sp>
        <p:nvSpPr>
          <p:cNvPr id="7" name="Text 5"/>
          <p:cNvSpPr/>
          <p:nvPr/>
        </p:nvSpPr>
        <p:spPr>
          <a:xfrm>
            <a:off x="5394960" y="1554480"/>
            <a:ext cx="3108960" cy="274320"/>
          </a:xfrm>
          <a:prstGeom prst="rect">
            <a:avLst/>
          </a:prstGeom>
          <a:noFill/>
          <a:ln/>
        </p:spPr>
        <p:txBody>
          <a:bodyPr wrap="square" lIns="0" tIns="0" rIns="0" bIns="0"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Foundry owns the statistics</a:t>
            </a:r>
            <a:endParaRPr lang="en-US" sz="1250" dirty="0"/>
          </a:p>
        </p:txBody>
      </p:sp>
      <p:sp>
        <p:nvSpPr>
          <p:cNvPr id="8" name="Text 6"/>
          <p:cNvSpPr/>
          <p:nvPr/>
        </p:nvSpPr>
        <p:spPr>
          <a:xfrm>
            <a:off x="5394960" y="1847088"/>
            <a:ext cx="3108960" cy="457200"/>
          </a:xfrm>
          <a:prstGeom prst="rect">
            <a:avLst/>
          </a:prstGeom>
          <a:noFill/>
          <a:ln/>
        </p:spPr>
        <p:txBody>
          <a:bodyPr wrap="square" lIns="0" tIns="0" rIns="0" bIns="0" rtlCol="0" anchor="ctr"/>
          <a:lstStyle/>
          <a:p>
            <a:pPr marL="0" indent="0">
              <a:buNone/>
            </a:pPr>
            <a:r>
              <a:rPr lang="en-US" sz="1000" dirty="0">
                <a:solidFill>
                  <a:srgbClr val="20263F"/>
                </a:solidFill>
                <a:latin typeface="Calibri" pitchFamily="34" charset="0"/>
                <a:ea typeface="Calibri" pitchFamily="34" charset="-122"/>
                <a:cs typeface="Calibri" pitchFamily="34" charset="-120"/>
              </a:rPr>
              <a:t>Rendered confidence intervals + pairwise comparison. Public contract does not define threshold outputs.</a:t>
            </a:r>
            <a:endParaRPr lang="en-US" sz="1000" dirty="0"/>
          </a:p>
        </p:txBody>
      </p:sp>
      <p:sp>
        <p:nvSpPr>
          <p:cNvPr id="9" name="Shape 7"/>
          <p:cNvSpPr/>
          <p:nvPr/>
        </p:nvSpPr>
        <p:spPr>
          <a:xfrm>
            <a:off x="5212080" y="2468880"/>
            <a:ext cx="3429000" cy="896112"/>
          </a:xfrm>
          <a:prstGeom prst="roundRect">
            <a:avLst>
              <a:gd name="adj" fmla="val 6122"/>
            </a:avLst>
          </a:prstGeom>
          <a:solidFill>
            <a:srgbClr val="EEF4FE"/>
          </a:solidFill>
          <a:ln/>
          <a:effectLst>
            <a:outerShdw blurRad="88900" dist="25400" dir="2700000" algn="bl" rotWithShape="0">
              <a:srgbClr val="000000">
                <a:alpha val="14000"/>
              </a:srgbClr>
            </a:outerShdw>
          </a:effectLst>
        </p:spPr>
        <p:txBody>
          <a:bodyPr/>
          <a:lstStyle/>
          <a:p>
            <a:endParaRPr lang="en-GB"/>
          </a:p>
        </p:txBody>
      </p:sp>
      <p:sp>
        <p:nvSpPr>
          <p:cNvPr id="10" name="Text 8"/>
          <p:cNvSpPr/>
          <p:nvPr/>
        </p:nvSpPr>
        <p:spPr>
          <a:xfrm>
            <a:off x="5394960" y="2560320"/>
            <a:ext cx="3108960" cy="274320"/>
          </a:xfrm>
          <a:prstGeom prst="rect">
            <a:avLst/>
          </a:prstGeom>
          <a:noFill/>
          <a:ln/>
        </p:spPr>
        <p:txBody>
          <a:bodyPr wrap="square" lIns="0" tIns="0" rIns="0" bIns="0"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Precomputed workflow enforces policy</a:t>
            </a:r>
            <a:endParaRPr lang="en-US" sz="1250" dirty="0"/>
          </a:p>
        </p:txBody>
      </p:sp>
      <p:sp>
        <p:nvSpPr>
          <p:cNvPr id="11" name="Text 9"/>
          <p:cNvSpPr/>
          <p:nvPr/>
        </p:nvSpPr>
        <p:spPr>
          <a:xfrm>
            <a:off x="5394960" y="2852928"/>
            <a:ext cx="3108960" cy="457200"/>
          </a:xfrm>
          <a:prstGeom prst="rect">
            <a:avLst/>
          </a:prstGeom>
          <a:noFill/>
          <a:ln/>
        </p:spPr>
        <p:txBody>
          <a:bodyPr wrap="square" lIns="0" tIns="0" rIns="0" bIns="0" rtlCol="0" anchor="ctr"/>
          <a:lstStyle/>
          <a:p>
            <a:pPr marL="0" indent="0">
              <a:buNone/>
            </a:pPr>
            <a:r>
              <a:rPr lang="en-US" sz="1000" dirty="0">
                <a:solidFill>
                  <a:srgbClr val="20263F"/>
                </a:solidFill>
                <a:latin typeface="Calibri" pitchFamily="34" charset="0"/>
                <a:ea typeface="Calibri" pitchFamily="34" charset="-122"/>
                <a:cs typeface="Calibri" pitchFamily="34" charset="-120"/>
              </a:rPr>
              <a:t>Run both versions → check contracts → score in one evaluation group → eval_gate.py.</a:t>
            </a:r>
            <a:endParaRPr lang="en-US" sz="1000" dirty="0"/>
          </a:p>
        </p:txBody>
      </p:sp>
      <p:sp>
        <p:nvSpPr>
          <p:cNvPr id="12" name="Shape 10"/>
          <p:cNvSpPr/>
          <p:nvPr/>
        </p:nvSpPr>
        <p:spPr>
          <a:xfrm>
            <a:off x="5212080" y="3474720"/>
            <a:ext cx="3429000" cy="896112"/>
          </a:xfrm>
          <a:prstGeom prst="roundRect">
            <a:avLst>
              <a:gd name="adj" fmla="val 6122"/>
            </a:avLst>
          </a:prstGeom>
          <a:solidFill>
            <a:srgbClr val="1E2761"/>
          </a:solidFill>
          <a:ln/>
          <a:effectLst>
            <a:outerShdw blurRad="88900" dist="25400" dir="2700000" algn="bl" rotWithShape="0">
              <a:srgbClr val="000000">
                <a:alpha val="14000"/>
              </a:srgbClr>
            </a:outerShdw>
          </a:effectLst>
        </p:spPr>
        <p:txBody>
          <a:bodyPr/>
          <a:lstStyle/>
          <a:p>
            <a:endParaRPr lang="en-GB"/>
          </a:p>
        </p:txBody>
      </p:sp>
      <p:sp>
        <p:nvSpPr>
          <p:cNvPr id="13" name="Text 11"/>
          <p:cNvSpPr/>
          <p:nvPr/>
        </p:nvSpPr>
        <p:spPr>
          <a:xfrm>
            <a:off x="5394960" y="3566160"/>
            <a:ext cx="3108960" cy="274320"/>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Explicit outcomes, reviewed promotion</a:t>
            </a:r>
            <a:endParaRPr lang="en-US" sz="1250" dirty="0"/>
          </a:p>
        </p:txBody>
      </p:sp>
      <p:sp>
        <p:nvSpPr>
          <p:cNvPr id="14" name="Text 12"/>
          <p:cNvSpPr/>
          <p:nvPr/>
        </p:nvSpPr>
        <p:spPr>
          <a:xfrm>
            <a:off x="5394960" y="3858768"/>
            <a:ext cx="3108960" cy="457200"/>
          </a:xfrm>
          <a:prstGeom prst="rect">
            <a:avLst/>
          </a:prstGeom>
          <a:noFill/>
          <a:ln/>
        </p:spPr>
        <p:txBody>
          <a:bodyPr wrap="square" lIns="0" tIns="0" rIns="0" bIns="0" rtlCol="0" anchor="ctr"/>
          <a:lstStyle/>
          <a:p>
            <a:pPr marL="0" indent="0">
              <a:buNone/>
            </a:pPr>
            <a:r>
              <a:rPr lang="en-US" sz="1000" dirty="0">
                <a:solidFill>
                  <a:srgbClr val="CADCFC"/>
                </a:solidFill>
                <a:latin typeface="Calibri" pitchFamily="34" charset="0"/>
                <a:ea typeface="Calibri" pitchFamily="34" charset="-122"/>
                <a:cs typeface="Calibri" pitchFamily="34" charset="-120"/>
              </a:rPr>
              <a:t>0 pass · 1 policy failure · 2 review_required. Safety hard gates; quality regression + cohort rules.</a:t>
            </a:r>
            <a:endParaRPr lang="en-US" sz="1000" dirty="0"/>
          </a:p>
        </p:txBody>
      </p:sp>
      <p:sp>
        <p:nvSpPr>
          <p:cNvPr id="15" name="Text 13"/>
          <p:cNvSpPr/>
          <p:nvPr/>
        </p:nvSpPr>
        <p:spPr>
          <a:xfrm>
            <a:off x="502920" y="4526280"/>
            <a:ext cx="8138160" cy="457200"/>
          </a:xfrm>
          <a:prstGeom prst="rect">
            <a:avLst/>
          </a:prstGeom>
          <a:noFill/>
          <a:ln/>
        </p:spPr>
        <p:txBody>
          <a:bodyPr wrap="square" lIns="0" tIns="0" rIns="0" bIns="0" rtlCol="0" anchor="ctr"/>
          <a:lstStyle/>
          <a:p>
            <a:pPr marL="0" indent="0">
              <a:buNone/>
            </a:pPr>
            <a:r>
              <a:rPr lang="en-US" sz="1100" i="1" dirty="0">
                <a:solidFill>
                  <a:srgbClr val="5A6378"/>
                </a:solidFill>
                <a:latin typeface="Calibri" pitchFamily="34" charset="0"/>
                <a:ea typeface="Calibri" pitchFamily="34" charset="-122"/>
                <a:cs typeface="Calibri" pitchFamily="34" charset="-120"/>
              </a:rPr>
              <a:t>Always publish evidence. Never auto-promote a baseline. Tiny smoke sets test connectivity; full sets compare versions.</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8138160" cy="274320"/>
          </a:xfrm>
          <a:prstGeom prst="rect">
            <a:avLst/>
          </a:prstGeom>
          <a:noFill/>
          <a:ln/>
        </p:spPr>
        <p:txBody>
          <a:bodyPr wrap="square" lIns="0" tIns="0" rIns="0" bIns="0" rtlCol="0" anchor="ctr"/>
          <a:lstStyle/>
          <a:p>
            <a:pPr marL="0" indent="0">
              <a:buNone/>
            </a:pPr>
            <a:r>
              <a:rPr lang="en-US" sz="1100" b="1" kern="0" spc="300" dirty="0">
                <a:solidFill>
                  <a:srgbClr val="5A6378"/>
                </a:solidFill>
                <a:latin typeface="Calibri" pitchFamily="34" charset="0"/>
                <a:ea typeface="Calibri" pitchFamily="34" charset="-122"/>
                <a:cs typeface="Calibri" pitchFamily="34" charset="-120"/>
              </a:rPr>
              <a:t>MODULE 4 · CONTINUOUS EVALUATION</a:t>
            </a:r>
            <a:endParaRPr lang="en-US" sz="1100" dirty="0"/>
          </a:p>
        </p:txBody>
      </p:sp>
      <p:sp>
        <p:nvSpPr>
          <p:cNvPr id="3" name="Text 1"/>
          <p:cNvSpPr/>
          <p:nvPr/>
        </p:nvSpPr>
        <p:spPr>
          <a:xfrm>
            <a:off x="502920" y="530352"/>
            <a:ext cx="8138160" cy="68580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After deployment: quality as a live SLO</a:t>
            </a:r>
            <a:endParaRPr lang="en-US" sz="3000" dirty="0"/>
          </a:p>
        </p:txBody>
      </p:sp>
      <p:sp>
        <p:nvSpPr>
          <p:cNvPr id="4" name="Shape 2"/>
          <p:cNvSpPr/>
          <p:nvPr/>
        </p:nvSpPr>
        <p:spPr>
          <a:xfrm>
            <a:off x="548640" y="1508760"/>
            <a:ext cx="566928" cy="566928"/>
          </a:xfrm>
          <a:prstGeom prst="ellipse">
            <a:avLst/>
          </a:prstGeom>
          <a:solidFill>
            <a:srgbClr val="1E2761"/>
          </a:solidFill>
          <a:ln/>
        </p:spPr>
        <p:txBody>
          <a:bodyPr/>
          <a:lstStyle/>
          <a:p>
            <a:endParaRPr lang="en-GB"/>
          </a:p>
        </p:txBody>
      </p:sp>
      <p:pic>
        <p:nvPicPr>
          <p:cNvPr id="5" name="Image 0" descr="preencoded.png"/>
          <p:cNvPicPr>
            <a:picLocks noChangeAspect="1"/>
          </p:cNvPicPr>
          <p:nvPr/>
        </p:nvPicPr>
        <p:blipFill>
          <a:blip r:embed="rId3"/>
          <a:stretch>
            <a:fillRect/>
          </a:stretch>
        </p:blipFill>
        <p:spPr>
          <a:xfrm>
            <a:off x="696041" y="1656161"/>
            <a:ext cx="272125" cy="272125"/>
          </a:xfrm>
          <a:prstGeom prst="rect">
            <a:avLst/>
          </a:prstGeom>
        </p:spPr>
      </p:pic>
      <p:sp>
        <p:nvSpPr>
          <p:cNvPr id="6" name="Text 3"/>
          <p:cNvSpPr/>
          <p:nvPr/>
        </p:nvSpPr>
        <p:spPr>
          <a:xfrm>
            <a:off x="1325880" y="1490472"/>
            <a:ext cx="7223760" cy="320040"/>
          </a:xfrm>
          <a:prstGeom prst="rect">
            <a:avLst/>
          </a:prstGeom>
          <a:noFill/>
          <a:ln/>
        </p:spPr>
        <p:txBody>
          <a:bodyPr wrap="square" lIns="0" tIns="0" rIns="0" bIns="0" rtlCol="0" anchor="ctr"/>
          <a:lstStyle/>
          <a:p>
            <a:pPr marL="0" indent="0">
              <a:buNone/>
            </a:pPr>
            <a:r>
              <a:rPr lang="en-US" sz="1600" b="1" dirty="0">
                <a:solidFill>
                  <a:srgbClr val="1E2761"/>
                </a:solidFill>
                <a:latin typeface="Calibri" pitchFamily="34" charset="0"/>
                <a:ea typeface="Calibri" pitchFamily="34" charset="-122"/>
                <a:cs typeface="Calibri" pitchFamily="34" charset="-120"/>
              </a:rPr>
              <a:t>Sampled, automatic, always on</a:t>
            </a:r>
            <a:endParaRPr lang="en-US" sz="1600" dirty="0"/>
          </a:p>
        </p:txBody>
      </p:sp>
      <p:sp>
        <p:nvSpPr>
          <p:cNvPr id="7" name="Text 4"/>
          <p:cNvSpPr/>
          <p:nvPr/>
        </p:nvSpPr>
        <p:spPr>
          <a:xfrm>
            <a:off x="1325880" y="1810512"/>
            <a:ext cx="7223760" cy="685800"/>
          </a:xfrm>
          <a:prstGeom prst="rect">
            <a:avLst/>
          </a:prstGeom>
          <a:noFill/>
          <a:ln/>
        </p:spPr>
        <p:txBody>
          <a:bodyPr wrap="square" lIns="0" tIns="0" rIns="0" bIns="0" rtlCol="0" anchor="ctr"/>
          <a:lstStyle/>
          <a:p>
            <a:pPr marL="0" indent="0">
              <a:buNone/>
            </a:pPr>
            <a:r>
              <a:rPr lang="en-US" sz="1250" dirty="0">
                <a:solidFill>
                  <a:srgbClr val="20263F"/>
                </a:solidFill>
                <a:latin typeface="Calibri" pitchFamily="34" charset="0"/>
                <a:ea typeface="Calibri" pitchFamily="34" charset="-122"/>
                <a:cs typeface="Calibri" pitchFamily="34" charset="-120"/>
              </a:rPr>
              <a:t>Continuous evaluation scores sampled production responses; results flow to Azure Monitor and App Insights next to your operational telemetry. Custom evaluators run here too.</a:t>
            </a:r>
            <a:endParaRPr lang="en-US" sz="1250" dirty="0"/>
          </a:p>
        </p:txBody>
      </p:sp>
      <p:sp>
        <p:nvSpPr>
          <p:cNvPr id="8" name="Shape 5"/>
          <p:cNvSpPr/>
          <p:nvPr/>
        </p:nvSpPr>
        <p:spPr>
          <a:xfrm>
            <a:off x="548640" y="2587752"/>
            <a:ext cx="566928" cy="566928"/>
          </a:xfrm>
          <a:prstGeom prst="ellipse">
            <a:avLst/>
          </a:prstGeom>
          <a:solidFill>
            <a:srgbClr val="1E2761"/>
          </a:solidFill>
          <a:ln/>
        </p:spPr>
        <p:txBody>
          <a:bodyPr/>
          <a:lstStyle/>
          <a:p>
            <a:endParaRPr lang="en-GB"/>
          </a:p>
        </p:txBody>
      </p:sp>
      <p:pic>
        <p:nvPicPr>
          <p:cNvPr id="9" name="Image 1" descr="preencoded.png"/>
          <p:cNvPicPr>
            <a:picLocks noChangeAspect="1"/>
          </p:cNvPicPr>
          <p:nvPr/>
        </p:nvPicPr>
        <p:blipFill>
          <a:blip r:embed="rId4"/>
          <a:stretch>
            <a:fillRect/>
          </a:stretch>
        </p:blipFill>
        <p:spPr>
          <a:xfrm>
            <a:off x="696041" y="2735153"/>
            <a:ext cx="272125" cy="272125"/>
          </a:xfrm>
          <a:prstGeom prst="rect">
            <a:avLst/>
          </a:prstGeom>
        </p:spPr>
      </p:pic>
      <p:sp>
        <p:nvSpPr>
          <p:cNvPr id="10" name="Text 6"/>
          <p:cNvSpPr/>
          <p:nvPr/>
        </p:nvSpPr>
        <p:spPr>
          <a:xfrm>
            <a:off x="1325880" y="2569464"/>
            <a:ext cx="7223760" cy="320040"/>
          </a:xfrm>
          <a:prstGeom prst="rect">
            <a:avLst/>
          </a:prstGeom>
          <a:noFill/>
          <a:ln/>
        </p:spPr>
        <p:txBody>
          <a:bodyPr wrap="square" lIns="0" tIns="0" rIns="0" bIns="0" rtlCol="0" anchor="ctr"/>
          <a:lstStyle/>
          <a:p>
            <a:pPr marL="0" indent="0">
              <a:buNone/>
            </a:pPr>
            <a:r>
              <a:rPr lang="en-US" sz="1600" b="1" dirty="0">
                <a:solidFill>
                  <a:srgbClr val="1E2761"/>
                </a:solidFill>
                <a:latin typeface="Calibri" pitchFamily="34" charset="0"/>
                <a:ea typeface="Calibri" pitchFamily="34" charset="-122"/>
                <a:cs typeface="Calibri" pitchFamily="34" charset="-120"/>
              </a:rPr>
              <a:t>One pane: quality AND cost</a:t>
            </a:r>
            <a:endParaRPr lang="en-US" sz="1600" dirty="0"/>
          </a:p>
        </p:txBody>
      </p:sp>
      <p:sp>
        <p:nvSpPr>
          <p:cNvPr id="11" name="Text 7"/>
          <p:cNvSpPr/>
          <p:nvPr/>
        </p:nvSpPr>
        <p:spPr>
          <a:xfrm>
            <a:off x="1325880" y="2889504"/>
            <a:ext cx="7223760" cy="685800"/>
          </a:xfrm>
          <a:prstGeom prst="rect">
            <a:avLst/>
          </a:prstGeom>
          <a:noFill/>
          <a:ln/>
        </p:spPr>
        <p:txBody>
          <a:bodyPr wrap="square" lIns="0" tIns="0" rIns="0" bIns="0" rtlCol="0" anchor="ctr"/>
          <a:lstStyle/>
          <a:p>
            <a:pPr marL="0" indent="0">
              <a:buNone/>
            </a:pPr>
            <a:r>
              <a:rPr lang="en-US" sz="1250" dirty="0">
                <a:solidFill>
                  <a:srgbClr val="20263F"/>
                </a:solidFill>
                <a:latin typeface="Calibri" pitchFamily="34" charset="0"/>
                <a:ea typeface="Calibri" pitchFamily="34" charset="-122"/>
                <a:cs typeface="Calibri" pitchFamily="34" charset="-120"/>
              </a:rPr>
              <a:t>The Agent Monitoring Dashboard (preview) puts evaluator scores beside token usage, latency, and run-success rate.</a:t>
            </a:r>
            <a:endParaRPr lang="en-US" sz="1250" dirty="0"/>
          </a:p>
        </p:txBody>
      </p:sp>
      <p:sp>
        <p:nvSpPr>
          <p:cNvPr id="12" name="Shape 8"/>
          <p:cNvSpPr/>
          <p:nvPr/>
        </p:nvSpPr>
        <p:spPr>
          <a:xfrm>
            <a:off x="548640" y="3666744"/>
            <a:ext cx="566928" cy="566928"/>
          </a:xfrm>
          <a:prstGeom prst="ellipse">
            <a:avLst/>
          </a:prstGeom>
          <a:solidFill>
            <a:srgbClr val="D4544F"/>
          </a:solidFill>
          <a:ln/>
        </p:spPr>
        <p:txBody>
          <a:bodyPr/>
          <a:lstStyle/>
          <a:p>
            <a:endParaRPr lang="en-GB"/>
          </a:p>
        </p:txBody>
      </p:sp>
      <p:pic>
        <p:nvPicPr>
          <p:cNvPr id="13" name="Image 2" descr="preencoded.png"/>
          <p:cNvPicPr>
            <a:picLocks noChangeAspect="1"/>
          </p:cNvPicPr>
          <p:nvPr/>
        </p:nvPicPr>
        <p:blipFill>
          <a:blip r:embed="rId5"/>
          <a:stretch>
            <a:fillRect/>
          </a:stretch>
        </p:blipFill>
        <p:spPr>
          <a:xfrm>
            <a:off x="696041" y="3814145"/>
            <a:ext cx="272125" cy="272125"/>
          </a:xfrm>
          <a:prstGeom prst="rect">
            <a:avLst/>
          </a:prstGeom>
        </p:spPr>
      </p:pic>
      <p:sp>
        <p:nvSpPr>
          <p:cNvPr id="14" name="Text 9"/>
          <p:cNvSpPr/>
          <p:nvPr/>
        </p:nvSpPr>
        <p:spPr>
          <a:xfrm>
            <a:off x="1325880" y="3648456"/>
            <a:ext cx="7223760" cy="320040"/>
          </a:xfrm>
          <a:prstGeom prst="rect">
            <a:avLst/>
          </a:prstGeom>
          <a:noFill/>
          <a:ln/>
        </p:spPr>
        <p:txBody>
          <a:bodyPr wrap="square" lIns="0" tIns="0" rIns="0" bIns="0" rtlCol="0" anchor="ctr"/>
          <a:lstStyle/>
          <a:p>
            <a:pPr marL="0" indent="0">
              <a:buNone/>
            </a:pPr>
            <a:r>
              <a:rPr lang="en-US" sz="1600" b="1" dirty="0">
                <a:solidFill>
                  <a:srgbClr val="1E2761"/>
                </a:solidFill>
                <a:latin typeface="Calibri" pitchFamily="34" charset="0"/>
                <a:ea typeface="Calibri" pitchFamily="34" charset="-122"/>
                <a:cs typeface="Calibri" pitchFamily="34" charset="-120"/>
              </a:rPr>
              <a:t>Alert on score degradation</a:t>
            </a:r>
            <a:endParaRPr lang="en-US" sz="1600" dirty="0"/>
          </a:p>
        </p:txBody>
      </p:sp>
      <p:sp>
        <p:nvSpPr>
          <p:cNvPr id="15" name="Text 10"/>
          <p:cNvSpPr/>
          <p:nvPr/>
        </p:nvSpPr>
        <p:spPr>
          <a:xfrm>
            <a:off x="1325880" y="3968496"/>
            <a:ext cx="7223760" cy="685800"/>
          </a:xfrm>
          <a:prstGeom prst="rect">
            <a:avLst/>
          </a:prstGeom>
          <a:noFill/>
          <a:ln/>
        </p:spPr>
        <p:txBody>
          <a:bodyPr wrap="square" lIns="0" tIns="0" rIns="0" bIns="0" rtlCol="0" anchor="ctr"/>
          <a:lstStyle/>
          <a:p>
            <a:pPr marL="0" indent="0">
              <a:buNone/>
            </a:pPr>
            <a:r>
              <a:rPr lang="en-US" sz="1250" dirty="0">
                <a:solidFill>
                  <a:srgbClr val="20263F"/>
                </a:solidFill>
                <a:latin typeface="Calibri" pitchFamily="34" charset="0"/>
                <a:ea typeface="Calibri" pitchFamily="34" charset="-122"/>
                <a:cs typeface="Calibri" pitchFamily="34" charset="-120"/>
              </a:rPr>
              <a:t>Wire Azure Monitor alerts on evaluator scores exactly as you would error-rate SLOs. Pragmatic on-ramp: a nightly scheduled evaluation against fresh traces before going fully continuous.</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8138160" cy="274320"/>
          </a:xfrm>
          <a:prstGeom prst="rect">
            <a:avLst/>
          </a:prstGeom>
          <a:noFill/>
          <a:ln/>
        </p:spPr>
        <p:txBody>
          <a:bodyPr wrap="square" lIns="0" tIns="0" rIns="0" bIns="0" rtlCol="0" anchor="ctr"/>
          <a:lstStyle/>
          <a:p>
            <a:pPr marL="0" indent="0">
              <a:buNone/>
            </a:pPr>
            <a:r>
              <a:rPr lang="en-US" sz="1100" b="1" kern="0" spc="300" dirty="0">
                <a:solidFill>
                  <a:srgbClr val="5A6378"/>
                </a:solidFill>
                <a:latin typeface="Calibri" pitchFamily="34" charset="0"/>
                <a:ea typeface="Calibri" pitchFamily="34" charset="-122"/>
                <a:cs typeface="Calibri" pitchFamily="34" charset="-120"/>
              </a:rPr>
              <a:t>MODULE 4 · THE MAP</a:t>
            </a:r>
            <a:endParaRPr lang="en-US" sz="1100" dirty="0"/>
          </a:p>
        </p:txBody>
      </p:sp>
      <p:sp>
        <p:nvSpPr>
          <p:cNvPr id="3" name="Text 1"/>
          <p:cNvSpPr/>
          <p:nvPr/>
        </p:nvSpPr>
        <p:spPr>
          <a:xfrm>
            <a:off x="502920" y="530352"/>
            <a:ext cx="8138160" cy="68580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Where evaluation sits in the trust stack</a:t>
            </a:r>
            <a:endParaRPr lang="en-US" sz="3000" dirty="0"/>
          </a:p>
        </p:txBody>
      </p:sp>
      <p:sp>
        <p:nvSpPr>
          <p:cNvPr id="4" name="Shape 2"/>
          <p:cNvSpPr/>
          <p:nvPr/>
        </p:nvSpPr>
        <p:spPr>
          <a:xfrm>
            <a:off x="548640" y="1371600"/>
            <a:ext cx="457200" cy="457200"/>
          </a:xfrm>
          <a:prstGeom prst="ellipse">
            <a:avLst/>
          </a:prstGeom>
          <a:solidFill>
            <a:srgbClr val="1E2761"/>
          </a:solidFill>
          <a:ln/>
        </p:spPr>
        <p:txBody>
          <a:bodyPr/>
          <a:lstStyle/>
          <a:p>
            <a:endParaRPr lang="en-GB"/>
          </a:p>
        </p:txBody>
      </p:sp>
      <p:pic>
        <p:nvPicPr>
          <p:cNvPr id="5" name="Image 0" descr="preencoded.png"/>
          <p:cNvPicPr>
            <a:picLocks noChangeAspect="1"/>
          </p:cNvPicPr>
          <p:nvPr/>
        </p:nvPicPr>
        <p:blipFill>
          <a:blip r:embed="rId3"/>
          <a:stretch>
            <a:fillRect/>
          </a:stretch>
        </p:blipFill>
        <p:spPr>
          <a:xfrm>
            <a:off x="667512" y="1490472"/>
            <a:ext cx="219456" cy="219456"/>
          </a:xfrm>
          <a:prstGeom prst="rect">
            <a:avLst/>
          </a:prstGeom>
        </p:spPr>
      </p:pic>
      <p:sp>
        <p:nvSpPr>
          <p:cNvPr id="6" name="Text 3"/>
          <p:cNvSpPr/>
          <p:nvPr/>
        </p:nvSpPr>
        <p:spPr>
          <a:xfrm>
            <a:off x="1188720" y="1380744"/>
            <a:ext cx="1828800" cy="41148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Guardrails</a:t>
            </a:r>
            <a:endParaRPr lang="en-US" sz="1350" dirty="0"/>
          </a:p>
        </p:txBody>
      </p:sp>
      <p:sp>
        <p:nvSpPr>
          <p:cNvPr id="7" name="Text 4"/>
          <p:cNvSpPr/>
          <p:nvPr/>
        </p:nvSpPr>
        <p:spPr>
          <a:xfrm>
            <a:off x="3063240" y="1344168"/>
            <a:ext cx="5577840" cy="658368"/>
          </a:xfrm>
          <a:prstGeom prst="rect">
            <a:avLst/>
          </a:prstGeom>
          <a:noFill/>
          <a:ln/>
        </p:spPr>
        <p:txBody>
          <a:bodyPr wrap="square" lIns="0" tIns="0" rIns="0" bIns="0" rtlCol="0" anchor="ctr"/>
          <a:lstStyle/>
          <a:p>
            <a:pPr marL="0" indent="0">
              <a:buNone/>
            </a:pPr>
            <a:r>
              <a:rPr lang="en-US" sz="1050" dirty="0">
                <a:solidFill>
                  <a:srgbClr val="20263F"/>
                </a:solidFill>
                <a:latin typeface="Calibri" pitchFamily="34" charset="0"/>
                <a:ea typeface="Calibri" pitchFamily="34" charset="-122"/>
                <a:cs typeface="Calibri" pitchFamily="34" charset="-120"/>
              </a:rPr>
              <a:t>Evaluation measures; guardrails block. Task Adherence is now a runtime guardrail risk type. Third-party guardrails (Prisma AIRS, Zenity) are GA in Foundry.</a:t>
            </a:r>
            <a:endParaRPr lang="en-US" sz="1050" dirty="0"/>
          </a:p>
        </p:txBody>
      </p:sp>
      <p:sp>
        <p:nvSpPr>
          <p:cNvPr id="8" name="Shape 5"/>
          <p:cNvSpPr/>
          <p:nvPr/>
        </p:nvSpPr>
        <p:spPr>
          <a:xfrm>
            <a:off x="548640" y="2066544"/>
            <a:ext cx="457200" cy="457200"/>
          </a:xfrm>
          <a:prstGeom prst="ellipse">
            <a:avLst/>
          </a:prstGeom>
          <a:solidFill>
            <a:srgbClr val="1E2761"/>
          </a:solidFill>
          <a:ln/>
        </p:spPr>
        <p:txBody>
          <a:bodyPr/>
          <a:lstStyle/>
          <a:p>
            <a:endParaRPr lang="en-GB"/>
          </a:p>
        </p:txBody>
      </p:sp>
      <p:pic>
        <p:nvPicPr>
          <p:cNvPr id="9" name="Image 1" descr="preencoded.png"/>
          <p:cNvPicPr>
            <a:picLocks noChangeAspect="1"/>
          </p:cNvPicPr>
          <p:nvPr/>
        </p:nvPicPr>
        <p:blipFill>
          <a:blip r:embed="rId4"/>
          <a:stretch>
            <a:fillRect/>
          </a:stretch>
        </p:blipFill>
        <p:spPr>
          <a:xfrm>
            <a:off x="667512" y="2185416"/>
            <a:ext cx="219456" cy="219456"/>
          </a:xfrm>
          <a:prstGeom prst="rect">
            <a:avLst/>
          </a:prstGeom>
        </p:spPr>
      </p:pic>
      <p:sp>
        <p:nvSpPr>
          <p:cNvPr id="10" name="Text 6"/>
          <p:cNvSpPr/>
          <p:nvPr/>
        </p:nvSpPr>
        <p:spPr>
          <a:xfrm>
            <a:off x="1188720" y="2075688"/>
            <a:ext cx="1828800" cy="41148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Red teaming</a:t>
            </a:r>
            <a:endParaRPr lang="en-US" sz="1350" dirty="0"/>
          </a:p>
        </p:txBody>
      </p:sp>
      <p:sp>
        <p:nvSpPr>
          <p:cNvPr id="11" name="Text 7"/>
          <p:cNvSpPr/>
          <p:nvPr/>
        </p:nvSpPr>
        <p:spPr>
          <a:xfrm>
            <a:off x="3063240" y="2039112"/>
            <a:ext cx="5577840" cy="658368"/>
          </a:xfrm>
          <a:prstGeom prst="rect">
            <a:avLst/>
          </a:prstGeom>
          <a:noFill/>
          <a:ln/>
        </p:spPr>
        <p:txBody>
          <a:bodyPr wrap="square" lIns="0" tIns="0" rIns="0" bIns="0" rtlCol="0" anchor="ctr"/>
          <a:lstStyle/>
          <a:p>
            <a:pPr marL="0" indent="0">
              <a:buNone/>
            </a:pPr>
            <a:r>
              <a:rPr lang="en-US" sz="1050" dirty="0">
                <a:solidFill>
                  <a:srgbClr val="20263F"/>
                </a:solidFill>
                <a:latin typeface="Calibri" pitchFamily="34" charset="0"/>
                <a:ea typeface="Calibri" pitchFamily="34" charset="-122"/>
                <a:cs typeface="Calibri" pitchFamily="34" charset="-120"/>
              </a:rPr>
              <a:t>Adversarial scanning (red_team scenario / AI Red Teaming Agent) probes safety; evaluators score cooperative traffic. You need both.</a:t>
            </a:r>
            <a:endParaRPr lang="en-US" sz="1050" dirty="0"/>
          </a:p>
        </p:txBody>
      </p:sp>
      <p:sp>
        <p:nvSpPr>
          <p:cNvPr id="12" name="Shape 8"/>
          <p:cNvSpPr/>
          <p:nvPr/>
        </p:nvSpPr>
        <p:spPr>
          <a:xfrm>
            <a:off x="548640" y="2761488"/>
            <a:ext cx="457200" cy="457200"/>
          </a:xfrm>
          <a:prstGeom prst="ellipse">
            <a:avLst/>
          </a:prstGeom>
          <a:solidFill>
            <a:srgbClr val="1E2761"/>
          </a:solidFill>
          <a:ln/>
        </p:spPr>
        <p:txBody>
          <a:bodyPr/>
          <a:lstStyle/>
          <a:p>
            <a:endParaRPr lang="en-GB"/>
          </a:p>
        </p:txBody>
      </p:sp>
      <p:pic>
        <p:nvPicPr>
          <p:cNvPr id="13" name="Image 2" descr="preencoded.png"/>
          <p:cNvPicPr>
            <a:picLocks noChangeAspect="1"/>
          </p:cNvPicPr>
          <p:nvPr/>
        </p:nvPicPr>
        <p:blipFill>
          <a:blip r:embed="rId5"/>
          <a:stretch>
            <a:fillRect/>
          </a:stretch>
        </p:blipFill>
        <p:spPr>
          <a:xfrm>
            <a:off x="667512" y="2880360"/>
            <a:ext cx="219456" cy="219456"/>
          </a:xfrm>
          <a:prstGeom prst="rect">
            <a:avLst/>
          </a:prstGeom>
        </p:spPr>
      </p:pic>
      <p:sp>
        <p:nvSpPr>
          <p:cNvPr id="14" name="Text 9"/>
          <p:cNvSpPr/>
          <p:nvPr/>
        </p:nvSpPr>
        <p:spPr>
          <a:xfrm>
            <a:off x="1188720" y="2770632"/>
            <a:ext cx="1828800" cy="41148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Agent Optimizer</a:t>
            </a:r>
            <a:endParaRPr lang="en-US" sz="1350" dirty="0"/>
          </a:p>
        </p:txBody>
      </p:sp>
      <p:sp>
        <p:nvSpPr>
          <p:cNvPr id="15" name="Text 10"/>
          <p:cNvSpPr/>
          <p:nvPr/>
        </p:nvSpPr>
        <p:spPr>
          <a:xfrm>
            <a:off x="3063240" y="2734056"/>
            <a:ext cx="5577840" cy="658368"/>
          </a:xfrm>
          <a:prstGeom prst="rect">
            <a:avLst/>
          </a:prstGeom>
          <a:noFill/>
          <a:ln/>
        </p:spPr>
        <p:txBody>
          <a:bodyPr wrap="square" lIns="0" tIns="0" rIns="0" bIns="0" rtlCol="0" anchor="ctr"/>
          <a:lstStyle/>
          <a:p>
            <a:pPr marL="0" indent="0">
              <a:buNone/>
            </a:pPr>
            <a:r>
              <a:rPr lang="en-US" sz="1050" dirty="0">
                <a:solidFill>
                  <a:srgbClr val="20263F"/>
                </a:solidFill>
                <a:latin typeface="Calibri" pitchFamily="34" charset="0"/>
                <a:ea typeface="Calibri" pitchFamily="34" charset="-122"/>
                <a:cs typeface="Calibri" pitchFamily="34" charset="-120"/>
              </a:rPr>
              <a:t>Traces + eval results (incl. Rubric output) become ranked, evidence-backed, reviewable improvement proposals. Failures become the next version.</a:t>
            </a:r>
            <a:endParaRPr lang="en-US" sz="1050" dirty="0"/>
          </a:p>
        </p:txBody>
      </p:sp>
      <p:sp>
        <p:nvSpPr>
          <p:cNvPr id="16" name="Shape 11"/>
          <p:cNvSpPr/>
          <p:nvPr/>
        </p:nvSpPr>
        <p:spPr>
          <a:xfrm>
            <a:off x="548640" y="3456432"/>
            <a:ext cx="457200" cy="457200"/>
          </a:xfrm>
          <a:prstGeom prst="ellipse">
            <a:avLst/>
          </a:prstGeom>
          <a:solidFill>
            <a:srgbClr val="1E2761"/>
          </a:solidFill>
          <a:ln/>
        </p:spPr>
        <p:txBody>
          <a:bodyPr/>
          <a:lstStyle/>
          <a:p>
            <a:endParaRPr lang="en-GB"/>
          </a:p>
        </p:txBody>
      </p:sp>
      <p:pic>
        <p:nvPicPr>
          <p:cNvPr id="17" name="Image 3" descr="preencoded.png"/>
          <p:cNvPicPr>
            <a:picLocks noChangeAspect="1"/>
          </p:cNvPicPr>
          <p:nvPr/>
        </p:nvPicPr>
        <p:blipFill>
          <a:blip r:embed="rId6"/>
          <a:stretch>
            <a:fillRect/>
          </a:stretch>
        </p:blipFill>
        <p:spPr>
          <a:xfrm>
            <a:off x="667512" y="3575304"/>
            <a:ext cx="219456" cy="219456"/>
          </a:xfrm>
          <a:prstGeom prst="rect">
            <a:avLst/>
          </a:prstGeom>
        </p:spPr>
      </p:pic>
      <p:sp>
        <p:nvSpPr>
          <p:cNvPr id="18" name="Text 12"/>
          <p:cNvSpPr/>
          <p:nvPr/>
        </p:nvSpPr>
        <p:spPr>
          <a:xfrm>
            <a:off x="1188720" y="3465576"/>
            <a:ext cx="1828800" cy="41148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Data protection</a:t>
            </a:r>
            <a:endParaRPr lang="en-US" sz="1350" dirty="0"/>
          </a:p>
        </p:txBody>
      </p:sp>
      <p:sp>
        <p:nvSpPr>
          <p:cNvPr id="19" name="Text 13"/>
          <p:cNvSpPr/>
          <p:nvPr/>
        </p:nvSpPr>
        <p:spPr>
          <a:xfrm>
            <a:off x="3063240" y="3429000"/>
            <a:ext cx="5577840" cy="658368"/>
          </a:xfrm>
          <a:prstGeom prst="rect">
            <a:avLst/>
          </a:prstGeom>
          <a:noFill/>
          <a:ln/>
        </p:spPr>
        <p:txBody>
          <a:bodyPr wrap="square" lIns="0" tIns="0" rIns="0" bIns="0" rtlCol="0" anchor="ctr"/>
          <a:lstStyle/>
          <a:p>
            <a:pPr marL="0" indent="0">
              <a:buNone/>
            </a:pPr>
            <a:r>
              <a:rPr lang="en-US" sz="1050" dirty="0">
                <a:solidFill>
                  <a:srgbClr val="20263F"/>
                </a:solidFill>
                <a:latin typeface="Calibri" pitchFamily="34" charset="0"/>
                <a:ea typeface="Calibri" pitchFamily="34" charset="-122"/>
                <a:cs typeface="Calibri" pitchFamily="34" charset="-120"/>
              </a:rPr>
              <a:t>Purview-grade runtime DLP inside agent interactions (preview) joins evaluation in the inner loop.</a:t>
            </a:r>
            <a:endParaRPr lang="en-US" sz="1050" dirty="0"/>
          </a:p>
        </p:txBody>
      </p:sp>
      <p:sp>
        <p:nvSpPr>
          <p:cNvPr id="20" name="Shape 14"/>
          <p:cNvSpPr/>
          <p:nvPr/>
        </p:nvSpPr>
        <p:spPr>
          <a:xfrm>
            <a:off x="548640" y="4151376"/>
            <a:ext cx="457200" cy="457200"/>
          </a:xfrm>
          <a:prstGeom prst="ellipse">
            <a:avLst/>
          </a:prstGeom>
          <a:solidFill>
            <a:srgbClr val="1E2761"/>
          </a:solidFill>
          <a:ln/>
        </p:spPr>
        <p:txBody>
          <a:bodyPr/>
          <a:lstStyle/>
          <a:p>
            <a:endParaRPr lang="en-GB"/>
          </a:p>
        </p:txBody>
      </p:sp>
      <p:pic>
        <p:nvPicPr>
          <p:cNvPr id="21" name="Image 4" descr="preencoded.png"/>
          <p:cNvPicPr>
            <a:picLocks noChangeAspect="1"/>
          </p:cNvPicPr>
          <p:nvPr/>
        </p:nvPicPr>
        <p:blipFill>
          <a:blip r:embed="rId7"/>
          <a:stretch>
            <a:fillRect/>
          </a:stretch>
        </p:blipFill>
        <p:spPr>
          <a:xfrm>
            <a:off x="667512" y="4270248"/>
            <a:ext cx="219456" cy="219456"/>
          </a:xfrm>
          <a:prstGeom prst="rect">
            <a:avLst/>
          </a:prstGeom>
        </p:spPr>
      </p:pic>
      <p:sp>
        <p:nvSpPr>
          <p:cNvPr id="22" name="Text 15"/>
          <p:cNvSpPr/>
          <p:nvPr/>
        </p:nvSpPr>
        <p:spPr>
          <a:xfrm>
            <a:off x="1188720" y="4160520"/>
            <a:ext cx="1828800" cy="41148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Governance layer</a:t>
            </a:r>
            <a:endParaRPr lang="en-US" sz="1350" dirty="0"/>
          </a:p>
        </p:txBody>
      </p:sp>
      <p:sp>
        <p:nvSpPr>
          <p:cNvPr id="23" name="Text 16"/>
          <p:cNvSpPr/>
          <p:nvPr/>
        </p:nvSpPr>
        <p:spPr>
          <a:xfrm>
            <a:off x="3063240" y="4123944"/>
            <a:ext cx="5577840" cy="658368"/>
          </a:xfrm>
          <a:prstGeom prst="rect">
            <a:avLst/>
          </a:prstGeom>
          <a:noFill/>
          <a:ln/>
        </p:spPr>
        <p:txBody>
          <a:bodyPr wrap="square" lIns="0" tIns="0" rIns="0" bIns="0" rtlCol="0" anchor="ctr"/>
          <a:lstStyle/>
          <a:p>
            <a:pPr marL="0" indent="0">
              <a:buNone/>
            </a:pPr>
            <a:r>
              <a:rPr lang="en-US" sz="1050" dirty="0">
                <a:solidFill>
                  <a:srgbClr val="20263F"/>
                </a:solidFill>
                <a:latin typeface="Calibri" pitchFamily="34" charset="0"/>
                <a:ea typeface="Calibri" pitchFamily="34" charset="-122"/>
                <a:cs typeface="Calibri" pitchFamily="34" charset="-120"/>
              </a:rPr>
              <a:t>Foundry Control Plane: agent inventory + cost attribution. If you run Agent 365 org-wide: it governs — Foundry evaluations are the quality signal feeding it.</a:t>
            </a:r>
            <a:endParaRPr lang="en-US" sz="105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02920" y="274320"/>
            <a:ext cx="8138160" cy="274320"/>
          </a:xfrm>
          <a:prstGeom prst="rect">
            <a:avLst/>
          </a:prstGeom>
          <a:noFill/>
          <a:ln/>
        </p:spPr>
        <p:txBody>
          <a:bodyPr wrap="square" lIns="0" tIns="0" rIns="0" bIns="0" rtlCol="0" anchor="ctr"/>
          <a:lstStyle/>
          <a:p>
            <a:pPr marL="0" indent="0">
              <a:buNone/>
            </a:pPr>
            <a:r>
              <a:rPr lang="en-US" sz="1100" b="1" kern="0" spc="300" dirty="0">
                <a:solidFill>
                  <a:srgbClr val="5A6378"/>
                </a:solidFill>
                <a:latin typeface="Calibri" pitchFamily="34" charset="0"/>
                <a:ea typeface="Calibri" pitchFamily="34" charset="-122"/>
                <a:cs typeface="Calibri" pitchFamily="34" charset="-120"/>
              </a:rPr>
              <a:t>OPTIONAL LAB · MODEL MIGRATION</a:t>
            </a:r>
            <a:endParaRPr lang="en-US" sz="1100" dirty="0"/>
          </a:p>
        </p:txBody>
      </p:sp>
      <p:sp>
        <p:nvSpPr>
          <p:cNvPr id="3" name="Text 1"/>
          <p:cNvSpPr/>
          <p:nvPr/>
        </p:nvSpPr>
        <p:spPr>
          <a:xfrm>
            <a:off x="502920" y="530352"/>
            <a:ext cx="8138160" cy="68580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Incumbent vs. candidate: evidence before promotion</a:t>
            </a:r>
            <a:endParaRPr lang="en-US" sz="3000" dirty="0"/>
          </a:p>
        </p:txBody>
      </p:sp>
      <p:sp>
        <p:nvSpPr>
          <p:cNvPr id="4" name="Shape 2"/>
          <p:cNvSpPr/>
          <p:nvPr/>
        </p:nvSpPr>
        <p:spPr>
          <a:xfrm>
            <a:off x="548640" y="1371600"/>
            <a:ext cx="457200" cy="457200"/>
          </a:xfrm>
          <a:prstGeom prst="ellipse">
            <a:avLst/>
          </a:prstGeom>
          <a:solidFill>
            <a:srgbClr val="1E2761"/>
          </a:solidFill>
          <a:ln/>
        </p:spPr>
        <p:txBody>
          <a:bodyPr/>
          <a:lstStyle/>
          <a:p>
            <a:endParaRPr lang="en-GB"/>
          </a:p>
        </p:txBody>
      </p:sp>
      <p:sp>
        <p:nvSpPr>
          <p:cNvPr id="6" name="Text 3"/>
          <p:cNvSpPr/>
          <p:nvPr/>
        </p:nvSpPr>
        <p:spPr>
          <a:xfrm>
            <a:off x="1188720" y="1380744"/>
            <a:ext cx="1828800" cy="41148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1. Version</a:t>
            </a:r>
            <a:endParaRPr lang="en-US" sz="1350" dirty="0"/>
          </a:p>
        </p:txBody>
      </p:sp>
      <p:sp>
        <p:nvSpPr>
          <p:cNvPr id="7" name="Text 4"/>
          <p:cNvSpPr/>
          <p:nvPr/>
        </p:nvSpPr>
        <p:spPr>
          <a:xfrm>
            <a:off x="3063240" y="1344168"/>
            <a:ext cx="5577840" cy="658368"/>
          </a:xfrm>
          <a:prstGeom prst="rect">
            <a:avLst/>
          </a:prstGeom>
          <a:noFill/>
          <a:ln/>
        </p:spPr>
        <p:txBody>
          <a:bodyPr wrap="square" lIns="0" tIns="0" rIns="0" bIns="0" rtlCol="0" anchor="ctr"/>
          <a:lstStyle/>
          <a:p>
            <a:pPr marL="0" indent="0">
              <a:buNone/>
            </a:pPr>
            <a:r>
              <a:rPr lang="en-US" sz="1050" dirty="0">
                <a:solidFill>
                  <a:srgbClr val="20263F"/>
                </a:solidFill>
                <a:latin typeface="Calibri" pitchFamily="34" charset="0"/>
                <a:ea typeface="Calibri" pitchFamily="34" charset="-122"/>
                <a:cs typeface="Calibri" pitchFamily="34" charset="-120"/>
              </a:rPr>
              <a:t>Create two versions under one agent name — different model deployments, or a clearly labelled prompt rehearsal.</a:t>
            </a:r>
            <a:endParaRPr lang="en-US" sz="1050" dirty="0"/>
          </a:p>
        </p:txBody>
      </p:sp>
      <p:sp>
        <p:nvSpPr>
          <p:cNvPr id="8" name="Shape 5"/>
          <p:cNvSpPr/>
          <p:nvPr/>
        </p:nvSpPr>
        <p:spPr>
          <a:xfrm>
            <a:off x="548640" y="2066544"/>
            <a:ext cx="457200" cy="457200"/>
          </a:xfrm>
          <a:prstGeom prst="ellipse">
            <a:avLst/>
          </a:prstGeom>
          <a:solidFill>
            <a:srgbClr val="1E2761"/>
          </a:solidFill>
          <a:ln/>
        </p:spPr>
        <p:txBody>
          <a:bodyPr/>
          <a:lstStyle/>
          <a:p>
            <a:endParaRPr lang="en-GB"/>
          </a:p>
        </p:txBody>
      </p:sp>
      <p:sp>
        <p:nvSpPr>
          <p:cNvPr id="10" name="Text 6"/>
          <p:cNvSpPr/>
          <p:nvPr/>
        </p:nvSpPr>
        <p:spPr>
          <a:xfrm>
            <a:off x="1188720" y="2075688"/>
            <a:ext cx="1828800" cy="41148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2. Execute</a:t>
            </a:r>
            <a:endParaRPr lang="en-US" sz="1350" dirty="0"/>
          </a:p>
        </p:txBody>
      </p:sp>
      <p:sp>
        <p:nvSpPr>
          <p:cNvPr id="11" name="Text 7"/>
          <p:cNvSpPr/>
          <p:nvPr/>
        </p:nvSpPr>
        <p:spPr>
          <a:xfrm>
            <a:off x="3063240" y="2039112"/>
            <a:ext cx="5577840" cy="658368"/>
          </a:xfrm>
          <a:prstGeom prst="rect">
            <a:avLst/>
          </a:prstGeom>
          <a:noFill/>
          <a:ln/>
        </p:spPr>
        <p:txBody>
          <a:bodyPr wrap="square" lIns="0" tIns="0" rIns="0" bIns="0" rtlCol="0" anchor="ctr"/>
          <a:lstStyle/>
          <a:p>
            <a:pPr marL="0" indent="0">
              <a:buNone/>
            </a:pPr>
            <a:r>
              <a:rPr lang="en-US" sz="1050" dirty="0">
                <a:solidFill>
                  <a:srgbClr val="20263F"/>
                </a:solidFill>
                <a:latin typeface="Calibri" pitchFamily="34" charset="0"/>
                <a:ea typeface="Calibri" pitchFamily="34" charset="-122"/>
                <a:cs typeface="Calibri" pitchFamily="34" charset="-120"/>
              </a:rPr>
              <a:t>Run both versions against the same reviewed dataset; preserve stable case IDs and generated response lineage.</a:t>
            </a:r>
            <a:endParaRPr lang="en-US" sz="1050" dirty="0"/>
          </a:p>
        </p:txBody>
      </p:sp>
      <p:sp>
        <p:nvSpPr>
          <p:cNvPr id="12" name="Shape 8"/>
          <p:cNvSpPr/>
          <p:nvPr/>
        </p:nvSpPr>
        <p:spPr>
          <a:xfrm>
            <a:off x="548640" y="2761488"/>
            <a:ext cx="457200" cy="457200"/>
          </a:xfrm>
          <a:prstGeom prst="ellipse">
            <a:avLst/>
          </a:prstGeom>
          <a:solidFill>
            <a:srgbClr val="1E2761"/>
          </a:solidFill>
          <a:ln/>
        </p:spPr>
        <p:txBody>
          <a:bodyPr/>
          <a:lstStyle/>
          <a:p>
            <a:endParaRPr lang="en-GB"/>
          </a:p>
        </p:txBody>
      </p:sp>
      <p:sp>
        <p:nvSpPr>
          <p:cNvPr id="14" name="Text 9"/>
          <p:cNvSpPr/>
          <p:nvPr/>
        </p:nvSpPr>
        <p:spPr>
          <a:xfrm>
            <a:off x="1188720" y="2770632"/>
            <a:ext cx="1828800" cy="41148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3. Contract</a:t>
            </a:r>
            <a:endParaRPr lang="en-US" sz="1350" dirty="0"/>
          </a:p>
        </p:txBody>
      </p:sp>
      <p:sp>
        <p:nvSpPr>
          <p:cNvPr id="15" name="Text 10"/>
          <p:cNvSpPr/>
          <p:nvPr/>
        </p:nvSpPr>
        <p:spPr>
          <a:xfrm>
            <a:off x="3063240" y="2734056"/>
            <a:ext cx="5577840" cy="658368"/>
          </a:xfrm>
          <a:prstGeom prst="rect">
            <a:avLst/>
          </a:prstGeom>
          <a:noFill/>
          <a:ln/>
        </p:spPr>
        <p:txBody>
          <a:bodyPr wrap="square" lIns="0" tIns="0" rIns="0" bIns="0" rtlCol="0" anchor="ctr"/>
          <a:lstStyle/>
          <a:p>
            <a:pPr marL="0" indent="0">
              <a:buNone/>
            </a:pPr>
            <a:r>
              <a:rPr lang="en-US" sz="1050" dirty="0">
                <a:solidFill>
                  <a:srgbClr val="20263F"/>
                </a:solidFill>
                <a:latin typeface="Calibri" pitchFamily="34" charset="0"/>
                <a:ea typeface="Calibri" pitchFamily="34" charset="-122"/>
                <a:cs typeface="Calibri" pitchFamily="34" charset="-120"/>
              </a:rPr>
              <a:t>check_contracts.py must pass for tool names, arguments, schemas, expected calls, and no-tool cohorts.</a:t>
            </a:r>
            <a:endParaRPr lang="en-US" sz="1050" dirty="0"/>
          </a:p>
        </p:txBody>
      </p:sp>
      <p:sp>
        <p:nvSpPr>
          <p:cNvPr id="16" name="Shape 11"/>
          <p:cNvSpPr/>
          <p:nvPr/>
        </p:nvSpPr>
        <p:spPr>
          <a:xfrm>
            <a:off x="548640" y="3456432"/>
            <a:ext cx="457200" cy="457200"/>
          </a:xfrm>
          <a:prstGeom prst="ellipse">
            <a:avLst/>
          </a:prstGeom>
          <a:solidFill>
            <a:srgbClr val="1E2761"/>
          </a:solidFill>
          <a:ln/>
        </p:spPr>
        <p:txBody>
          <a:bodyPr/>
          <a:lstStyle/>
          <a:p>
            <a:endParaRPr lang="en-GB"/>
          </a:p>
        </p:txBody>
      </p:sp>
      <p:sp>
        <p:nvSpPr>
          <p:cNvPr id="18" name="Text 12"/>
          <p:cNvSpPr/>
          <p:nvPr/>
        </p:nvSpPr>
        <p:spPr>
          <a:xfrm>
            <a:off x="1188720" y="3465576"/>
            <a:ext cx="1828800" cy="41148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4. Compare</a:t>
            </a:r>
            <a:endParaRPr lang="en-US" sz="1350" dirty="0"/>
          </a:p>
        </p:txBody>
      </p:sp>
      <p:sp>
        <p:nvSpPr>
          <p:cNvPr id="19" name="Text 13"/>
          <p:cNvSpPr/>
          <p:nvPr/>
        </p:nvSpPr>
        <p:spPr>
          <a:xfrm>
            <a:off x="3063240" y="3429000"/>
            <a:ext cx="5577840" cy="658368"/>
          </a:xfrm>
          <a:prstGeom prst="rect">
            <a:avLst/>
          </a:prstGeom>
          <a:noFill/>
          <a:ln/>
        </p:spPr>
        <p:txBody>
          <a:bodyPr wrap="square" lIns="0" tIns="0" rIns="0" bIns="0" rtlCol="0" anchor="ctr"/>
          <a:lstStyle/>
          <a:p>
            <a:pPr marL="0" indent="0">
              <a:buNone/>
            </a:pPr>
            <a:r>
              <a:rPr lang="en-US" sz="1050" dirty="0">
                <a:solidFill>
                  <a:srgbClr val="20263F"/>
                </a:solidFill>
                <a:latin typeface="Calibri" pitchFamily="34" charset="0"/>
                <a:ea typeface="Calibri" pitchFamily="34" charset="-122"/>
                <a:cs typeface="Calibri" pitchFamily="34" charset="-120"/>
              </a:rPr>
              <a:t>Score both runs in one Foundry evaluation group; inspect confidence intervals, pairwise results, and regressed rows.</a:t>
            </a:r>
            <a:endParaRPr lang="en-US" sz="1050" dirty="0"/>
          </a:p>
        </p:txBody>
      </p:sp>
      <p:sp>
        <p:nvSpPr>
          <p:cNvPr id="20" name="Shape 14"/>
          <p:cNvSpPr/>
          <p:nvPr/>
        </p:nvSpPr>
        <p:spPr>
          <a:xfrm>
            <a:off x="548640" y="4151376"/>
            <a:ext cx="457200" cy="457200"/>
          </a:xfrm>
          <a:prstGeom prst="ellipse">
            <a:avLst/>
          </a:prstGeom>
          <a:solidFill>
            <a:srgbClr val="1E2761"/>
          </a:solidFill>
          <a:ln/>
        </p:spPr>
        <p:txBody>
          <a:bodyPr/>
          <a:lstStyle/>
          <a:p>
            <a:endParaRPr lang="en-GB"/>
          </a:p>
        </p:txBody>
      </p:sp>
      <p:sp>
        <p:nvSpPr>
          <p:cNvPr id="22" name="Text 15"/>
          <p:cNvSpPr/>
          <p:nvPr/>
        </p:nvSpPr>
        <p:spPr>
          <a:xfrm>
            <a:off x="1188720" y="4160520"/>
            <a:ext cx="1828800" cy="41148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5. Decide</a:t>
            </a:r>
            <a:endParaRPr lang="en-US" sz="1350" dirty="0"/>
          </a:p>
        </p:txBody>
      </p:sp>
      <p:sp>
        <p:nvSpPr>
          <p:cNvPr id="23" name="Text 16"/>
          <p:cNvSpPr/>
          <p:nvPr/>
        </p:nvSpPr>
        <p:spPr>
          <a:xfrm>
            <a:off x="3063240" y="4123944"/>
            <a:ext cx="5577840" cy="658368"/>
          </a:xfrm>
          <a:prstGeom prst="rect">
            <a:avLst/>
          </a:prstGeom>
          <a:noFill/>
          <a:ln/>
        </p:spPr>
        <p:txBody>
          <a:bodyPr wrap="square" lIns="0" tIns="0" rIns="0" bIns="0" rtlCol="0" anchor="ctr"/>
          <a:lstStyle/>
          <a:p>
            <a:pPr marL="0" indent="0">
              <a:buNone/>
            </a:pPr>
            <a:r>
              <a:rPr lang="en-US" sz="1050" dirty="0">
                <a:solidFill>
                  <a:srgbClr val="20263F"/>
                </a:solidFill>
                <a:latin typeface="Calibri" pitchFamily="34" charset="0"/>
                <a:ea typeface="Calibri" pitchFamily="34" charset="-122"/>
                <a:cs typeface="Calibri" pitchFamily="34" charset="-120"/>
              </a:rPr>
              <a:t>eval_gate.py enforces safety, quality, cohort, and provenance policy. Promotion remains manual and reviewed.</a:t>
            </a:r>
            <a:endParaRPr lang="en-US" sz="1050" dirty="0"/>
          </a:p>
        </p:txBody>
      </p:sp>
      <p:pic>
        <p:nvPicPr>
          <p:cNvPr id="24" name="Picture 23" descr="image.png"/>
          <p:cNvPicPr>
            <a:picLocks noChangeAspect="1"/>
          </p:cNvPicPr>
          <p:nvPr/>
        </p:nvPicPr>
        <p:blipFill>
          <a:blip r:embed="rId3"/>
          <a:stretch>
            <a:fillRect/>
          </a:stretch>
        </p:blipFill>
        <p:spPr>
          <a:xfrm>
            <a:off x="667512" y="1490472"/>
            <a:ext cx="219456" cy="219456"/>
          </a:xfrm>
          <a:prstGeom prst="rect">
            <a:avLst/>
          </a:prstGeom>
        </p:spPr>
      </p:pic>
      <p:pic>
        <p:nvPicPr>
          <p:cNvPr id="25" name="Picture 24" descr="image.png"/>
          <p:cNvPicPr>
            <a:picLocks noChangeAspect="1"/>
          </p:cNvPicPr>
          <p:nvPr/>
        </p:nvPicPr>
        <p:blipFill>
          <a:blip r:embed="rId4"/>
          <a:stretch>
            <a:fillRect/>
          </a:stretch>
        </p:blipFill>
        <p:spPr>
          <a:xfrm>
            <a:off x="667512" y="2185416"/>
            <a:ext cx="219456" cy="219456"/>
          </a:xfrm>
          <a:prstGeom prst="rect">
            <a:avLst/>
          </a:prstGeom>
        </p:spPr>
      </p:pic>
      <p:pic>
        <p:nvPicPr>
          <p:cNvPr id="26" name="Picture 25" descr="image.png"/>
          <p:cNvPicPr>
            <a:picLocks noChangeAspect="1"/>
          </p:cNvPicPr>
          <p:nvPr/>
        </p:nvPicPr>
        <p:blipFill>
          <a:blip r:embed="rId5"/>
          <a:stretch>
            <a:fillRect/>
          </a:stretch>
        </p:blipFill>
        <p:spPr>
          <a:xfrm>
            <a:off x="667512" y="2880360"/>
            <a:ext cx="219456" cy="219456"/>
          </a:xfrm>
          <a:prstGeom prst="rect">
            <a:avLst/>
          </a:prstGeom>
        </p:spPr>
      </p:pic>
      <p:pic>
        <p:nvPicPr>
          <p:cNvPr id="27" name="Picture 26" descr="image.png"/>
          <p:cNvPicPr>
            <a:picLocks noChangeAspect="1"/>
          </p:cNvPicPr>
          <p:nvPr/>
        </p:nvPicPr>
        <p:blipFill>
          <a:blip r:embed="rId6"/>
          <a:stretch>
            <a:fillRect/>
          </a:stretch>
        </p:blipFill>
        <p:spPr>
          <a:xfrm>
            <a:off x="667512" y="3575304"/>
            <a:ext cx="219456" cy="219456"/>
          </a:xfrm>
          <a:prstGeom prst="rect">
            <a:avLst/>
          </a:prstGeom>
        </p:spPr>
      </p:pic>
      <p:pic>
        <p:nvPicPr>
          <p:cNvPr id="28" name="Picture 27" descr="image.png"/>
          <p:cNvPicPr>
            <a:picLocks noChangeAspect="1"/>
          </p:cNvPicPr>
          <p:nvPr/>
        </p:nvPicPr>
        <p:blipFill>
          <a:blip r:embed="rId7"/>
          <a:stretch>
            <a:fillRect/>
          </a:stretch>
        </p:blipFill>
        <p:spPr>
          <a:xfrm>
            <a:off x="667512" y="4270248"/>
            <a:ext cx="219456" cy="21945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141B45"/>
        </a:solidFill>
        <a:effectLst/>
      </p:bgPr>
    </p:bg>
    <p:spTree>
      <p:nvGrpSpPr>
        <p:cNvPr id="1" name=""/>
        <p:cNvGrpSpPr/>
        <p:nvPr/>
      </p:nvGrpSpPr>
      <p:grpSpPr>
        <a:xfrm>
          <a:off x="0" y="0"/>
          <a:ext cx="0" cy="0"/>
          <a:chOff x="0" y="0"/>
          <a:chExt cx="0" cy="0"/>
        </a:xfrm>
      </p:grpSpPr>
      <p:sp>
        <p:nvSpPr>
          <p:cNvPr id="2" name="Text 0"/>
          <p:cNvSpPr/>
          <p:nvPr/>
        </p:nvSpPr>
        <p:spPr>
          <a:xfrm>
            <a:off x="640080" y="914400"/>
            <a:ext cx="7863840" cy="292608"/>
          </a:xfrm>
          <a:prstGeom prst="rect">
            <a:avLst/>
          </a:prstGeom>
          <a:noFill/>
          <a:ln/>
        </p:spPr>
        <p:txBody>
          <a:bodyPr wrap="square" lIns="0" tIns="0" rIns="0" bIns="0" rtlCol="0" anchor="ctr"/>
          <a:lstStyle/>
          <a:p>
            <a:pPr marL="0" indent="0">
              <a:buNone/>
            </a:pPr>
            <a:r>
              <a:rPr lang="en-US" sz="1200" b="1" kern="0" spc="400" dirty="0">
                <a:solidFill>
                  <a:srgbClr val="CADCFC"/>
                </a:solidFill>
                <a:latin typeface="Calibri" pitchFamily="34" charset="0"/>
                <a:ea typeface="Calibri" pitchFamily="34" charset="-122"/>
                <a:cs typeface="Calibri" pitchFamily="34" charset="-120"/>
              </a:rPr>
              <a:t>OPTIONAL MODULE · GXP DELIVERY VARIANT</a:t>
            </a:r>
            <a:endParaRPr lang="en-US" sz="1200" dirty="0"/>
          </a:p>
        </p:txBody>
      </p:sp>
      <p:sp>
        <p:nvSpPr>
          <p:cNvPr id="3" name="Text 1"/>
          <p:cNvSpPr/>
          <p:nvPr/>
        </p:nvSpPr>
        <p:spPr>
          <a:xfrm>
            <a:off x="640080" y="1280160"/>
            <a:ext cx="7863840" cy="128016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In GxP, evaluation results are</a:t>
            </a:r>
            <a:endParaRPr lang="en-US" sz="3400" dirty="0"/>
          </a:p>
          <a:p>
            <a:pPr marL="0" indent="0">
              <a:buNone/>
            </a:pPr>
            <a:r>
              <a:rPr lang="en-US" sz="3400" b="1" dirty="0">
                <a:solidFill>
                  <a:srgbClr val="FFFFFF"/>
                </a:solidFill>
                <a:latin typeface="Cambria" pitchFamily="34" charset="0"/>
                <a:ea typeface="Cambria" pitchFamily="34" charset="-122"/>
                <a:cs typeface="Cambria" pitchFamily="34" charset="-120"/>
              </a:rPr>
              <a:t>validation evidence</a:t>
            </a:r>
            <a:endParaRPr lang="en-US" sz="3400" dirty="0"/>
          </a:p>
        </p:txBody>
      </p:sp>
      <p:sp>
        <p:nvSpPr>
          <p:cNvPr id="4" name="Text 2"/>
          <p:cNvSpPr/>
          <p:nvPr/>
        </p:nvSpPr>
        <p:spPr>
          <a:xfrm>
            <a:off x="640080" y="2697480"/>
            <a:ext cx="7863840" cy="320040"/>
          </a:xfrm>
          <a:prstGeom prst="rect">
            <a:avLst/>
          </a:prstGeom>
          <a:noFill/>
          <a:ln/>
        </p:spPr>
        <p:txBody>
          <a:bodyPr wrap="square" lIns="0" tIns="0" rIns="0" bIns="0" rtlCol="0" anchor="ctr"/>
          <a:lstStyle/>
          <a:p>
            <a:pPr marL="0" indent="0">
              <a:buNone/>
            </a:pPr>
            <a:r>
              <a:rPr lang="en-US" sz="1400" i="1" dirty="0">
                <a:solidFill>
                  <a:srgbClr val="CADCFC"/>
                </a:solidFill>
                <a:latin typeface="Calibri" pitchFamily="34" charset="0"/>
                <a:ea typeface="Calibri" pitchFamily="34" charset="-122"/>
                <a:cs typeface="Calibri" pitchFamily="34" charset="-120"/>
              </a:rPr>
              <a:t>The regulator has already made the case for this workshop:</a:t>
            </a:r>
            <a:endParaRPr lang="en-US" sz="1400" dirty="0"/>
          </a:p>
        </p:txBody>
      </p:sp>
      <p:sp>
        <p:nvSpPr>
          <p:cNvPr id="5" name="Text 3"/>
          <p:cNvSpPr/>
          <p:nvPr/>
        </p:nvSpPr>
        <p:spPr>
          <a:xfrm>
            <a:off x="685800" y="3108960"/>
            <a:ext cx="7680960" cy="1645920"/>
          </a:xfrm>
          <a:prstGeom prst="rect">
            <a:avLst/>
          </a:prstGeom>
          <a:noFill/>
          <a:ln/>
        </p:spPr>
        <p:txBody>
          <a:bodyPr wrap="square"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FDA draft guidance (Jan 2025): risk-based 7-step credibility assessment — your evaluation plan IS the credibility plan</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FDA–EMA Guiding Principles of Good AI Practice (Jan 2026): risk-based performance assessment + life-cycle management — one-time validation no longer meets expectations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GAMP 5 (2nd ed.) AI/ML appendix · 21 CFR Part 11 / Annex 11 · ALCOA+ — eval runs, datasets and promotion decisions are electronic records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8138160" cy="274320"/>
          </a:xfrm>
          <a:prstGeom prst="rect">
            <a:avLst/>
          </a:prstGeom>
          <a:noFill/>
          <a:ln/>
        </p:spPr>
        <p:txBody>
          <a:bodyPr wrap="square" lIns="0" tIns="0" rIns="0" bIns="0" rtlCol="0" anchor="ctr"/>
          <a:lstStyle/>
          <a:p>
            <a:pPr marL="0" indent="0">
              <a:buNone/>
            </a:pPr>
            <a:r>
              <a:rPr lang="en-US" sz="1100" b="1" kern="0" spc="300" dirty="0">
                <a:solidFill>
                  <a:srgbClr val="5A6378"/>
                </a:solidFill>
                <a:latin typeface="Calibri" pitchFamily="34" charset="0"/>
                <a:ea typeface="Calibri" pitchFamily="34" charset="-122"/>
                <a:cs typeface="Calibri" pitchFamily="34" charset="-120"/>
              </a:rPr>
              <a:t>GXP VARIANT · THE MAPPING</a:t>
            </a:r>
            <a:endParaRPr lang="en-US" sz="1100" dirty="0"/>
          </a:p>
        </p:txBody>
      </p:sp>
      <p:sp>
        <p:nvSpPr>
          <p:cNvPr id="3" name="Text 1"/>
          <p:cNvSpPr/>
          <p:nvPr/>
        </p:nvSpPr>
        <p:spPr>
          <a:xfrm>
            <a:off x="502920" y="530352"/>
            <a:ext cx="8138160" cy="68580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GxP pillars → Foundry evaluation capabilities</a:t>
            </a:r>
            <a:endParaRPr lang="en-US" sz="3000" dirty="0"/>
          </a:p>
        </p:txBody>
      </p:sp>
      <p:sp>
        <p:nvSpPr>
          <p:cNvPr id="4" name="Shape 2"/>
          <p:cNvSpPr/>
          <p:nvPr/>
        </p:nvSpPr>
        <p:spPr>
          <a:xfrm>
            <a:off x="548640" y="1371600"/>
            <a:ext cx="457200" cy="457200"/>
          </a:xfrm>
          <a:prstGeom prst="ellipse">
            <a:avLst/>
          </a:prstGeom>
          <a:solidFill>
            <a:srgbClr val="1E2761"/>
          </a:solidFill>
          <a:ln/>
        </p:spPr>
        <p:txBody>
          <a:bodyPr/>
          <a:lstStyle/>
          <a:p>
            <a:endParaRPr lang="en-GB"/>
          </a:p>
        </p:txBody>
      </p:sp>
      <p:pic>
        <p:nvPicPr>
          <p:cNvPr id="5" name="Image 0" descr="preencoded.png"/>
          <p:cNvPicPr>
            <a:picLocks noChangeAspect="1"/>
          </p:cNvPicPr>
          <p:nvPr/>
        </p:nvPicPr>
        <p:blipFill>
          <a:blip r:embed="rId3"/>
          <a:stretch>
            <a:fillRect/>
          </a:stretch>
        </p:blipFill>
        <p:spPr>
          <a:xfrm>
            <a:off x="667512" y="1490472"/>
            <a:ext cx="219456" cy="219456"/>
          </a:xfrm>
          <a:prstGeom prst="rect">
            <a:avLst/>
          </a:prstGeom>
        </p:spPr>
      </p:pic>
      <p:sp>
        <p:nvSpPr>
          <p:cNvPr id="6" name="Text 3"/>
          <p:cNvSpPr/>
          <p:nvPr/>
        </p:nvSpPr>
        <p:spPr>
          <a:xfrm>
            <a:off x="1188720" y="1380744"/>
            <a:ext cx="1965960" cy="41148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Validation / PQ</a:t>
            </a:r>
            <a:endParaRPr lang="en-US" sz="1300" dirty="0"/>
          </a:p>
        </p:txBody>
      </p:sp>
      <p:sp>
        <p:nvSpPr>
          <p:cNvPr id="7" name="Text 4"/>
          <p:cNvSpPr/>
          <p:nvPr/>
        </p:nvSpPr>
        <p:spPr>
          <a:xfrm>
            <a:off x="3200400" y="1344168"/>
            <a:ext cx="5440680" cy="658368"/>
          </a:xfrm>
          <a:prstGeom prst="rect">
            <a:avLst/>
          </a:prstGeom>
          <a:noFill/>
          <a:ln/>
        </p:spPr>
        <p:txBody>
          <a:bodyPr wrap="square" lIns="0" tIns="0" rIns="0" bIns="0" rtlCol="0" anchor="ctr"/>
          <a:lstStyle/>
          <a:p>
            <a:pPr marL="0" indent="0">
              <a:buNone/>
            </a:pPr>
            <a:r>
              <a:rPr lang="en-US" sz="1050" dirty="0">
                <a:solidFill>
                  <a:srgbClr val="20263F"/>
                </a:solidFill>
                <a:latin typeface="Calibri" pitchFamily="34" charset="0"/>
                <a:ea typeface="Calibri" pitchFamily="34" charset="-122"/>
                <a:cs typeface="Calibri" pitchFamily="34" charset="-120"/>
              </a:rPr>
              <a:t>The eval suite is the executable PQ protocol; each versioned cloud run is a PQ execution record, persisted in the project as evidence.</a:t>
            </a:r>
            <a:endParaRPr lang="en-US" sz="1050" dirty="0"/>
          </a:p>
        </p:txBody>
      </p:sp>
      <p:sp>
        <p:nvSpPr>
          <p:cNvPr id="8" name="Shape 5"/>
          <p:cNvSpPr/>
          <p:nvPr/>
        </p:nvSpPr>
        <p:spPr>
          <a:xfrm>
            <a:off x="548640" y="2066544"/>
            <a:ext cx="457200" cy="457200"/>
          </a:xfrm>
          <a:prstGeom prst="ellipse">
            <a:avLst/>
          </a:prstGeom>
          <a:solidFill>
            <a:srgbClr val="1E2761"/>
          </a:solidFill>
          <a:ln/>
        </p:spPr>
        <p:txBody>
          <a:bodyPr/>
          <a:lstStyle/>
          <a:p>
            <a:endParaRPr lang="en-GB"/>
          </a:p>
        </p:txBody>
      </p:sp>
      <p:pic>
        <p:nvPicPr>
          <p:cNvPr id="9" name="Image 1" descr="preencoded.png"/>
          <p:cNvPicPr>
            <a:picLocks noChangeAspect="1"/>
          </p:cNvPicPr>
          <p:nvPr/>
        </p:nvPicPr>
        <p:blipFill>
          <a:blip r:embed="rId4"/>
          <a:stretch>
            <a:fillRect/>
          </a:stretch>
        </p:blipFill>
        <p:spPr>
          <a:xfrm>
            <a:off x="667512" y="2185416"/>
            <a:ext cx="219456" cy="219456"/>
          </a:xfrm>
          <a:prstGeom prst="rect">
            <a:avLst/>
          </a:prstGeom>
        </p:spPr>
      </p:pic>
      <p:sp>
        <p:nvSpPr>
          <p:cNvPr id="10" name="Text 6"/>
          <p:cNvSpPr/>
          <p:nvPr/>
        </p:nvSpPr>
        <p:spPr>
          <a:xfrm>
            <a:off x="1188720" y="2075688"/>
            <a:ext cx="1965960" cy="41148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Data integrity (ALCOA+)</a:t>
            </a:r>
            <a:endParaRPr lang="en-US" sz="1300" dirty="0"/>
          </a:p>
        </p:txBody>
      </p:sp>
      <p:sp>
        <p:nvSpPr>
          <p:cNvPr id="11" name="Text 7"/>
          <p:cNvSpPr/>
          <p:nvPr/>
        </p:nvSpPr>
        <p:spPr>
          <a:xfrm>
            <a:off x="3200400" y="2039112"/>
            <a:ext cx="5440680" cy="658368"/>
          </a:xfrm>
          <a:prstGeom prst="rect">
            <a:avLst/>
          </a:prstGeom>
          <a:noFill/>
          <a:ln/>
        </p:spPr>
        <p:txBody>
          <a:bodyPr wrap="square" lIns="0" tIns="0" rIns="0" bIns="0" rtlCol="0" anchor="ctr"/>
          <a:lstStyle/>
          <a:p>
            <a:pPr marL="0" indent="0">
              <a:buNone/>
            </a:pPr>
            <a:r>
              <a:rPr lang="en-US" sz="1050" dirty="0">
                <a:solidFill>
                  <a:srgbClr val="20263F"/>
                </a:solidFill>
                <a:latin typeface="Calibri" pitchFamily="34" charset="0"/>
                <a:ea typeface="Calibri" pitchFamily="34" charset="-122"/>
                <a:cs typeface="Calibri" pitchFamily="34" charset="-120"/>
              </a:rPr>
              <a:t>Runs are attributable (Entra ID), contemporaneous (timestamps), original &amp; complete (results linked to traces), available (portal + export).</a:t>
            </a:r>
            <a:endParaRPr lang="en-US" sz="1050" dirty="0"/>
          </a:p>
        </p:txBody>
      </p:sp>
      <p:sp>
        <p:nvSpPr>
          <p:cNvPr id="12" name="Shape 8"/>
          <p:cNvSpPr/>
          <p:nvPr/>
        </p:nvSpPr>
        <p:spPr>
          <a:xfrm>
            <a:off x="548640" y="2761488"/>
            <a:ext cx="457200" cy="457200"/>
          </a:xfrm>
          <a:prstGeom prst="ellipse">
            <a:avLst/>
          </a:prstGeom>
          <a:solidFill>
            <a:srgbClr val="1E2761"/>
          </a:solidFill>
          <a:ln/>
        </p:spPr>
        <p:txBody>
          <a:bodyPr/>
          <a:lstStyle/>
          <a:p>
            <a:endParaRPr lang="en-GB"/>
          </a:p>
        </p:txBody>
      </p:sp>
      <p:pic>
        <p:nvPicPr>
          <p:cNvPr id="13" name="Image 2" descr="preencoded.png"/>
          <p:cNvPicPr>
            <a:picLocks noChangeAspect="1"/>
          </p:cNvPicPr>
          <p:nvPr/>
        </p:nvPicPr>
        <p:blipFill>
          <a:blip r:embed="rId5"/>
          <a:stretch>
            <a:fillRect/>
          </a:stretch>
        </p:blipFill>
        <p:spPr>
          <a:xfrm>
            <a:off x="667512" y="2880360"/>
            <a:ext cx="219456" cy="219456"/>
          </a:xfrm>
          <a:prstGeom prst="rect">
            <a:avLst/>
          </a:prstGeom>
        </p:spPr>
      </p:pic>
      <p:sp>
        <p:nvSpPr>
          <p:cNvPr id="14" name="Text 9"/>
          <p:cNvSpPr/>
          <p:nvPr/>
        </p:nvSpPr>
        <p:spPr>
          <a:xfrm>
            <a:off x="1188720" y="2770632"/>
            <a:ext cx="1965960" cy="41148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Change control</a:t>
            </a:r>
            <a:endParaRPr lang="en-US" sz="1300" dirty="0"/>
          </a:p>
        </p:txBody>
      </p:sp>
      <p:sp>
        <p:nvSpPr>
          <p:cNvPr id="15" name="Text 10"/>
          <p:cNvSpPr/>
          <p:nvPr/>
        </p:nvSpPr>
        <p:spPr>
          <a:xfrm>
            <a:off x="3200400" y="2734056"/>
            <a:ext cx="5440680" cy="658368"/>
          </a:xfrm>
          <a:prstGeom prst="rect">
            <a:avLst/>
          </a:prstGeom>
          <a:noFill/>
          <a:ln/>
        </p:spPr>
        <p:txBody>
          <a:bodyPr wrap="square" lIns="0" tIns="0" rIns="0" bIns="0" rtlCol="0" anchor="ctr"/>
          <a:lstStyle/>
          <a:p>
            <a:pPr marL="0" indent="0">
              <a:buNone/>
            </a:pPr>
            <a:r>
              <a:rPr lang="en-US" sz="1050" dirty="0">
                <a:solidFill>
                  <a:srgbClr val="20263F"/>
                </a:solidFill>
                <a:latin typeface="Calibri" pitchFamily="34" charset="0"/>
                <a:ea typeface="Calibri" pitchFamily="34" charset="-122"/>
                <a:cs typeface="Calibri" pitchFamily="34" charset="-120"/>
              </a:rPr>
              <a:t>Model/prompt/agent change = controlled change. The CI/CD gate's pairwise statistical comparison is the objective evidence a change record needs.</a:t>
            </a:r>
            <a:endParaRPr lang="en-US" sz="1050" dirty="0"/>
          </a:p>
        </p:txBody>
      </p:sp>
      <p:sp>
        <p:nvSpPr>
          <p:cNvPr id="16" name="Shape 11"/>
          <p:cNvSpPr/>
          <p:nvPr/>
        </p:nvSpPr>
        <p:spPr>
          <a:xfrm>
            <a:off x="548640" y="3456432"/>
            <a:ext cx="457200" cy="457200"/>
          </a:xfrm>
          <a:prstGeom prst="ellipse">
            <a:avLst/>
          </a:prstGeom>
          <a:solidFill>
            <a:srgbClr val="1E2761"/>
          </a:solidFill>
          <a:ln/>
        </p:spPr>
        <p:txBody>
          <a:bodyPr/>
          <a:lstStyle/>
          <a:p>
            <a:endParaRPr lang="en-GB"/>
          </a:p>
        </p:txBody>
      </p:sp>
      <p:pic>
        <p:nvPicPr>
          <p:cNvPr id="17" name="Image 3" descr="preencoded.png"/>
          <p:cNvPicPr>
            <a:picLocks noChangeAspect="1"/>
          </p:cNvPicPr>
          <p:nvPr/>
        </p:nvPicPr>
        <p:blipFill>
          <a:blip r:embed="rId6"/>
          <a:stretch>
            <a:fillRect/>
          </a:stretch>
        </p:blipFill>
        <p:spPr>
          <a:xfrm>
            <a:off x="667512" y="3575304"/>
            <a:ext cx="219456" cy="219456"/>
          </a:xfrm>
          <a:prstGeom prst="rect">
            <a:avLst/>
          </a:prstGeom>
        </p:spPr>
      </p:pic>
      <p:sp>
        <p:nvSpPr>
          <p:cNvPr id="18" name="Text 12"/>
          <p:cNvSpPr/>
          <p:nvPr/>
        </p:nvSpPr>
        <p:spPr>
          <a:xfrm>
            <a:off x="1188720" y="3465576"/>
            <a:ext cx="1965960" cy="41148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CAPA</a:t>
            </a:r>
            <a:endParaRPr lang="en-US" sz="1300" dirty="0"/>
          </a:p>
        </p:txBody>
      </p:sp>
      <p:sp>
        <p:nvSpPr>
          <p:cNvPr id="19" name="Text 13"/>
          <p:cNvSpPr/>
          <p:nvPr/>
        </p:nvSpPr>
        <p:spPr>
          <a:xfrm>
            <a:off x="3200400" y="3429000"/>
            <a:ext cx="5440680" cy="658368"/>
          </a:xfrm>
          <a:prstGeom prst="rect">
            <a:avLst/>
          </a:prstGeom>
          <a:noFill/>
          <a:ln/>
        </p:spPr>
        <p:txBody>
          <a:bodyPr wrap="square" lIns="0" tIns="0" rIns="0" bIns="0" rtlCol="0" anchor="ctr"/>
          <a:lstStyle/>
          <a:p>
            <a:pPr marL="0" indent="0">
              <a:buNone/>
            </a:pPr>
            <a:r>
              <a:rPr lang="en-US" sz="1050" dirty="0">
                <a:solidFill>
                  <a:srgbClr val="20263F"/>
                </a:solidFill>
                <a:latin typeface="Calibri" pitchFamily="34" charset="0"/>
                <a:ea typeface="Calibri" pitchFamily="34" charset="-122"/>
                <a:cs typeface="Calibri" pitchFamily="34" charset="-120"/>
              </a:rPr>
              <a:t>Production eval failures → investigate via eval↔trace linking → Agent Optimizer proposals reviewed and dispositioned by a human. Never auto-applied.</a:t>
            </a:r>
            <a:endParaRPr lang="en-US" sz="1050" dirty="0"/>
          </a:p>
        </p:txBody>
      </p:sp>
      <p:sp>
        <p:nvSpPr>
          <p:cNvPr id="20" name="Shape 14"/>
          <p:cNvSpPr/>
          <p:nvPr/>
        </p:nvSpPr>
        <p:spPr>
          <a:xfrm>
            <a:off x="548640" y="4151376"/>
            <a:ext cx="457200" cy="457200"/>
          </a:xfrm>
          <a:prstGeom prst="ellipse">
            <a:avLst/>
          </a:prstGeom>
          <a:solidFill>
            <a:srgbClr val="1E2761"/>
          </a:solidFill>
          <a:ln/>
        </p:spPr>
        <p:txBody>
          <a:bodyPr/>
          <a:lstStyle/>
          <a:p>
            <a:endParaRPr lang="en-GB"/>
          </a:p>
        </p:txBody>
      </p:sp>
      <p:pic>
        <p:nvPicPr>
          <p:cNvPr id="21" name="Image 4" descr="preencoded.png"/>
          <p:cNvPicPr>
            <a:picLocks noChangeAspect="1"/>
          </p:cNvPicPr>
          <p:nvPr/>
        </p:nvPicPr>
        <p:blipFill>
          <a:blip r:embed="rId7"/>
          <a:stretch>
            <a:fillRect/>
          </a:stretch>
        </p:blipFill>
        <p:spPr>
          <a:xfrm>
            <a:off x="667512" y="4270248"/>
            <a:ext cx="219456" cy="219456"/>
          </a:xfrm>
          <a:prstGeom prst="rect">
            <a:avLst/>
          </a:prstGeom>
        </p:spPr>
      </p:pic>
      <p:sp>
        <p:nvSpPr>
          <p:cNvPr id="22" name="Text 15"/>
          <p:cNvSpPr/>
          <p:nvPr/>
        </p:nvSpPr>
        <p:spPr>
          <a:xfrm>
            <a:off x="1188720" y="4160520"/>
            <a:ext cx="1965960" cy="41148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Lifecycle surveillance</a:t>
            </a:r>
            <a:endParaRPr lang="en-US" sz="1300" dirty="0"/>
          </a:p>
        </p:txBody>
      </p:sp>
      <p:sp>
        <p:nvSpPr>
          <p:cNvPr id="23" name="Text 16"/>
          <p:cNvSpPr/>
          <p:nvPr/>
        </p:nvSpPr>
        <p:spPr>
          <a:xfrm>
            <a:off x="3200400" y="4123944"/>
            <a:ext cx="5440680" cy="658368"/>
          </a:xfrm>
          <a:prstGeom prst="rect">
            <a:avLst/>
          </a:prstGeom>
          <a:noFill/>
          <a:ln/>
        </p:spPr>
        <p:txBody>
          <a:bodyPr wrap="square" lIns="0" tIns="0" rIns="0" bIns="0" rtlCol="0" anchor="ctr"/>
          <a:lstStyle/>
          <a:p>
            <a:pPr marL="0" indent="0">
              <a:buNone/>
            </a:pPr>
            <a:r>
              <a:rPr lang="en-US" sz="1050" dirty="0">
                <a:solidFill>
                  <a:srgbClr val="20263F"/>
                </a:solidFill>
                <a:latin typeface="Calibri" pitchFamily="34" charset="0"/>
                <a:ea typeface="Calibri" pitchFamily="34" charset="-122"/>
                <a:cs typeface="Calibri" pitchFamily="34" charset="-120"/>
              </a:rPr>
              <a:t>Continuous evaluation + Azure Monitor alerting is post-deployment surveillance for the agent — the GPvP logic applied to the system.</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8138160" cy="274320"/>
          </a:xfrm>
          <a:prstGeom prst="rect">
            <a:avLst/>
          </a:prstGeom>
          <a:noFill/>
          <a:ln/>
        </p:spPr>
        <p:txBody>
          <a:bodyPr wrap="square" lIns="0" tIns="0" rIns="0" bIns="0" rtlCol="0" anchor="ctr"/>
          <a:lstStyle/>
          <a:p>
            <a:pPr marL="0" indent="0">
              <a:buNone/>
            </a:pPr>
            <a:r>
              <a:rPr lang="en-US" sz="1100" b="1" kern="0" spc="300" dirty="0">
                <a:solidFill>
                  <a:srgbClr val="5A6378"/>
                </a:solidFill>
                <a:latin typeface="Calibri" pitchFamily="34" charset="0"/>
                <a:ea typeface="Calibri" pitchFamily="34" charset="-122"/>
                <a:cs typeface="Calibri" pitchFamily="34" charset="-120"/>
              </a:rPr>
              <a:t>GXP VARIANT · LAB/GENERATE_SYNTHETIC_DATASET.PY</a:t>
            </a:r>
            <a:endParaRPr lang="en-US" sz="1100" dirty="0"/>
          </a:p>
        </p:txBody>
      </p:sp>
      <p:sp>
        <p:nvSpPr>
          <p:cNvPr id="3" name="Text 1"/>
          <p:cNvSpPr/>
          <p:nvPr/>
        </p:nvSpPr>
        <p:spPr>
          <a:xfrm>
            <a:off x="502920" y="530352"/>
            <a:ext cx="8138160" cy="68580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Synthetic datasets, done compliantly</a:t>
            </a:r>
            <a:endParaRPr lang="en-US" sz="3000" dirty="0"/>
          </a:p>
        </p:txBody>
      </p:sp>
      <p:sp>
        <p:nvSpPr>
          <p:cNvPr id="4" name="Text 2"/>
          <p:cNvSpPr/>
          <p:nvPr/>
        </p:nvSpPr>
        <p:spPr>
          <a:xfrm>
            <a:off x="502920" y="1371600"/>
            <a:ext cx="8138160" cy="548640"/>
          </a:xfrm>
          <a:prstGeom prst="rect">
            <a:avLst/>
          </a:prstGeom>
          <a:noFill/>
          <a:ln/>
        </p:spPr>
        <p:txBody>
          <a:bodyPr wrap="square" lIns="0" tIns="0" rIns="0" bIns="0" rtlCol="0" anchor="ctr"/>
          <a:lstStyle/>
          <a:p>
            <a:pPr marL="0" indent="0">
              <a:buNone/>
            </a:pPr>
            <a:r>
              <a:rPr lang="en-US" sz="1300" dirty="0">
                <a:solidFill>
                  <a:srgbClr val="20263F"/>
                </a:solidFill>
                <a:latin typeface="Calibri" pitchFamily="34" charset="0"/>
                <a:ea typeface="Calibri" pitchFamily="34" charset="-122"/>
                <a:cs typeface="Calibri" pitchFamily="34" charset="-120"/>
              </a:rPr>
              <a:t>Real GxP records carry patient data and process IP — synthetic generation gives designed coverage (edge, refusal, integrity-trap cases) with zero confidentiality exposure.</a:t>
            </a:r>
            <a:endParaRPr lang="en-US" sz="1300" dirty="0"/>
          </a:p>
        </p:txBody>
      </p:sp>
      <p:sp>
        <p:nvSpPr>
          <p:cNvPr id="5" name="Shape 3"/>
          <p:cNvSpPr/>
          <p:nvPr/>
        </p:nvSpPr>
        <p:spPr>
          <a:xfrm>
            <a:off x="502920" y="2148840"/>
            <a:ext cx="1572768" cy="1965960"/>
          </a:xfrm>
          <a:prstGeom prst="roundRect">
            <a:avLst>
              <a:gd name="adj" fmla="val 2907"/>
            </a:avLst>
          </a:prstGeom>
          <a:solidFill>
            <a:srgbClr val="EEF4FE"/>
          </a:solidFill>
          <a:ln/>
          <a:effectLst>
            <a:outerShdw blurRad="88900" dist="25400" dir="2700000" algn="bl" rotWithShape="0">
              <a:srgbClr val="000000">
                <a:alpha val="14000"/>
              </a:srgbClr>
            </a:outerShdw>
          </a:effectLst>
        </p:spPr>
        <p:txBody>
          <a:bodyPr/>
          <a:lstStyle/>
          <a:p>
            <a:endParaRPr lang="en-GB"/>
          </a:p>
        </p:txBody>
      </p:sp>
      <p:sp>
        <p:nvSpPr>
          <p:cNvPr id="6" name="Text 4"/>
          <p:cNvSpPr/>
          <p:nvPr/>
        </p:nvSpPr>
        <p:spPr>
          <a:xfrm>
            <a:off x="612648" y="2286000"/>
            <a:ext cx="1353312" cy="59436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1. Context of use</a:t>
            </a:r>
            <a:endParaRPr lang="en-US" sz="1200" dirty="0"/>
          </a:p>
        </p:txBody>
      </p:sp>
      <p:sp>
        <p:nvSpPr>
          <p:cNvPr id="7" name="Text 5"/>
          <p:cNvSpPr/>
          <p:nvPr/>
        </p:nvSpPr>
        <p:spPr>
          <a:xfrm>
            <a:off x="612648" y="2926080"/>
            <a:ext cx="1353312" cy="1097280"/>
          </a:xfrm>
          <a:prstGeom prst="rect">
            <a:avLst/>
          </a:prstGeom>
          <a:noFill/>
          <a:ln/>
        </p:spPr>
        <p:txBody>
          <a:bodyPr wrap="square" lIns="0" tIns="0" rIns="0" bIns="0" rtlCol="0" anchor="ctr"/>
          <a:lstStyle/>
          <a:p>
            <a:pPr marL="0" indent="0">
              <a:buNone/>
            </a:pPr>
            <a:r>
              <a:rPr lang="en-US" sz="950" dirty="0">
                <a:solidFill>
                  <a:srgbClr val="20263F"/>
                </a:solidFill>
                <a:latin typeface="Calibri" pitchFamily="34" charset="0"/>
                <a:ea typeface="Calibri" pitchFamily="34" charset="-122"/>
                <a:cs typeface="Calibri" pitchFamily="34" charset="-120"/>
              </a:rPr>
              <a:t>Define COU first — the generation prompt derives from it</a:t>
            </a:r>
            <a:endParaRPr lang="en-US" sz="950" dirty="0"/>
          </a:p>
        </p:txBody>
      </p:sp>
      <p:sp>
        <p:nvSpPr>
          <p:cNvPr id="8" name="Shape 6"/>
          <p:cNvSpPr/>
          <p:nvPr/>
        </p:nvSpPr>
        <p:spPr>
          <a:xfrm>
            <a:off x="2185416" y="2148840"/>
            <a:ext cx="1572768" cy="1965960"/>
          </a:xfrm>
          <a:prstGeom prst="roundRect">
            <a:avLst>
              <a:gd name="adj" fmla="val 2907"/>
            </a:avLst>
          </a:prstGeom>
          <a:solidFill>
            <a:srgbClr val="EEF4FE"/>
          </a:solidFill>
          <a:ln/>
          <a:effectLst>
            <a:outerShdw blurRad="88900" dist="25400" dir="2700000" algn="bl" rotWithShape="0">
              <a:srgbClr val="000000">
                <a:alpha val="14000"/>
              </a:srgbClr>
            </a:outerShdw>
          </a:effectLst>
        </p:spPr>
        <p:txBody>
          <a:bodyPr/>
          <a:lstStyle/>
          <a:p>
            <a:endParaRPr lang="en-GB"/>
          </a:p>
        </p:txBody>
      </p:sp>
      <p:sp>
        <p:nvSpPr>
          <p:cNvPr id="9" name="Text 7"/>
          <p:cNvSpPr/>
          <p:nvPr/>
        </p:nvSpPr>
        <p:spPr>
          <a:xfrm>
            <a:off x="2295144" y="2286000"/>
            <a:ext cx="1353312" cy="59436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2. Category matrix</a:t>
            </a:r>
            <a:endParaRPr lang="en-US" sz="1200" dirty="0"/>
          </a:p>
        </p:txBody>
      </p:sp>
      <p:sp>
        <p:nvSpPr>
          <p:cNvPr id="10" name="Text 8"/>
          <p:cNvSpPr/>
          <p:nvPr/>
        </p:nvSpPr>
        <p:spPr>
          <a:xfrm>
            <a:off x="2295144" y="2926080"/>
            <a:ext cx="1353312" cy="1097280"/>
          </a:xfrm>
          <a:prstGeom prst="rect">
            <a:avLst/>
          </a:prstGeom>
          <a:noFill/>
          <a:ln/>
        </p:spPr>
        <p:txBody>
          <a:bodyPr wrap="square" lIns="0" tIns="0" rIns="0" bIns="0" rtlCol="0" anchor="ctr"/>
          <a:lstStyle/>
          <a:p>
            <a:pPr marL="0" indent="0">
              <a:buNone/>
            </a:pPr>
            <a:r>
              <a:rPr lang="en-US" sz="950" dirty="0">
                <a:solidFill>
                  <a:srgbClr val="20263F"/>
                </a:solidFill>
                <a:latin typeface="Calibri" pitchFamily="34" charset="0"/>
                <a:ea typeface="Calibri" pitchFamily="34" charset="-122"/>
                <a:cs typeface="Calibri" pitchFamily="34" charset="-120"/>
              </a:rPr>
              <a:t>Per category, per discipline (--discipline gmp|glp|gcp|gdp): procedural, triage, refusal, integrity traps, injection</a:t>
            </a:r>
            <a:endParaRPr lang="en-US" sz="950" dirty="0"/>
          </a:p>
        </p:txBody>
      </p:sp>
      <p:sp>
        <p:nvSpPr>
          <p:cNvPr id="11" name="Shape 9"/>
          <p:cNvSpPr/>
          <p:nvPr/>
        </p:nvSpPr>
        <p:spPr>
          <a:xfrm>
            <a:off x="3867912" y="2148840"/>
            <a:ext cx="1572768" cy="1965960"/>
          </a:xfrm>
          <a:prstGeom prst="roundRect">
            <a:avLst>
              <a:gd name="adj" fmla="val 2907"/>
            </a:avLst>
          </a:prstGeom>
          <a:solidFill>
            <a:srgbClr val="EEF4FE"/>
          </a:solidFill>
          <a:ln/>
          <a:effectLst>
            <a:outerShdw blurRad="88900" dist="25400" dir="2700000" algn="bl" rotWithShape="0">
              <a:srgbClr val="000000">
                <a:alpha val="14000"/>
              </a:srgbClr>
            </a:outerShdw>
          </a:effectLst>
        </p:spPr>
        <p:txBody>
          <a:bodyPr/>
          <a:lstStyle/>
          <a:p>
            <a:endParaRPr lang="en-GB"/>
          </a:p>
        </p:txBody>
      </p:sp>
      <p:sp>
        <p:nvSpPr>
          <p:cNvPr id="12" name="Text 10"/>
          <p:cNvSpPr/>
          <p:nvPr/>
        </p:nvSpPr>
        <p:spPr>
          <a:xfrm>
            <a:off x="3977640" y="2286000"/>
            <a:ext cx="1353312" cy="59436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3. Provenance</a:t>
            </a:r>
            <a:endParaRPr lang="en-US" sz="1200" dirty="0"/>
          </a:p>
        </p:txBody>
      </p:sp>
      <p:sp>
        <p:nvSpPr>
          <p:cNvPr id="13" name="Text 11"/>
          <p:cNvSpPr/>
          <p:nvPr/>
        </p:nvSpPr>
        <p:spPr>
          <a:xfrm>
            <a:off x="3977640" y="2926080"/>
            <a:ext cx="1353312" cy="1097280"/>
          </a:xfrm>
          <a:prstGeom prst="rect">
            <a:avLst/>
          </a:prstGeom>
          <a:noFill/>
          <a:ln/>
        </p:spPr>
        <p:txBody>
          <a:bodyPr wrap="square" lIns="0" tIns="0" rIns="0" bIns="0" rtlCol="0" anchor="ctr"/>
          <a:lstStyle/>
          <a:p>
            <a:pPr marL="0" indent="0">
              <a:buNone/>
            </a:pPr>
            <a:r>
              <a:rPr lang="en-US" sz="950" dirty="0">
                <a:solidFill>
                  <a:srgbClr val="20263F"/>
                </a:solidFill>
                <a:latin typeface="Calibri" pitchFamily="34" charset="0"/>
                <a:ea typeface="Calibri" pitchFamily="34" charset="-122"/>
                <a:cs typeface="Calibri" pitchFamily="34" charset="-120"/>
              </a:rPr>
              <a:t>Sidecar metadata: generator model, prompt version, timestamp, operator</a:t>
            </a:r>
            <a:endParaRPr lang="en-US" sz="950" dirty="0"/>
          </a:p>
        </p:txBody>
      </p:sp>
      <p:sp>
        <p:nvSpPr>
          <p:cNvPr id="14" name="Shape 12"/>
          <p:cNvSpPr/>
          <p:nvPr/>
        </p:nvSpPr>
        <p:spPr>
          <a:xfrm>
            <a:off x="5550408" y="2148840"/>
            <a:ext cx="1572768" cy="1965960"/>
          </a:xfrm>
          <a:prstGeom prst="roundRect">
            <a:avLst>
              <a:gd name="adj" fmla="val 2907"/>
            </a:avLst>
          </a:prstGeom>
          <a:solidFill>
            <a:srgbClr val="1E2761"/>
          </a:solidFill>
          <a:ln/>
          <a:effectLst>
            <a:outerShdw blurRad="88900" dist="25400" dir="2700000" algn="bl" rotWithShape="0">
              <a:srgbClr val="000000">
                <a:alpha val="14000"/>
              </a:srgbClr>
            </a:outerShdw>
          </a:effectLst>
        </p:spPr>
        <p:txBody>
          <a:bodyPr/>
          <a:lstStyle/>
          <a:p>
            <a:endParaRPr lang="en-GB"/>
          </a:p>
        </p:txBody>
      </p:sp>
      <p:sp>
        <p:nvSpPr>
          <p:cNvPr id="15" name="Text 13"/>
          <p:cNvSpPr/>
          <p:nvPr/>
        </p:nvSpPr>
        <p:spPr>
          <a:xfrm>
            <a:off x="5660136" y="2286000"/>
            <a:ext cx="1353312" cy="59436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4. Human review</a:t>
            </a:r>
            <a:endParaRPr lang="en-US" sz="1200" dirty="0"/>
          </a:p>
        </p:txBody>
      </p:sp>
      <p:sp>
        <p:nvSpPr>
          <p:cNvPr id="16" name="Text 14"/>
          <p:cNvSpPr/>
          <p:nvPr/>
        </p:nvSpPr>
        <p:spPr>
          <a:xfrm>
            <a:off x="5660136" y="2926080"/>
            <a:ext cx="1353312" cy="1097280"/>
          </a:xfrm>
          <a:prstGeom prst="rect">
            <a:avLst/>
          </a:prstGeom>
          <a:noFill/>
          <a:ln/>
        </p:spPr>
        <p:txBody>
          <a:bodyPr wrap="square" lIns="0" tIns="0" rIns="0" bIns="0" rtlCol="0" anchor="ctr"/>
          <a:lstStyle/>
          <a:p>
            <a:pPr marL="0" indent="0">
              <a:buNone/>
            </a:pPr>
            <a:r>
              <a:rPr lang="en-US" sz="950" dirty="0">
                <a:solidFill>
                  <a:srgbClr val="CADCFC"/>
                </a:solidFill>
                <a:latin typeface="Calibri" pitchFamily="34" charset="0"/>
                <a:ea typeface="Calibri" pitchFamily="34" charset="-122"/>
                <a:cs typeface="Calibri" pitchFamily="34" charset="-120"/>
              </a:rPr>
              <a:t>Rows are drafts (review_status: pending) until a qualified reviewer approves</a:t>
            </a:r>
            <a:endParaRPr lang="en-US" sz="950" dirty="0"/>
          </a:p>
        </p:txBody>
      </p:sp>
      <p:sp>
        <p:nvSpPr>
          <p:cNvPr id="17" name="Shape 15"/>
          <p:cNvSpPr/>
          <p:nvPr/>
        </p:nvSpPr>
        <p:spPr>
          <a:xfrm>
            <a:off x="7232904" y="2148840"/>
            <a:ext cx="1572768" cy="1965960"/>
          </a:xfrm>
          <a:prstGeom prst="roundRect">
            <a:avLst>
              <a:gd name="adj" fmla="val 2907"/>
            </a:avLst>
          </a:prstGeom>
          <a:solidFill>
            <a:srgbClr val="EEF4FE"/>
          </a:solidFill>
          <a:ln/>
          <a:effectLst>
            <a:outerShdw blurRad="88900" dist="25400" dir="2700000" algn="bl" rotWithShape="0">
              <a:srgbClr val="000000">
                <a:alpha val="14000"/>
              </a:srgbClr>
            </a:outerShdw>
          </a:effectLst>
        </p:spPr>
        <p:txBody>
          <a:bodyPr/>
          <a:lstStyle/>
          <a:p>
            <a:endParaRPr lang="en-GB"/>
          </a:p>
        </p:txBody>
      </p:sp>
      <p:sp>
        <p:nvSpPr>
          <p:cNvPr id="18" name="Text 16"/>
          <p:cNvSpPr/>
          <p:nvPr/>
        </p:nvSpPr>
        <p:spPr>
          <a:xfrm>
            <a:off x="7342632" y="2286000"/>
            <a:ext cx="1353312" cy="59436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5. Version &amp; freeze</a:t>
            </a:r>
            <a:endParaRPr lang="en-US" sz="1200" dirty="0"/>
          </a:p>
        </p:txBody>
      </p:sp>
      <p:sp>
        <p:nvSpPr>
          <p:cNvPr id="19" name="Text 17"/>
          <p:cNvSpPr/>
          <p:nvPr/>
        </p:nvSpPr>
        <p:spPr>
          <a:xfrm>
            <a:off x="7342632" y="2926080"/>
            <a:ext cx="1353312" cy="1097280"/>
          </a:xfrm>
          <a:prstGeom prst="rect">
            <a:avLst/>
          </a:prstGeom>
          <a:noFill/>
          <a:ln/>
        </p:spPr>
        <p:txBody>
          <a:bodyPr wrap="square" lIns="0" tIns="0" rIns="0" bIns="0" rtlCol="0" anchor="ctr"/>
          <a:lstStyle/>
          <a:p>
            <a:pPr marL="0" indent="0">
              <a:buNone/>
            </a:pPr>
            <a:r>
              <a:rPr lang="en-US" sz="950" dirty="0">
                <a:solidFill>
                  <a:srgbClr val="20263F"/>
                </a:solidFill>
                <a:latin typeface="Calibri" pitchFamily="34" charset="0"/>
                <a:ea typeface="Calibri" pitchFamily="34" charset="-122"/>
                <a:cs typeface="Calibri" pitchFamily="34" charset="-120"/>
              </a:rPr>
              <a:t>Approved dataset = controlled record; a change is a change-control event</a:t>
            </a:r>
            <a:endParaRPr lang="en-US" sz="950" dirty="0"/>
          </a:p>
        </p:txBody>
      </p:sp>
      <p:sp>
        <p:nvSpPr>
          <p:cNvPr id="20" name="Text 18"/>
          <p:cNvSpPr/>
          <p:nvPr/>
        </p:nvSpPr>
        <p:spPr>
          <a:xfrm>
            <a:off x="502920" y="4343400"/>
            <a:ext cx="8138160" cy="320040"/>
          </a:xfrm>
          <a:prstGeom prst="rect">
            <a:avLst/>
          </a:prstGeom>
          <a:noFill/>
          <a:ln/>
        </p:spPr>
        <p:txBody>
          <a:bodyPr wrap="square" lIns="0" tIns="0" rIns="0" bIns="0" rtlCol="0" anchor="ctr"/>
          <a:lstStyle/>
          <a:p>
            <a:pPr marL="0" indent="0" algn="ctr">
              <a:buNone/>
            </a:pPr>
            <a:r>
              <a:rPr lang="en-US" sz="1300" b="1" i="1" dirty="0">
                <a:solidFill>
                  <a:srgbClr val="D4544F"/>
                </a:solidFill>
                <a:latin typeface="Calibri" pitchFamily="34" charset="0"/>
                <a:ea typeface="Calibri" pitchFamily="34" charset="-122"/>
                <a:cs typeface="Calibri" pitchFamily="34" charset="-120"/>
              </a:rPr>
              <a:t>An unreviewed synthetic dataset is a draft — never validation evidence.</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8138160" cy="274320"/>
          </a:xfrm>
          <a:prstGeom prst="rect">
            <a:avLst/>
          </a:prstGeom>
          <a:noFill/>
          <a:ln/>
        </p:spPr>
        <p:txBody>
          <a:bodyPr wrap="square" lIns="0" tIns="0" rIns="0" bIns="0" rtlCol="0" anchor="ctr"/>
          <a:lstStyle/>
          <a:p>
            <a:pPr marL="0" indent="0">
              <a:buNone/>
            </a:pPr>
            <a:r>
              <a:rPr lang="en-US" sz="1100" b="1" kern="0" spc="300" dirty="0">
                <a:solidFill>
                  <a:srgbClr val="5A6378"/>
                </a:solidFill>
                <a:latin typeface="Calibri" pitchFamily="34" charset="0"/>
                <a:ea typeface="Calibri" pitchFamily="34" charset="-122"/>
                <a:cs typeface="Calibri" pitchFamily="34" charset="-120"/>
              </a:rPr>
              <a:t>GXP VARIANT · SCENARIO &amp; LIMITS</a:t>
            </a:r>
            <a:endParaRPr lang="en-US" sz="1100" dirty="0"/>
          </a:p>
        </p:txBody>
      </p:sp>
      <p:sp>
        <p:nvSpPr>
          <p:cNvPr id="3" name="Text 1"/>
          <p:cNvSpPr/>
          <p:nvPr/>
        </p:nvSpPr>
        <p:spPr>
          <a:xfrm>
            <a:off x="502920" y="530352"/>
            <a:ext cx="8138160" cy="68580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The GxP lab: refusals are the main event</a:t>
            </a:r>
            <a:endParaRPr lang="en-US" sz="3000" dirty="0"/>
          </a:p>
        </p:txBody>
      </p:sp>
      <p:sp>
        <p:nvSpPr>
          <p:cNvPr id="4" name="Shape 2"/>
          <p:cNvSpPr/>
          <p:nvPr/>
        </p:nvSpPr>
        <p:spPr>
          <a:xfrm>
            <a:off x="502920" y="1417320"/>
            <a:ext cx="3950208" cy="3246120"/>
          </a:xfrm>
          <a:prstGeom prst="roundRect">
            <a:avLst>
              <a:gd name="adj" fmla="val 1690"/>
            </a:avLst>
          </a:prstGeom>
          <a:solidFill>
            <a:srgbClr val="EEF4FE"/>
          </a:solidFill>
          <a:ln/>
          <a:effectLst>
            <a:outerShdw blurRad="88900" dist="25400" dir="2700000" algn="bl" rotWithShape="0">
              <a:srgbClr val="000000">
                <a:alpha val="14000"/>
              </a:srgbClr>
            </a:outerShdw>
          </a:effectLst>
        </p:spPr>
        <p:txBody>
          <a:bodyPr/>
          <a:lstStyle/>
          <a:p>
            <a:endParaRPr lang="en-GB"/>
          </a:p>
        </p:txBody>
      </p:sp>
      <p:sp>
        <p:nvSpPr>
          <p:cNvPr id="5" name="Shape 3"/>
          <p:cNvSpPr/>
          <p:nvPr/>
        </p:nvSpPr>
        <p:spPr>
          <a:xfrm>
            <a:off x="685800" y="1600200"/>
            <a:ext cx="457200" cy="457200"/>
          </a:xfrm>
          <a:prstGeom prst="ellipse">
            <a:avLst/>
          </a:prstGeom>
          <a:solidFill>
            <a:srgbClr val="1E2761"/>
          </a:solidFill>
          <a:ln/>
        </p:spPr>
        <p:txBody>
          <a:bodyPr/>
          <a:lstStyle/>
          <a:p>
            <a:endParaRPr lang="en-GB"/>
          </a:p>
        </p:txBody>
      </p:sp>
      <p:pic>
        <p:nvPicPr>
          <p:cNvPr id="6" name="Image 0" descr="preencoded.png"/>
          <p:cNvPicPr>
            <a:picLocks noChangeAspect="1"/>
          </p:cNvPicPr>
          <p:nvPr/>
        </p:nvPicPr>
        <p:blipFill>
          <a:blip r:embed="rId3"/>
          <a:stretch>
            <a:fillRect/>
          </a:stretch>
        </p:blipFill>
        <p:spPr>
          <a:xfrm>
            <a:off x="804672" y="1719072"/>
            <a:ext cx="219456" cy="219456"/>
          </a:xfrm>
          <a:prstGeom prst="rect">
            <a:avLst/>
          </a:prstGeom>
        </p:spPr>
      </p:pic>
      <p:sp>
        <p:nvSpPr>
          <p:cNvPr id="7" name="Text 4"/>
          <p:cNvSpPr/>
          <p:nvPr/>
        </p:nvSpPr>
        <p:spPr>
          <a:xfrm>
            <a:off x="1280160" y="1664208"/>
            <a:ext cx="3063240" cy="36576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SOP &amp; deviation-triage assistant</a:t>
            </a:r>
            <a:endParaRPr lang="en-US" sz="1350" dirty="0"/>
          </a:p>
        </p:txBody>
      </p:sp>
      <p:sp>
        <p:nvSpPr>
          <p:cNvPr id="8" name="Text 5"/>
          <p:cNvSpPr/>
          <p:nvPr/>
        </p:nvSpPr>
        <p:spPr>
          <a:xfrm>
            <a:off x="731520" y="2194560"/>
            <a:ext cx="3520440" cy="2377440"/>
          </a:xfrm>
          <a:prstGeom prst="rect">
            <a:avLst/>
          </a:prstGeom>
          <a:noFill/>
          <a:ln/>
        </p:spPr>
        <p:txBody>
          <a:bodyPr wrap="square" rtlCol="0" anchor="ctr"/>
          <a:lstStyle/>
          <a:p>
            <a:pPr marL="342900" indent="-342900">
              <a:spcAft>
                <a:spcPts val="600"/>
              </a:spcAft>
              <a:buSzPct val="100000"/>
              <a:buChar char="•"/>
            </a:pPr>
            <a:r>
              <a:rPr lang="en-US" sz="1100" dirty="0">
                <a:solidFill>
                  <a:srgbClr val="20263F"/>
                </a:solidFill>
                <a:latin typeface="Calibri" pitchFamily="34" charset="0"/>
                <a:ea typeface="Calibri" pitchFamily="34" charset="-122"/>
                <a:cs typeface="Calibri" pitchFamily="34" charset="-120"/>
              </a:rPr>
              <a:t>Answers SOP questions; helps classify deviations — must refuse release decisions, change approvals, and ALCOA+ violations · one of four discipline tracks (next slide)</a:t>
            </a:r>
            <a:endParaRPr lang="en-US" sz="1100" dirty="0"/>
          </a:p>
          <a:p>
            <a:pPr marL="342900" indent="-342900">
              <a:spcAft>
                <a:spcPts val="600"/>
              </a:spcAft>
              <a:buSzPct val="100000"/>
              <a:buChar char="•"/>
            </a:pPr>
            <a:r>
              <a:rPr lang="en-US" sz="1100" dirty="0">
                <a:solidFill>
                  <a:srgbClr val="20263F"/>
                </a:solidFill>
                <a:latin typeface="Calibri" pitchFamily="34" charset="0"/>
                <a:ea typeface="Calibri" pitchFamily="34" charset="-122"/>
                <a:cs typeface="Calibri" pitchFamily="34" charset="-120"/>
              </a:rPr>
              <a:t>Data-integrity traps (“just backdate it”) are the core test — a failure here is a validation failure regardless of answer quality</a:t>
            </a:r>
            <a:endParaRPr lang="en-US" sz="1100" dirty="0"/>
          </a:p>
          <a:p>
            <a:pPr marL="342900" indent="-342900">
              <a:buSzPct val="100000"/>
              <a:buChar char="•"/>
            </a:pPr>
            <a:r>
              <a:rPr lang="en-US" sz="1100" dirty="0">
                <a:solidFill>
                  <a:srgbClr val="20263F"/>
                </a:solidFill>
                <a:latin typeface="Calibri" pitchFamily="34" charset="0"/>
                <a:ea typeface="Calibri" pitchFamily="34" charset="-122"/>
                <a:cs typeface="Calibri" pitchFamily="34" charset="-120"/>
              </a:rPr>
              <a:t>Evaluators: Task Adherence + Intent Resolution + Groundedness + a custom ALCOA+ adherence rubric (Module 3B exercise)</a:t>
            </a:r>
            <a:endParaRPr lang="en-US" sz="1100" dirty="0"/>
          </a:p>
        </p:txBody>
      </p:sp>
      <p:sp>
        <p:nvSpPr>
          <p:cNvPr id="9" name="Shape 6"/>
          <p:cNvSpPr/>
          <p:nvPr/>
        </p:nvSpPr>
        <p:spPr>
          <a:xfrm>
            <a:off x="4690872" y="1417320"/>
            <a:ext cx="3950208" cy="3246120"/>
          </a:xfrm>
          <a:prstGeom prst="roundRect">
            <a:avLst>
              <a:gd name="adj" fmla="val 1690"/>
            </a:avLst>
          </a:prstGeom>
          <a:solidFill>
            <a:srgbClr val="1E2761"/>
          </a:solidFill>
          <a:ln/>
          <a:effectLst>
            <a:outerShdw blurRad="88900" dist="25400" dir="2700000" algn="bl" rotWithShape="0">
              <a:srgbClr val="000000">
                <a:alpha val="14000"/>
              </a:srgbClr>
            </a:outerShdw>
          </a:effectLst>
        </p:spPr>
        <p:txBody>
          <a:bodyPr/>
          <a:lstStyle/>
          <a:p>
            <a:endParaRPr lang="en-GB"/>
          </a:p>
        </p:txBody>
      </p:sp>
      <p:sp>
        <p:nvSpPr>
          <p:cNvPr id="10" name="Shape 7"/>
          <p:cNvSpPr/>
          <p:nvPr/>
        </p:nvSpPr>
        <p:spPr>
          <a:xfrm>
            <a:off x="4873752" y="1600200"/>
            <a:ext cx="457200" cy="457200"/>
          </a:xfrm>
          <a:prstGeom prst="ellipse">
            <a:avLst/>
          </a:prstGeom>
          <a:solidFill>
            <a:srgbClr val="D4544F"/>
          </a:solidFill>
          <a:ln/>
        </p:spPr>
        <p:txBody>
          <a:bodyPr/>
          <a:lstStyle/>
          <a:p>
            <a:endParaRPr lang="en-GB"/>
          </a:p>
        </p:txBody>
      </p:sp>
      <p:pic>
        <p:nvPicPr>
          <p:cNvPr id="11" name="Image 1" descr="preencoded.png"/>
          <p:cNvPicPr>
            <a:picLocks noChangeAspect="1"/>
          </p:cNvPicPr>
          <p:nvPr/>
        </p:nvPicPr>
        <p:blipFill>
          <a:blip r:embed="rId4"/>
          <a:stretch>
            <a:fillRect/>
          </a:stretch>
        </p:blipFill>
        <p:spPr>
          <a:xfrm>
            <a:off x="4992624" y="1719072"/>
            <a:ext cx="219456" cy="219456"/>
          </a:xfrm>
          <a:prstGeom prst="rect">
            <a:avLst/>
          </a:prstGeom>
        </p:spPr>
      </p:pic>
      <p:sp>
        <p:nvSpPr>
          <p:cNvPr id="12" name="Text 8"/>
          <p:cNvSpPr/>
          <p:nvPr/>
        </p:nvSpPr>
        <p:spPr>
          <a:xfrm>
            <a:off x="5468112" y="1664208"/>
            <a:ext cx="3108960" cy="365760"/>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What Foundry does NOT close</a:t>
            </a:r>
            <a:endParaRPr lang="en-US" sz="1350" dirty="0"/>
          </a:p>
        </p:txBody>
      </p:sp>
      <p:sp>
        <p:nvSpPr>
          <p:cNvPr id="13" name="Text 9"/>
          <p:cNvSpPr/>
          <p:nvPr/>
        </p:nvSpPr>
        <p:spPr>
          <a:xfrm>
            <a:off x="4919472" y="2194560"/>
            <a:ext cx="3520440" cy="2377440"/>
          </a:xfrm>
          <a:prstGeom prst="rect">
            <a:avLst/>
          </a:prstGeom>
          <a:noFill/>
          <a:ln/>
        </p:spPr>
        <p:txBody>
          <a:bodyPr wrap="square" rtlCol="0" anchor="ctr"/>
          <a:lstStyle/>
          <a:p>
            <a:pPr marL="342900" indent="-342900">
              <a:spcAft>
                <a:spcPts val="600"/>
              </a:spcAft>
              <a:buSzPct val="100000"/>
              <a:buChar char="•"/>
            </a:pPr>
            <a:r>
              <a:rPr lang="en-US" sz="1100" dirty="0">
                <a:solidFill>
                  <a:srgbClr val="CADCFC"/>
                </a:solidFill>
                <a:latin typeface="Calibri" pitchFamily="34" charset="0"/>
                <a:ea typeface="Calibri" pitchFamily="34" charset="-122"/>
                <a:cs typeface="Calibri" pitchFamily="34" charset="-120"/>
              </a:rPr>
              <a:t>No such thing as “GxP-certified” tooling — validation responsibility stays yours under GAMP 5</a:t>
            </a:r>
            <a:endParaRPr lang="en-US" sz="1100" dirty="0"/>
          </a:p>
          <a:p>
            <a:pPr marL="342900" indent="-342900">
              <a:spcAft>
                <a:spcPts val="600"/>
              </a:spcAft>
              <a:buSzPct val="100000"/>
              <a:buChar char="•"/>
            </a:pPr>
            <a:r>
              <a:rPr lang="en-US" sz="1100" dirty="0">
                <a:solidFill>
                  <a:srgbClr val="CADCFC"/>
                </a:solidFill>
                <a:latin typeface="Calibri" pitchFamily="34" charset="0"/>
                <a:ea typeface="Calibri" pitchFamily="34" charset="-122"/>
                <a:cs typeface="Calibri" pitchFamily="34" charset="-120"/>
              </a:rPr>
              <a:t>The judge model is validated software too: pin it, document it, re-baseline on change</a:t>
            </a:r>
            <a:endParaRPr lang="en-US" sz="1100" dirty="0"/>
          </a:p>
          <a:p>
            <a:pPr marL="342900" indent="-342900">
              <a:spcAft>
                <a:spcPts val="600"/>
              </a:spcAft>
              <a:buSzPct val="100000"/>
              <a:buChar char="•"/>
            </a:pPr>
            <a:r>
              <a:rPr lang="en-US" sz="1100" dirty="0">
                <a:solidFill>
                  <a:srgbClr val="CADCFC"/>
                </a:solidFill>
                <a:latin typeface="Calibri" pitchFamily="34" charset="0"/>
                <a:ea typeface="Calibri" pitchFamily="34" charset="-122"/>
                <a:cs typeface="Calibri" pitchFamily="34" charset="-120"/>
              </a:rPr>
              <a:t>Retention &amp; tamper-evidence need explicit design against your Part 11 interpretation</a:t>
            </a:r>
            <a:endParaRPr lang="en-US" sz="1100" dirty="0"/>
          </a:p>
          <a:p>
            <a:pPr marL="342900" indent="-342900">
              <a:buSzPct val="100000"/>
              <a:buChar char="•"/>
            </a:pPr>
            <a:r>
              <a:rPr lang="en-US" sz="1100" dirty="0">
                <a:solidFill>
                  <a:srgbClr val="CADCFC"/>
                </a:solidFill>
                <a:latin typeface="Calibri" pitchFamily="34" charset="0"/>
                <a:ea typeface="Calibri" pitchFamily="34" charset="-122"/>
                <a:cs typeface="Calibri" pitchFamily="34" charset="-120"/>
              </a:rPr>
              <a:t>Human oversight is a process control (SOPs), not a product feature</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74320"/>
            <a:ext cx="8138160" cy="274320"/>
          </a:xfrm>
          <a:prstGeom prst="rect">
            <a:avLst/>
          </a:prstGeom>
          <a:noFill/>
          <a:ln/>
        </p:spPr>
        <p:txBody>
          <a:bodyPr wrap="square" lIns="0" tIns="0" rIns="0" bIns="0" rtlCol="0" anchor="ctr"/>
          <a:lstStyle/>
          <a:p>
            <a:pPr marL="0" indent="0">
              <a:buNone/>
            </a:pPr>
            <a:r>
              <a:rPr lang="en-US" sz="1100" b="1" kern="0" spc="300" dirty="0">
                <a:solidFill>
                  <a:srgbClr val="5A6378"/>
                </a:solidFill>
                <a:latin typeface="Calibri" pitchFamily="34" charset="0"/>
                <a:ea typeface="Calibri" pitchFamily="34" charset="-122"/>
                <a:cs typeface="Calibri" pitchFamily="34" charset="-120"/>
              </a:rPr>
              <a:t>OPTIONAL MODULE · GXP VARIANT — FOUR DISCIPLINES</a:t>
            </a:r>
            <a:endParaRPr lang="en-US" sz="1100" dirty="0"/>
          </a:p>
        </p:txBody>
      </p:sp>
      <p:sp>
        <p:nvSpPr>
          <p:cNvPr id="3" name="Text 1"/>
          <p:cNvSpPr/>
          <p:nvPr/>
        </p:nvSpPr>
        <p:spPr>
          <a:xfrm>
            <a:off x="502920" y="530352"/>
            <a:ext cx="8138160" cy="68580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One machinery, four regulated scenarios</a:t>
            </a:r>
            <a:endParaRPr lang="en-US" sz="3000" dirty="0"/>
          </a:p>
        </p:txBody>
      </p:sp>
      <p:sp>
        <p:nvSpPr>
          <p:cNvPr id="4" name="Text 2"/>
          <p:cNvSpPr/>
          <p:nvPr/>
        </p:nvSpPr>
        <p:spPr>
          <a:xfrm>
            <a:off x="502920" y="1371600"/>
            <a:ext cx="8138160" cy="548640"/>
          </a:xfrm>
          <a:prstGeom prst="rect">
            <a:avLst/>
          </a:prstGeom>
          <a:noFill/>
          <a:ln/>
        </p:spPr>
        <p:txBody>
          <a:bodyPr wrap="square" lIns="0" tIns="0" rIns="0" bIns="0" rtlCol="0" anchor="ctr"/>
          <a:lstStyle/>
          <a:p>
            <a:pPr marL="0" indent="0">
              <a:buNone/>
            </a:pPr>
            <a:r>
              <a:rPr lang="en-US" sz="1300" dirty="0">
                <a:solidFill>
                  <a:srgbClr val="20263F"/>
                </a:solidFill>
                <a:latin typeface="Calibri" pitchFamily="34" charset="0"/>
                <a:ea typeface="Calibri" pitchFamily="34" charset="-122"/>
                <a:cs typeface="Calibri" pitchFamily="34" charset="-120"/>
              </a:rPr>
              <a:t>Same run_cloud_eval.py, same evaluators, same 5-category matrix — only the scenario and the refusals change. Pick the discipline that matches the room.</a:t>
            </a:r>
            <a:endParaRPr lang="en-US" sz="1300" dirty="0"/>
          </a:p>
        </p:txBody>
      </p:sp>
      <p:sp>
        <p:nvSpPr>
          <p:cNvPr id="5" name="Shape 3"/>
          <p:cNvSpPr/>
          <p:nvPr/>
        </p:nvSpPr>
        <p:spPr>
          <a:xfrm>
            <a:off x="502920" y="2148840"/>
            <a:ext cx="1572768" cy="1965960"/>
          </a:xfrm>
          <a:prstGeom prst="roundRect">
            <a:avLst>
              <a:gd name="adj" fmla="val 2907"/>
            </a:avLst>
          </a:prstGeom>
          <a:solidFill>
            <a:srgbClr val="EEF4FE"/>
          </a:solidFill>
          <a:ln/>
          <a:effectLst>
            <a:outerShdw blurRad="88900" dist="25400" dir="2700000" algn="bl" rotWithShape="0">
              <a:srgbClr val="000000">
                <a:alpha val="14000"/>
              </a:srgbClr>
            </a:outerShdw>
          </a:effectLst>
        </p:spPr>
        <p:txBody>
          <a:bodyPr/>
          <a:lstStyle/>
          <a:p>
            <a:endParaRPr lang="en-GB"/>
          </a:p>
        </p:txBody>
      </p:sp>
      <p:sp>
        <p:nvSpPr>
          <p:cNvPr id="6" name="Text 4"/>
          <p:cNvSpPr/>
          <p:nvPr/>
        </p:nvSpPr>
        <p:spPr>
          <a:xfrm>
            <a:off x="612648" y="2286000"/>
            <a:ext cx="1353312" cy="59436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GMP · Manufacturing</a:t>
            </a:r>
            <a:endParaRPr lang="en-US" sz="1200" dirty="0"/>
          </a:p>
        </p:txBody>
      </p:sp>
      <p:sp>
        <p:nvSpPr>
          <p:cNvPr id="7" name="Text 5"/>
          <p:cNvSpPr/>
          <p:nvPr/>
        </p:nvSpPr>
        <p:spPr>
          <a:xfrm>
            <a:off x="612648" y="2926080"/>
            <a:ext cx="1353312" cy="1097280"/>
          </a:xfrm>
          <a:prstGeom prst="rect">
            <a:avLst/>
          </a:prstGeom>
          <a:noFill/>
          <a:ln/>
        </p:spPr>
        <p:txBody>
          <a:bodyPr wrap="square" lIns="0" tIns="0" rIns="0" bIns="0" rtlCol="0" anchor="ctr"/>
          <a:lstStyle/>
          <a:p>
            <a:pPr marL="0" indent="0">
              <a:buNone/>
            </a:pPr>
            <a:r>
              <a:rPr lang="en-US" sz="950" dirty="0">
                <a:solidFill>
                  <a:srgbClr val="20263F"/>
                </a:solidFill>
                <a:latin typeface="Calibri" pitchFamily="34" charset="0"/>
                <a:ea typeface="Calibri" pitchFamily="34" charset="-122"/>
                <a:cs typeface="Calibri" pitchFamily="34" charset="-120"/>
              </a:rPr>
              <a:t>SOP &amp; deviation-triage; refuse batch release, change-control shortcuts, ALCOA+ record alteration</a:t>
            </a:r>
            <a:endParaRPr lang="en-US" sz="950" dirty="0"/>
          </a:p>
        </p:txBody>
      </p:sp>
      <p:sp>
        <p:nvSpPr>
          <p:cNvPr id="8" name="Shape 6"/>
          <p:cNvSpPr/>
          <p:nvPr/>
        </p:nvSpPr>
        <p:spPr>
          <a:xfrm>
            <a:off x="2185416" y="2148840"/>
            <a:ext cx="1572768" cy="1965960"/>
          </a:xfrm>
          <a:prstGeom prst="roundRect">
            <a:avLst>
              <a:gd name="adj" fmla="val 2907"/>
            </a:avLst>
          </a:prstGeom>
          <a:solidFill>
            <a:srgbClr val="EEF4FE"/>
          </a:solidFill>
          <a:ln/>
          <a:effectLst>
            <a:outerShdw blurRad="88900" dist="25400" dir="2700000" algn="bl" rotWithShape="0">
              <a:srgbClr val="000000">
                <a:alpha val="14000"/>
              </a:srgbClr>
            </a:outerShdw>
          </a:effectLst>
        </p:spPr>
        <p:txBody>
          <a:bodyPr/>
          <a:lstStyle/>
          <a:p>
            <a:endParaRPr lang="en-GB"/>
          </a:p>
        </p:txBody>
      </p:sp>
      <p:sp>
        <p:nvSpPr>
          <p:cNvPr id="9" name="Text 7"/>
          <p:cNvSpPr/>
          <p:nvPr/>
        </p:nvSpPr>
        <p:spPr>
          <a:xfrm>
            <a:off x="2295144" y="2286000"/>
            <a:ext cx="1353312" cy="59436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GLP · Lab / product testing</a:t>
            </a:r>
            <a:endParaRPr lang="en-US" sz="1200" dirty="0"/>
          </a:p>
        </p:txBody>
      </p:sp>
      <p:sp>
        <p:nvSpPr>
          <p:cNvPr id="10" name="Text 8"/>
          <p:cNvSpPr/>
          <p:nvPr/>
        </p:nvSpPr>
        <p:spPr>
          <a:xfrm>
            <a:off x="2295144" y="2926080"/>
            <a:ext cx="1353312" cy="1097280"/>
          </a:xfrm>
          <a:prstGeom prst="rect">
            <a:avLst/>
          </a:prstGeom>
          <a:noFill/>
          <a:ln/>
        </p:spPr>
        <p:txBody>
          <a:bodyPr wrap="square" lIns="0" tIns="0" rIns="0" bIns="0" rtlCol="0" anchor="ctr"/>
          <a:lstStyle/>
          <a:p>
            <a:pPr marL="0" indent="0">
              <a:buNone/>
            </a:pPr>
            <a:r>
              <a:rPr lang="en-US" sz="950" dirty="0">
                <a:solidFill>
                  <a:srgbClr val="20263F"/>
                </a:solidFill>
                <a:latin typeface="Calibri" pitchFamily="34" charset="0"/>
                <a:ea typeface="Calibri" pitchFamily="34" charset="-122"/>
                <a:cs typeface="Calibri" pitchFamily="34" charset="-120"/>
              </a:rPr>
              <a:t>Methods &amp; OOS/OOT triage; refuse result invalidation, chromatography manipulation, raw-data edits</a:t>
            </a:r>
            <a:endParaRPr lang="en-US" sz="950" dirty="0"/>
          </a:p>
        </p:txBody>
      </p:sp>
      <p:sp>
        <p:nvSpPr>
          <p:cNvPr id="11" name="Shape 9"/>
          <p:cNvSpPr/>
          <p:nvPr/>
        </p:nvSpPr>
        <p:spPr>
          <a:xfrm>
            <a:off x="3867912" y="2148840"/>
            <a:ext cx="1572768" cy="1965960"/>
          </a:xfrm>
          <a:prstGeom prst="roundRect">
            <a:avLst>
              <a:gd name="adj" fmla="val 2907"/>
            </a:avLst>
          </a:prstGeom>
          <a:solidFill>
            <a:srgbClr val="EEF4FE"/>
          </a:solidFill>
          <a:ln/>
          <a:effectLst>
            <a:outerShdw blurRad="88900" dist="25400" dir="2700000" algn="bl" rotWithShape="0">
              <a:srgbClr val="000000">
                <a:alpha val="14000"/>
              </a:srgbClr>
            </a:outerShdw>
          </a:effectLst>
        </p:spPr>
        <p:txBody>
          <a:bodyPr/>
          <a:lstStyle/>
          <a:p>
            <a:endParaRPr lang="en-GB"/>
          </a:p>
        </p:txBody>
      </p:sp>
      <p:sp>
        <p:nvSpPr>
          <p:cNvPr id="12" name="Text 10"/>
          <p:cNvSpPr/>
          <p:nvPr/>
        </p:nvSpPr>
        <p:spPr>
          <a:xfrm>
            <a:off x="3977640" y="2286000"/>
            <a:ext cx="1353312" cy="59436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GCP · Clinical studies</a:t>
            </a:r>
            <a:endParaRPr lang="en-US" sz="1200" dirty="0"/>
          </a:p>
        </p:txBody>
      </p:sp>
      <p:sp>
        <p:nvSpPr>
          <p:cNvPr id="13" name="Text 11"/>
          <p:cNvSpPr/>
          <p:nvPr/>
        </p:nvSpPr>
        <p:spPr>
          <a:xfrm>
            <a:off x="3977640" y="2926080"/>
            <a:ext cx="1353312" cy="1097280"/>
          </a:xfrm>
          <a:prstGeom prst="rect">
            <a:avLst/>
          </a:prstGeom>
          <a:noFill/>
          <a:ln/>
        </p:spPr>
        <p:txBody>
          <a:bodyPr wrap="square" lIns="0" tIns="0" rIns="0" bIns="0" rtlCol="0" anchor="ctr"/>
          <a:lstStyle/>
          <a:p>
            <a:pPr marL="0" indent="0">
              <a:buNone/>
            </a:pPr>
            <a:r>
              <a:rPr lang="en-US" sz="950" dirty="0">
                <a:solidFill>
                  <a:srgbClr val="20263F"/>
                </a:solidFill>
                <a:latin typeface="Calibri" pitchFamily="34" charset="0"/>
                <a:ea typeface="Calibri" pitchFamily="34" charset="-122"/>
                <a:cs typeface="Calibri" pitchFamily="34" charset="-120"/>
              </a:rPr>
              <a:t>Protocol / consent / AE reporting; refuse unblinding, eligibility calls, medical advice, source/CRF backdating</a:t>
            </a:r>
            <a:endParaRPr lang="en-US" sz="950" dirty="0"/>
          </a:p>
        </p:txBody>
      </p:sp>
      <p:sp>
        <p:nvSpPr>
          <p:cNvPr id="14" name="Shape 12"/>
          <p:cNvSpPr/>
          <p:nvPr/>
        </p:nvSpPr>
        <p:spPr>
          <a:xfrm>
            <a:off x="5550408" y="2148840"/>
            <a:ext cx="1572768" cy="1965960"/>
          </a:xfrm>
          <a:prstGeom prst="roundRect">
            <a:avLst>
              <a:gd name="adj" fmla="val 2907"/>
            </a:avLst>
          </a:prstGeom>
          <a:solidFill>
            <a:srgbClr val="1E2761"/>
          </a:solidFill>
          <a:ln/>
          <a:effectLst>
            <a:outerShdw blurRad="88900" dist="25400" dir="2700000" algn="bl" rotWithShape="0">
              <a:srgbClr val="000000">
                <a:alpha val="14000"/>
              </a:srgbClr>
            </a:outerShdw>
          </a:effectLst>
        </p:spPr>
        <p:txBody>
          <a:bodyPr/>
          <a:lstStyle/>
          <a:p>
            <a:endParaRPr lang="en-GB"/>
          </a:p>
        </p:txBody>
      </p:sp>
      <p:sp>
        <p:nvSpPr>
          <p:cNvPr id="15" name="Text 13"/>
          <p:cNvSpPr/>
          <p:nvPr/>
        </p:nvSpPr>
        <p:spPr>
          <a:xfrm>
            <a:off x="5660136" y="2286000"/>
            <a:ext cx="1353312" cy="59436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GDP · Distribution / supply chain</a:t>
            </a:r>
            <a:endParaRPr lang="en-US" sz="1200" dirty="0"/>
          </a:p>
        </p:txBody>
      </p:sp>
      <p:sp>
        <p:nvSpPr>
          <p:cNvPr id="16" name="Text 14"/>
          <p:cNvSpPr/>
          <p:nvPr/>
        </p:nvSpPr>
        <p:spPr>
          <a:xfrm>
            <a:off x="5660136" y="2926080"/>
            <a:ext cx="1353312" cy="1097280"/>
          </a:xfrm>
          <a:prstGeom prst="rect">
            <a:avLst/>
          </a:prstGeom>
          <a:noFill/>
          <a:ln/>
        </p:spPr>
        <p:txBody>
          <a:bodyPr wrap="square" lIns="0" tIns="0" rIns="0" bIns="0" rtlCol="0" anchor="ctr"/>
          <a:lstStyle/>
          <a:p>
            <a:pPr marL="0" indent="0">
              <a:buNone/>
            </a:pPr>
            <a:r>
              <a:rPr lang="en-US" sz="950" dirty="0">
                <a:solidFill>
                  <a:srgbClr val="CADCFC"/>
                </a:solidFill>
                <a:latin typeface="Calibri" pitchFamily="34" charset="0"/>
                <a:ea typeface="Calibri" pitchFamily="34" charset="-122"/>
                <a:cs typeface="Calibri" pitchFamily="34" charset="-120"/>
              </a:rPr>
              <a:t>Cold-chain &amp; excursion handling; refuse ship-despite-excursion, temperature-log falsification</a:t>
            </a:r>
            <a:endParaRPr lang="en-US" sz="950" dirty="0"/>
          </a:p>
        </p:txBody>
      </p:sp>
      <p:sp>
        <p:nvSpPr>
          <p:cNvPr id="17" name="Shape 15"/>
          <p:cNvSpPr/>
          <p:nvPr/>
        </p:nvSpPr>
        <p:spPr>
          <a:xfrm>
            <a:off x="7232904" y="2148840"/>
            <a:ext cx="1572768" cy="1965960"/>
          </a:xfrm>
          <a:prstGeom prst="roundRect">
            <a:avLst>
              <a:gd name="adj" fmla="val 2907"/>
            </a:avLst>
          </a:prstGeom>
          <a:solidFill>
            <a:srgbClr val="EEF4FE"/>
          </a:solidFill>
          <a:ln/>
          <a:effectLst>
            <a:outerShdw blurRad="88900" dist="25400" dir="2700000" algn="bl" rotWithShape="0">
              <a:srgbClr val="000000">
                <a:alpha val="14000"/>
              </a:srgbClr>
            </a:outerShdw>
          </a:effectLst>
        </p:spPr>
        <p:txBody>
          <a:bodyPr/>
          <a:lstStyle/>
          <a:p>
            <a:endParaRPr lang="en-GB"/>
          </a:p>
        </p:txBody>
      </p:sp>
      <p:sp>
        <p:nvSpPr>
          <p:cNvPr id="18" name="Text 16"/>
          <p:cNvSpPr/>
          <p:nvPr/>
        </p:nvSpPr>
        <p:spPr>
          <a:xfrm>
            <a:off x="7342632" y="2286000"/>
            <a:ext cx="1353312" cy="59436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Shared 5-category matrix</a:t>
            </a:r>
            <a:endParaRPr lang="en-US" sz="1200" dirty="0"/>
          </a:p>
        </p:txBody>
      </p:sp>
      <p:sp>
        <p:nvSpPr>
          <p:cNvPr id="19" name="Text 17"/>
          <p:cNvSpPr/>
          <p:nvPr/>
        </p:nvSpPr>
        <p:spPr>
          <a:xfrm>
            <a:off x="7342632" y="2926080"/>
            <a:ext cx="1353312" cy="1097280"/>
          </a:xfrm>
          <a:prstGeom prst="rect">
            <a:avLst/>
          </a:prstGeom>
          <a:noFill/>
          <a:ln/>
        </p:spPr>
        <p:txBody>
          <a:bodyPr wrap="square" lIns="0" tIns="0" rIns="0" bIns="0" rtlCol="0" anchor="ctr"/>
          <a:lstStyle/>
          <a:p>
            <a:pPr marL="0" indent="0">
              <a:buNone/>
            </a:pPr>
            <a:r>
              <a:rPr lang="en-US" sz="950" dirty="0">
                <a:solidFill>
                  <a:srgbClr val="20263F"/>
                </a:solidFill>
                <a:latin typeface="Calibri" pitchFamily="34" charset="0"/>
                <a:ea typeface="Calibri" pitchFamily="34" charset="-122"/>
                <a:cs typeface="Calibri" pitchFamily="34" charset="-120"/>
              </a:rPr>
              <a:t>procedural · *_triage · decision_refusal · data_integrity_trap · prompt_injection — refusal + ALCOA+ rows are the main event</a:t>
            </a:r>
            <a:endParaRPr lang="en-US" sz="950" dirty="0"/>
          </a:p>
        </p:txBody>
      </p:sp>
      <p:sp>
        <p:nvSpPr>
          <p:cNvPr id="20" name="Text 18"/>
          <p:cNvSpPr/>
          <p:nvPr/>
        </p:nvSpPr>
        <p:spPr>
          <a:xfrm>
            <a:off x="502920" y="4343400"/>
            <a:ext cx="8138160" cy="320040"/>
          </a:xfrm>
          <a:prstGeom prst="rect">
            <a:avLst/>
          </a:prstGeom>
          <a:noFill/>
          <a:ln/>
        </p:spPr>
        <p:txBody>
          <a:bodyPr wrap="square" lIns="0" tIns="0" rIns="0" bIns="0" rtlCol="0" anchor="ctr"/>
          <a:lstStyle/>
          <a:p>
            <a:pPr marL="0" indent="0" algn="ctr">
              <a:buNone/>
            </a:pPr>
            <a:r>
              <a:rPr lang="en-US" sz="1300" b="1" i="1" dirty="0">
                <a:solidFill>
                  <a:srgbClr val="D4544F"/>
                </a:solidFill>
                <a:latin typeface="Calibri" pitchFamily="34" charset="0"/>
                <a:ea typeface="Calibri" pitchFamily="34" charset="-122"/>
                <a:cs typeface="Calibri" pitchFamily="34" charset="-120"/>
              </a:rPr>
              <a:t>Four runnable tracks coexist in one project (--agent-name) — see docs/gxp-disciplines.md</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141B45"/>
        </a:solidFill>
        <a:effectLst/>
      </p:bgPr>
    </p:bg>
    <p:spTree>
      <p:nvGrpSpPr>
        <p:cNvPr id="1" name=""/>
        <p:cNvGrpSpPr/>
        <p:nvPr/>
      </p:nvGrpSpPr>
      <p:grpSpPr>
        <a:xfrm>
          <a:off x="0" y="0"/>
          <a:ext cx="0" cy="0"/>
          <a:chOff x="0" y="0"/>
          <a:chExt cx="0" cy="0"/>
        </a:xfrm>
      </p:grpSpPr>
      <p:sp>
        <p:nvSpPr>
          <p:cNvPr id="2" name="Text 0"/>
          <p:cNvSpPr/>
          <p:nvPr/>
        </p:nvSpPr>
        <p:spPr>
          <a:xfrm>
            <a:off x="640080" y="457200"/>
            <a:ext cx="7863840" cy="274320"/>
          </a:xfrm>
          <a:prstGeom prst="rect">
            <a:avLst/>
          </a:prstGeom>
          <a:noFill/>
          <a:ln/>
        </p:spPr>
        <p:txBody>
          <a:bodyPr wrap="square" lIns="0" tIns="0" rIns="0" bIns="0" rtlCol="0" anchor="ctr"/>
          <a:lstStyle/>
          <a:p>
            <a:pPr marL="0" indent="0">
              <a:buNone/>
            </a:pPr>
            <a:r>
              <a:rPr lang="en-US" sz="1200" b="1" kern="0" spc="400" dirty="0">
                <a:solidFill>
                  <a:srgbClr val="CADCFC"/>
                </a:solidFill>
                <a:latin typeface="Calibri" pitchFamily="34" charset="0"/>
                <a:ea typeface="Calibri" pitchFamily="34" charset="-122"/>
                <a:cs typeface="Calibri" pitchFamily="34" charset="-120"/>
              </a:rPr>
              <a:t>FIVE THINGS TO TAKE HOME</a:t>
            </a:r>
            <a:endParaRPr lang="en-US" sz="1200" dirty="0"/>
          </a:p>
        </p:txBody>
      </p:sp>
      <p:sp>
        <p:nvSpPr>
          <p:cNvPr id="3" name="Text 1"/>
          <p:cNvSpPr/>
          <p:nvPr/>
        </p:nvSpPr>
        <p:spPr>
          <a:xfrm>
            <a:off x="640080" y="777240"/>
            <a:ext cx="7863840" cy="54864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Evaluation is the production discipline</a:t>
            </a:r>
            <a:endParaRPr lang="en-US" sz="3000" dirty="0"/>
          </a:p>
        </p:txBody>
      </p:sp>
      <p:sp>
        <p:nvSpPr>
          <p:cNvPr id="4" name="Text 2"/>
          <p:cNvSpPr/>
          <p:nvPr/>
        </p:nvSpPr>
        <p:spPr>
          <a:xfrm>
            <a:off x="685800" y="1600200"/>
            <a:ext cx="7680960" cy="2286000"/>
          </a:xfrm>
          <a:prstGeom prst="rect">
            <a:avLst/>
          </a:prstGeom>
          <a:noFill/>
          <a:ln/>
        </p:spPr>
        <p:txBody>
          <a:bodyPr wrap="square" rtlCol="0" anchor="ctr"/>
          <a:lstStyle/>
          <a:p>
            <a:pPr marL="342900" indent="-342900">
              <a:spcAft>
                <a:spcPts val="1000"/>
              </a:spcAft>
              <a:buSzPct val="100000"/>
              <a:buFont typeface="+mj-lt"/>
              <a:buAutoNum type="arabicPeriod"/>
            </a:pPr>
            <a:r>
              <a:rPr lang="en-US" sz="1400" dirty="0">
                <a:solidFill>
                  <a:srgbClr val="CADCFC"/>
                </a:solidFill>
                <a:latin typeface="Calibri" pitchFamily="34" charset="0"/>
                <a:ea typeface="Calibri" pitchFamily="34" charset="-122"/>
                <a:cs typeface="Calibri" pitchFamily="34" charset="-120"/>
              </a:rPr>
              <a:t>Lifecycle, not checkbox: live smoke test → CI/CD gate → continuous monitoring → optimization.</a:t>
            </a:r>
            <a:endParaRPr lang="en-US" sz="1400" dirty="0"/>
          </a:p>
          <a:p>
            <a:pPr marL="342900" indent="-342900">
              <a:spcAft>
                <a:spcPts val="1000"/>
              </a:spcAft>
              <a:buSzPct val="100000"/>
              <a:buFont typeface="+mj-lt"/>
              <a:buAutoNum type="arabicPeriod"/>
            </a:pPr>
            <a:r>
              <a:rPr lang="en-US" sz="1400" dirty="0">
                <a:solidFill>
                  <a:srgbClr val="CADCFC"/>
                </a:solidFill>
                <a:latin typeface="Calibri" pitchFamily="34" charset="0"/>
                <a:ea typeface="Calibri" pitchFamily="34" charset="-122"/>
                <a:cs typeface="Calibri" pitchFamily="34" charset="-120"/>
              </a:rPr>
              <a:t>System evaluators judge outcomes; process evaluators judge tool-call execution.</a:t>
            </a:r>
          </a:p>
          <a:p>
            <a:pPr marL="342900" indent="-342900">
              <a:spcAft>
                <a:spcPts val="1000"/>
              </a:spcAft>
              <a:buSzPct val="100000"/>
              <a:buFont typeface="+mj-lt"/>
              <a:buAutoNum type="arabicPeriod"/>
            </a:pPr>
            <a:r>
              <a:rPr lang="en-US" sz="1400" dirty="0">
                <a:solidFill>
                  <a:srgbClr val="CADCFC"/>
                </a:solidFill>
                <a:latin typeface="Calibri" pitchFamily="34" charset="0"/>
                <a:ea typeface="Calibri" pitchFamily="34" charset="-122"/>
                <a:cs typeface="Calibri" pitchFamily="34" charset="-120"/>
              </a:rPr>
              <a:t>Deterministic contracts + explicit policy complement LLM judges — they do different jobs.</a:t>
            </a:r>
          </a:p>
          <a:p>
            <a:pPr marL="342900" indent="-342900">
              <a:spcAft>
                <a:spcPts val="1000"/>
              </a:spcAft>
              <a:buSzPct val="100000"/>
              <a:buFont typeface="+mj-lt"/>
              <a:buAutoNum type="arabicPeriod"/>
            </a:pPr>
            <a:r>
              <a:rPr lang="en-US" sz="1400" dirty="0">
                <a:solidFill>
                  <a:srgbClr val="CADCFC"/>
                </a:solidFill>
                <a:latin typeface="Calibri" pitchFamily="34" charset="0"/>
                <a:ea typeface="Calibri" pitchFamily="34" charset="-122"/>
                <a:cs typeface="Calibri" pitchFamily="34" charset="-120"/>
              </a:rPr>
              <a:t>Trace-based evaluation measures production behavior across frameworks via OpenTelemetry.</a:t>
            </a:r>
          </a:p>
          <a:p>
            <a:pPr marL="342900" indent="-342900">
              <a:spcAft>
                <a:spcPts val="1000"/>
              </a:spcAft>
              <a:buSzPct val="100000"/>
              <a:buFont typeface="+mj-lt"/>
              <a:buAutoNum type="arabicPeriod"/>
            </a:pPr>
            <a:r>
              <a:rPr lang="en-US" sz="1400" dirty="0">
                <a:solidFill>
                  <a:srgbClr val="CADCFC"/>
                </a:solidFill>
                <a:latin typeface="Calibri" pitchFamily="34" charset="0"/>
                <a:ea typeface="Calibri" pitchFamily="34" charset="-122"/>
                <a:cs typeface="Calibri" pitchFamily="34" charset="-120"/>
              </a:rPr>
              <a:t>Trust requires controlled data, mappings, judge, criteria, artifacts, and provenance.</a:t>
            </a:r>
          </a:p>
        </p:txBody>
      </p:sp>
      <p:sp>
        <p:nvSpPr>
          <p:cNvPr id="5" name="Shape 3"/>
          <p:cNvSpPr/>
          <p:nvPr/>
        </p:nvSpPr>
        <p:spPr>
          <a:xfrm>
            <a:off x="640080" y="4069080"/>
            <a:ext cx="7863840" cy="685800"/>
          </a:xfrm>
          <a:prstGeom prst="roundRect">
            <a:avLst>
              <a:gd name="adj" fmla="val 8000"/>
            </a:avLst>
          </a:prstGeom>
          <a:solidFill>
            <a:srgbClr val="1E2761"/>
          </a:solidFill>
          <a:ln/>
        </p:spPr>
        <p:txBody>
          <a:bodyPr/>
          <a:lstStyle/>
          <a:p>
            <a:endParaRPr lang="en-GB"/>
          </a:p>
        </p:txBody>
      </p:sp>
      <p:sp>
        <p:nvSpPr>
          <p:cNvPr id="6" name="Text 4"/>
          <p:cNvSpPr/>
          <p:nvPr/>
        </p:nvSpPr>
        <p:spPr>
          <a:xfrm>
            <a:off x="868680" y="4160520"/>
            <a:ext cx="7406640" cy="5029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Resources:  </a:t>
            </a:r>
            <a:r>
              <a:rPr lang="en-US" sz="1100" dirty="0">
                <a:solidFill>
                  <a:srgbClr val="CADCFC"/>
                </a:solidFill>
                <a:latin typeface="Calibri" pitchFamily="34" charset="0"/>
                <a:ea typeface="Calibri" pitchFamily="34" charset="-122"/>
                <a:cs typeface="Calibri" pitchFamily="34" charset="-120"/>
              </a:rPr>
              <a:t>learn.microsoft.com → Foundry → Observability → Evaluations   ·   open-sourced quality rubrics: Azure AI Evaluation SDK repo   ·   Build 2026 on-demand: BRK250, BRK252, LAB540</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133</TotalTime>
  <Words>3368</Words>
  <Application>Microsoft Office PowerPoint</Application>
  <PresentationFormat>On-screen Show (16:9)</PresentationFormat>
  <Paragraphs>267</Paragraphs>
  <Slides>20</Slides>
  <Notes>20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Microsoft Foundry Evaluations Framework — Half-Day Workshop</dc:title>
  <dc:subject>PptxGenJS Presentation</dc:subject>
  <dc:creator>Facilitator</dc:creator>
  <cp:lastModifiedBy>John Plummer</cp:lastModifiedBy>
  <cp:revision>1</cp:revision>
  <dcterms:created xsi:type="dcterms:W3CDTF">2026-07-08T08:31:41Z</dcterms:created>
  <dcterms:modified xsi:type="dcterms:W3CDTF">2026-07-08T11:48:48Z</dcterms:modified>
</cp:coreProperties>
</file>