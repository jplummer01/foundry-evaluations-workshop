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7"/>
    <p:sldId id="275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108" y="1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slide" Target="slides/slide2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01256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Framing to land in the first two minutes: this workshop is about the shift from 'test before you ship' to 'measure what's actually happening in production'. Evaluations went GA in March 2026 with continuous monitoring into Azure Monitor; Build 2026 added trace-based evaluation for any framework and the Rubric evaluator. Run the environment check (check_setup.py) while doing intros.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the balance: roughly half talk-track, half hands-on. Attendees pair up for labs — mix devs with architects.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discussion prompt: 'Who has an agent in production? How do you know it's still behaving THIS week?' Collect 2-3 answers before advancing. The three points on this slide should feel like a diagnosis of what they just described.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Foundry's observability model. Trace and evaluations reached GA this spring; hosted-agent tracing/eval GA lands roughly now (June/July 2026). Evaluate is highlighted because it's today's subject — Module 4 closes the loop with Monitor and Optimize.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Whiteboard this as a tree if the room engages. Quality evaluator prompts are open-sourced (steal their rubric structure); safety internals are not. Rubric evaluator is the Build 2026 headline: it attacks the hardest problem — writing good criteria — and feeds Agent Optimizer.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agent can produce a correct answer via a wasteful or lucky path (system pass, process fail) — or execute perfectly toward the wrong goal (process pass, system fail). You need both lenses. Lab 2 uses one system + two process evaluators against the live weather 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implication hard: eval results are downstream of judge model choice and rubric quality. A weak rubric gives confident-looking nonsense with two decimal places. Preview of run_local_eval.py's lesson: fluency without relevance is a terrible quality 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Discussion prompt for architects: where in your SDLC does each surface live, and who owns the eval dataset — dev team or QA/governance? Traces as a target is the Build 2026 shift: same evaluators, applied to what actually happened, any framework via OpenTelemetry.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Stagger submissions by table to dodge rate limits. While portal runs complete, walk the status semantics. Fast finishers: run_local_eval.py, then compare local vs cloud primitives.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common Partial-status cause all day will be someone mapping output_text where a tool evaluator needed output_items, or a case mismatch against the JSONL. AI-assisted evaluators also need the judge deployment name in initialization_parameters.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adversarial dataset rows ('book me a flight', prompt injection) exist to make Intent Resolution and abstention interesting. Same target pattern also evaluates third-party agents — LangGraph, A2A, any HTTP framework. Invocations-protocol hosted agents need freeform input_messages instead of the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Strategic point for architects with mixed estates: this is the same evaluator suite applied across the entire agent fleet, including agents running outside Azure. Evaluation moves from 'test before you ship' to 'measure what's happening in production'.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Discussion prompt: what's your merge gate — hard threshold per evaluator or regression vs baseline using the pairwise comparison? Entra-only auth via ARM service connection lands well with locked-down estates.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'Quality isn't a pre-ship checkbox anymore, it's a live signal' — Microsoft's own framing at the March GA. The nightly scheduled job is the low-drama starting point most teams should take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discussion (10 min if time): draw your target-state pipeline — where do local evals, CI gates, red teaming, continuous eval and Agent Optimizer each sit, and who reviews Optimizer proposals? Rule of thumb: anything you'd hard-gate in CI, consider enforcing at runtime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pharma audiences, open Module 1 with THIS framing instead of 'agents fail differently' — the regulator has made the case. Caveat to state: the FDA draft guidance was expected to finalise during 2026 — verify current status before presenting. Full detail: docs/gxp-extension.md.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machinery as Modules 1-4 — only the stakes change. The deprecation doc's decision-gate checklist is a change-control assessment in all but name. Training pillar: this workshop itself, delivered with an attendance/assessment record, satisfies role-specific training expectations.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human-review gate (step 4, highlighted) is what makes this inspection-defensible rather than a shortcut. Production side: trace-based evaluation on REAL traffic still applies post-deployment — confirm scrubbing/pseudonymisation and App Insights retention against record-retention SOPs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Being straight about the tooling boundary is what earns trust with a pharma audience. Closing discussion swap: 'Walk the FDA 7-step credibility framework for one agent you run today — which steps could you evidence this afternoon, and which have no artifact at all?'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caveat to say out loud: hosted-agent tracing/eval GA is expected right about now (June/July 2026) — verify current status before quoting it. Preview features shown today: Rubric evaluator, trace-based eval for external agents, continuous-eval custom evaluators, Agent Monitoring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ONE discipline that matches the audience. Each is a full runnable track: create_agent_[d].py + dataset_[d]_sample.jsonl + generate_synthetic_dataset.py --discipline [d]. The evaluator set and five-category matrix are identical across all four; only the scenario and the ALCOA+ refusal traps change. All agents coexist in one project, targeted via --agent-name.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8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1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11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64008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7772400" y="105156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7498080" y="214884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6400800" y="173736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6766560" y="6400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7319" y="770839"/>
            <a:ext cx="241402" cy="24140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772400" y="10515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3159" y="1182319"/>
            <a:ext cx="241402" cy="24140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498080" y="21488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8839" y="2279599"/>
            <a:ext cx="241402" cy="241402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400800" y="1737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1559" y="1868119"/>
            <a:ext cx="241402" cy="24140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40080" y="10058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AI AGENTS IN PRODUCTION</a:t>
            </a:r>
            <a:endParaRPr lang="en-US" sz="1300" dirty="0"/>
          </a:p>
        </p:txBody>
      </p:sp>
      <p:sp>
        <p:nvSpPr>
          <p:cNvPr id="15" name="Text 9"/>
          <p:cNvSpPr/>
          <p:nvPr/>
        </p:nvSpPr>
        <p:spPr>
          <a:xfrm>
            <a:off x="640080" y="1371600"/>
            <a:ext cx="6583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Microsoft Foundry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Evaluations Framework</a:t>
            </a:r>
            <a:endParaRPr lang="en-US" sz="4400" dirty="0"/>
          </a:p>
        </p:txBody>
      </p:sp>
      <p:sp>
        <p:nvSpPr>
          <p:cNvPr id="16" name="Text 10"/>
          <p:cNvSpPr/>
          <p:nvPr/>
        </p:nvSpPr>
        <p:spPr>
          <a:xfrm>
            <a:off x="640080" y="30632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half-day, hands-on workshop — concepts, labs, and CI/CD governance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640080" y="4206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3.5–4 hours   </a:t>
            </a:r>
            <a:r>
              <a:rPr lang="en-US" sz="1300" dirty="0">
                <a:solidFill>
                  <a:srgbClr val="8FA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 Mixed technical audience   |   July 2026 content baseline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modules, two labs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1993392" cy="3063240"/>
          </a:xfrm>
          <a:prstGeom prst="roundRect">
            <a:avLst>
              <a:gd name="adj" fmla="val 2752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667512" y="1645920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139" y="1769547"/>
            <a:ext cx="228234" cy="22823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7190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9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67512" y="2286000"/>
            <a:ext cx="1664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Concepts &amp; Architecture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67512" y="3063240"/>
            <a:ext cx="166420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evals are the production bottleneck; the evaluator taxonomy; LLM-as-judge; targets and execution surfaces.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697480" y="1463040"/>
            <a:ext cx="1993392" cy="3063240"/>
          </a:xfrm>
          <a:prstGeom prst="roundRect">
            <a:avLst>
              <a:gd name="adj" fmla="val 2752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2862072" y="1645920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5699" y="1769547"/>
            <a:ext cx="228234" cy="22823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429000" y="17190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9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2862072" y="2286000"/>
            <a:ext cx="1664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Lab 1 — Running Evaluations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2862072" y="3063240"/>
            <a:ext cx="166420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run end-to-end, then the same evaluation via the SDK. Data mappings, run states, reading judge reasoning.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892040" y="1463040"/>
            <a:ext cx="1993392" cy="3063240"/>
          </a:xfrm>
          <a:prstGeom prst="roundRect">
            <a:avLst>
              <a:gd name="adj" fmla="val 2752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7" name="Shape 13"/>
          <p:cNvSpPr/>
          <p:nvPr/>
        </p:nvSpPr>
        <p:spPr>
          <a:xfrm>
            <a:off x="5056632" y="1645920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0259" y="1769547"/>
            <a:ext cx="228234" cy="22823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623560" y="17190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9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5056632" y="2286000"/>
            <a:ext cx="1664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Lab 2 — Agents, Custom &amp; Traces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5056632" y="3063240"/>
            <a:ext cx="166420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a live agent (system + process), register a custom evaluator, trace-based evaluation demo.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7086600" y="1463040"/>
            <a:ext cx="1993392" cy="3063240"/>
          </a:xfrm>
          <a:prstGeom prst="roundRect">
            <a:avLst>
              <a:gd name="adj" fmla="val 2752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3" name="Shape 18"/>
          <p:cNvSpPr/>
          <p:nvPr/>
        </p:nvSpPr>
        <p:spPr>
          <a:xfrm>
            <a:off x="7251192" y="1645920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4819" y="1769547"/>
            <a:ext cx="228234" cy="22823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818120" y="17190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9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7251192" y="2286000"/>
            <a:ext cx="1664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Governance, CI/CD &amp; Production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7251192" y="3063240"/>
            <a:ext cx="166420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gates in Azure DevOps / GitHub Actions, continuous evaluation, and the wider trust stack.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502920" y="46817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10-minute breaks — after Module 1 and after Lab 2.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WHY THIS MATTERS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fail differently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041" y="1656161"/>
            <a:ext cx="272125" cy="27212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490472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erodes, it doesn't crash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325880" y="1810512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drifts, reasoning wanders, answers degrade across a conversation. Traditional APM sees a healthy 200 OK the whole way down.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587752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41" y="2735153"/>
            <a:ext cx="272125" cy="27212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2569464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 aren't evidence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325880" y="2889504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a working demo and a trusted production agent is an evaluation and observability gap — not a modelling gap.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48640" y="3666744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041" y="3814145"/>
            <a:ext cx="272125" cy="27212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25880" y="3648456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must become a live signal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325880" y="3968496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Foundry's stance: evaluation is a lifecycle discipline — pre-deployment gate, production monitor, and optimization input.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THE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continuous loop: Trace → Evaluate → Monitor → Optimize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874520" cy="2148840"/>
          </a:xfrm>
          <a:prstGeom prst="roundRect">
            <a:avLst>
              <a:gd name="adj" fmla="val 2927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202436" y="193852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9837" y="2085929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6060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85800" y="2944368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telemetry: every prompt, model call, tool invocation, sub-agent hop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41448" y="260604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2743200" y="1737360"/>
            <a:ext cx="1874520" cy="2148840"/>
          </a:xfrm>
          <a:prstGeom prst="roundRect">
            <a:avLst>
              <a:gd name="adj" fmla="val 2927"/>
            </a:avLst>
          </a:prstGeom>
          <a:solidFill>
            <a:srgbClr val="1E2761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3396996" y="1938528"/>
            <a:ext cx="566928" cy="566928"/>
          </a:xfrm>
          <a:prstGeom prst="ellipse">
            <a:avLst/>
          </a:prstGeom>
          <a:solidFill>
            <a:srgbClr val="0E9F7E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4397" y="2085929"/>
            <a:ext cx="272125" cy="2721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743200" y="26060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2880360" y="2944368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Quality, safety, task-completion scoring — single-turn and multi-turn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4636008" y="260604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4937760" y="1737360"/>
            <a:ext cx="1874520" cy="2148840"/>
          </a:xfrm>
          <a:prstGeom prst="roundRect">
            <a:avLst>
              <a:gd name="adj" fmla="val 2927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7" name="Shape 13"/>
          <p:cNvSpPr/>
          <p:nvPr/>
        </p:nvSpPr>
        <p:spPr>
          <a:xfrm>
            <a:off x="5591556" y="193852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8957" y="2085929"/>
            <a:ext cx="272125" cy="27212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937760" y="26060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5074920" y="2944368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detection, alerts, dashboards via Azure Monitor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830568" y="260604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17"/>
          <p:cNvSpPr/>
          <p:nvPr/>
        </p:nvSpPr>
        <p:spPr>
          <a:xfrm>
            <a:off x="7132320" y="1737360"/>
            <a:ext cx="1874520" cy="2148840"/>
          </a:xfrm>
          <a:prstGeom prst="roundRect">
            <a:avLst>
              <a:gd name="adj" fmla="val 2927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3" name="Shape 18"/>
          <p:cNvSpPr/>
          <p:nvPr/>
        </p:nvSpPr>
        <p:spPr>
          <a:xfrm>
            <a:off x="7786116" y="193852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3517" y="2085929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132320" y="26060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7269480" y="2944368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signal → ranked, evidence-backed agent improvements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548640" y="4206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focus is Evaluate — but it only earns its keep wired into the other three.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WHAT'S IN THE BOX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evaluator taxonomy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950208" cy="1572768"/>
          </a:xfrm>
          <a:prstGeom prst="roundRect">
            <a:avLst>
              <a:gd name="adj" fmla="val 3488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649224" y="156362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168249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16152" y="1618488"/>
            <a:ext cx="3081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2075688"/>
            <a:ext cx="3584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· Coherence · Fluency · Groundedness · Retrieval · Quality Grader (relevance, abstention, completeness — plus groundedness &amp; context coverage when context is supplied)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690872" y="1417320"/>
            <a:ext cx="3950208" cy="1572768"/>
          </a:xfrm>
          <a:prstGeom prst="roundRect">
            <a:avLst>
              <a:gd name="adj" fmla="val 3488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4837176" y="156362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048" y="168249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04104" y="1618488"/>
            <a:ext cx="3081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873752" y="2075688"/>
            <a:ext cx="3584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Violence · Self-harm · Sexual · Hate/unfairness · Protected material · Indirect attack (XPIA) — powered by Azure AI Content Safety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02920" y="3209544"/>
            <a:ext cx="3950208" cy="1572768"/>
          </a:xfrm>
          <a:prstGeom prst="roundRect">
            <a:avLst>
              <a:gd name="adj" fmla="val 3488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Shape 11"/>
          <p:cNvSpPr/>
          <p:nvPr/>
        </p:nvSpPr>
        <p:spPr>
          <a:xfrm>
            <a:off x="649224" y="335584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3474720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16152" y="3410712"/>
            <a:ext cx="3081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85800" y="3867912"/>
            <a:ext cx="3584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System: Intent Resolution, Task Adherence. Process: Tool Call Accuracy, Tool Selection, Tool Input Accuracy, Tool Output Utilization, Tool Call Success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690872" y="3209544"/>
            <a:ext cx="3950208" cy="1572768"/>
          </a:xfrm>
          <a:prstGeom prst="roundRect">
            <a:avLst>
              <a:gd name="adj" fmla="val 3488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Shape 15"/>
          <p:cNvSpPr/>
          <p:nvPr/>
        </p:nvSpPr>
        <p:spPr>
          <a:xfrm>
            <a:off x="4837176" y="335584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6048" y="3474720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404104" y="3410712"/>
            <a:ext cx="3081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&amp; Rubric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4873752" y="3867912"/>
            <a:ext cx="3584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Code-based or prompt-based evaluators in your project catalog. Rubric evaluator (preview) auto-generates weighted criteria from the agent's own definition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02920" y="46817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evaluators output binary pass/fail with a reasoning field — deliberately shaped like unit tests.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TWO PRACTICES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evaluation: judge the outcome AND the execution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950208" cy="3154680"/>
          </a:xfrm>
          <a:prstGeom prst="roundRect">
            <a:avLst>
              <a:gd name="adj" fmla="val 1739"/>
            </a:avLst>
          </a:prstGeom>
          <a:solidFill>
            <a:srgbClr val="1E2761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685800" y="1600200"/>
            <a:ext cx="502920" cy="502920"/>
          </a:xfrm>
          <a:prstGeom prst="ellipse">
            <a:avLst/>
          </a:prstGeom>
          <a:solidFill>
            <a:srgbClr val="0E9F7E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" y="1730959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68249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evaluation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31520" y="224028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end-to-end outcome succeed?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77240" y="26060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Resolution — did it understand the ask?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Adherence — does the final answer do the job per the system message?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quality evaluators applied to the final response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690872" y="1417320"/>
            <a:ext cx="3950208" cy="3154680"/>
          </a:xfrm>
          <a:prstGeom prst="roundRect">
            <a:avLst>
              <a:gd name="adj" fmla="val 1739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4873752" y="1600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4511" y="173095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13832" y="168249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evaluation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919472" y="224028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for the agentic workflow's steps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965192" y="26060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 Accuracy — right calls, right parameters, no redundancy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 · Tool Input Accuracy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Output Utilization — did it actually use the results?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 Success — no technical errors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evaluators are an LLM judging an LLM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1756562"/>
            <a:ext cx="373075" cy="37307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55448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evaluators send your output to a judge model with a metric definition and scoring rubric. Others are rule- or algorithm-based — no judge required.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743200"/>
            <a:ext cx="26517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713232" y="2880360"/>
            <a:ext cx="23225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results are only as good as your judge + rubric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13232" y="3611880"/>
            <a:ext cx="23225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here first. Microsoft open-sources its quality rubrics — customise them to your scenario.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429000" y="2743200"/>
            <a:ext cx="2651760" cy="1828800"/>
          </a:xfrm>
          <a:prstGeom prst="roundRect">
            <a:avLst>
              <a:gd name="adj" fmla="val 3000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3593592" y="2880360"/>
            <a:ext cx="23225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judge costs tokens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593592" y="3611880"/>
            <a:ext cx="23225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balance: gpt-5-mini for complex evaluation. This is why continuous evaluation samples rather than scoring everything.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309360" y="2743200"/>
            <a:ext cx="2651760" cy="1828800"/>
          </a:xfrm>
          <a:prstGeom prst="roundRect">
            <a:avLst>
              <a:gd name="adj" fmla="val 3000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6473952" y="2880360"/>
            <a:ext cx="23225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fields are the payoff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473952" y="3611880"/>
            <a:ext cx="23225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pass/fail ships with the judge's explanation — the debugging surface you'll use all day.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WHERE EVALUATION HAPPENS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targets, three places to run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POINT AT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1938528" cy="1325880"/>
          </a:xfrm>
          <a:prstGeom prst="roundRect">
            <a:avLst>
              <a:gd name="adj" fmla="val 4138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687" y="1933407"/>
            <a:ext cx="193121" cy="19312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1874520"/>
            <a:ext cx="1161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40080" y="2313432"/>
            <a:ext cx="1664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&amp; compare deployments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606040" y="1691640"/>
            <a:ext cx="1938528" cy="1325880"/>
          </a:xfrm>
          <a:prstGeom prst="roundRect">
            <a:avLst>
              <a:gd name="adj" fmla="val 4138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2743200" y="18288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7807" y="1933407"/>
            <a:ext cx="193121" cy="19312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246120" y="1874520"/>
            <a:ext cx="1161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2743200" y="2313432"/>
            <a:ext cx="1664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queries, simulated or real conversations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709160" y="1691640"/>
            <a:ext cx="1938528" cy="1325880"/>
          </a:xfrm>
          <a:prstGeom prst="roundRect">
            <a:avLst>
              <a:gd name="adj" fmla="val 4138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Shape 12"/>
          <p:cNvSpPr/>
          <p:nvPr/>
        </p:nvSpPr>
        <p:spPr>
          <a:xfrm>
            <a:off x="4846320" y="18288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0927" y="1933407"/>
            <a:ext cx="193121" cy="19312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349240" y="1874520"/>
            <a:ext cx="1161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4846320" y="2313432"/>
            <a:ext cx="1664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Pre-existing outputs, CSV/JSONL — no live calls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6812280" y="1691640"/>
            <a:ext cx="1938528" cy="1325880"/>
          </a:xfrm>
          <a:prstGeom prst="roundRect">
            <a:avLst>
              <a:gd name="adj" fmla="val 4138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1" name="Shape 16"/>
          <p:cNvSpPr/>
          <p:nvPr/>
        </p:nvSpPr>
        <p:spPr>
          <a:xfrm>
            <a:off x="6949440" y="18288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4047" y="1933407"/>
            <a:ext cx="193121" cy="193121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452360" y="1874520"/>
            <a:ext cx="1161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949440" y="2313432"/>
            <a:ext cx="1664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interactions from App Insights — no curated dataset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502920" y="32004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EXECUTES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502920" y="3520440"/>
            <a:ext cx="2633472" cy="1280160"/>
          </a:xfrm>
          <a:prstGeom prst="roundRect">
            <a:avLst>
              <a:gd name="adj" fmla="val 4286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7" name="Shape 21"/>
          <p:cNvSpPr/>
          <p:nvPr/>
        </p:nvSpPr>
        <p:spPr>
          <a:xfrm>
            <a:off x="640080" y="36576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687" y="3762207"/>
            <a:ext cx="193121" cy="193121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143000" y="3703320"/>
            <a:ext cx="185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640080" y="4087368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on your machine. Second-scale iteration while designing rubrics — now aligned with the hosted evaluator catalog.</a:t>
            </a:r>
            <a:endParaRPr 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3310128" y="3520440"/>
            <a:ext cx="2633472" cy="1280160"/>
          </a:xfrm>
          <a:prstGeom prst="roundRect">
            <a:avLst>
              <a:gd name="adj" fmla="val 4286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2" name="Shape 25"/>
          <p:cNvSpPr/>
          <p:nvPr/>
        </p:nvSpPr>
        <p:spPr>
          <a:xfrm>
            <a:off x="3447288" y="36576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895" y="3762207"/>
            <a:ext cx="193121" cy="193121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3950208" y="3703320"/>
            <a:ext cx="185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50" dirty="0"/>
          </a:p>
        </p:txBody>
      </p:sp>
      <p:sp>
        <p:nvSpPr>
          <p:cNvPr id="35" name="Text 27"/>
          <p:cNvSpPr/>
          <p:nvPr/>
        </p:nvSpPr>
        <p:spPr>
          <a:xfrm>
            <a:off x="3447288" y="4087368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or SDK. Scale, CI/CD gates, pre-deployment testing. Results logged to the project, linked to traces.</a:t>
            </a:r>
            <a:endParaRPr lang="en-US" sz="950" dirty="0"/>
          </a:p>
        </p:txBody>
      </p:sp>
      <p:sp>
        <p:nvSpPr>
          <p:cNvPr id="36" name="Shape 28"/>
          <p:cNvSpPr/>
          <p:nvPr/>
        </p:nvSpPr>
        <p:spPr>
          <a:xfrm>
            <a:off x="6117336" y="3520440"/>
            <a:ext cx="2633472" cy="1280160"/>
          </a:xfrm>
          <a:prstGeom prst="roundRect">
            <a:avLst>
              <a:gd name="adj" fmla="val 4286"/>
            </a:avLst>
          </a:prstGeom>
          <a:solidFill>
            <a:srgbClr val="1E2761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7" name="Shape 29"/>
          <p:cNvSpPr/>
          <p:nvPr/>
        </p:nvSpPr>
        <p:spPr>
          <a:xfrm>
            <a:off x="6254496" y="3657600"/>
            <a:ext cx="402336" cy="402336"/>
          </a:xfrm>
          <a:prstGeom prst="ellipse">
            <a:avLst/>
          </a:prstGeom>
          <a:solidFill>
            <a:srgbClr val="0E9F7E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9103" y="3762207"/>
            <a:ext cx="193121" cy="193121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6757416" y="3703320"/>
            <a:ext cx="185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</a:t>
            </a:r>
            <a:endParaRPr lang="en-US" sz="1350" dirty="0"/>
          </a:p>
        </p:txBody>
      </p:sp>
      <p:sp>
        <p:nvSpPr>
          <p:cNvPr id="40" name="Text 31"/>
          <p:cNvSpPr/>
          <p:nvPr/>
        </p:nvSpPr>
        <p:spPr>
          <a:xfrm>
            <a:off x="6254496" y="4087368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production responses scored automatically, piped to Azure Monitor &amp; App Insights.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· 60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1 — Run the same evaluation twice: portal, then SDK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955280" y="38404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2681" y="531449"/>
            <a:ext cx="272125" cy="27212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3716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PORTAL (20 MIN)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691640"/>
            <a:ext cx="39776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→ Create → Agent → Full conversations → Simulated data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pre-uploaded dataset (synthetic generation exists — later)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evaluators: Task Adherence, Relevance, Violence (+ Rubric if available)</a:t>
            </a:r>
            <a:endParaRPr lang="en-US" sz="1200" dirty="0"/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Submit, then find one FAIL and read the judge's reasoning aloud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370332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SDK (30 MIN)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" y="4005072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dataset, programmatically: criteria → definition → run → poll. This is the exact pattern reused in CI/CD in Module 4. Script: run_cloud_eval.py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800600" y="1417320"/>
            <a:ext cx="3840480" cy="3429000"/>
          </a:xfrm>
          <a:prstGeom prst="roundRect">
            <a:avLst>
              <a:gd name="adj" fmla="val 1600"/>
            </a:avLst>
          </a:prstGeom>
          <a:solidFill>
            <a:srgbClr val="1E2761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5029200" y="1600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states &amp; first-aid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029200" y="201168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7DE3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go read reasoning fields</a:t>
            </a:r>
            <a:endParaRPr lang="en-US" sz="12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C2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 evaluator failed; usually a data-mapping issue (field names are case-sensitive)</a:t>
            </a:r>
            <a:endParaRPr lang="en-US" sz="12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check judge-model connection &amp; required fields</a:t>
            </a:r>
            <a:endParaRPr lang="en-US" sz="12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tenant/project rate limit. Honour retry-after, back off. Not your code.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029200" y="42976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FA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check: az login · Foundry User role · endpoint includes account AND project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 · KEY CONCEPT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mappings: the one syntax to memorise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8138160" cy="2057400"/>
          </a:xfrm>
          <a:prstGeom prst="roundRect">
            <a:avLst>
              <a:gd name="adj" fmla="val 2667"/>
            </a:avLst>
          </a:prstGeom>
          <a:solidFill>
            <a:srgbClr val="171C36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77240" y="1645920"/>
            <a:ext cx="7589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"data_mapping": {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9EF0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"query":    "{{item.query}}",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9EF0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"response": "{{sample.output_text}}"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3703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{{item.X}}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91840" y="370332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field from your test data — e.g. {{item.query}}, {{item.ground_truth}}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1148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{{sample.output_text}}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91840" y="411480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the response message text — right for Task Adherence, Fluency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4526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{{sample.output_items}}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91840" y="45262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response including tool calls — required for the process evaluators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· 45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2 — Judge a live agent, then extend the catalog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955280" y="38404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2681" y="531449"/>
            <a:ext cx="272125" cy="27212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46304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1E2761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667512" y="1627632"/>
            <a:ext cx="23225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— Evaluate the weather agent (20')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67512" y="2359152"/>
            <a:ext cx="23225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azure_ai_target_completions sends each query to the live agent and scores the full response. Evaluators: Intent Resolution (system) + Tool Call Accuracy (process) + Task Adherence (system). Watch the adversarial rows.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3547872" y="1627632"/>
            <a:ext cx="23225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Custom evaluators (10')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47872" y="2359152"/>
            <a:ext cx="23225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Prompt-based (a rubric for the judge) or code-based (deterministic Python, thresholds → pass/fail). Registered once in the evaluator catalog, they run in batch, portal AND continuous evaluation.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63640" y="146304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/>
          <p:nvPr/>
        </p:nvSpPr>
        <p:spPr>
          <a:xfrm>
            <a:off x="6428232" y="1627632"/>
            <a:ext cx="23225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Trace-based demo (15')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28232" y="2359152"/>
            <a:ext cx="23225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demo: evaluate what actually happened in production. Existing traces by date range, specific operation_Ids, or agent filter — with intelligent sampling.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02920" y="45720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Gotcha: unsupported tool types make tool evaluators emit “pass — not supported” so you can filter them; wrap them as user-defined tools to make them evaluable.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THE BUILD 2026 SHIFT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Trace-based evaluation: no dataset, any framework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041" y="1656161"/>
            <a:ext cx="272125" cy="27212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490472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what actually happened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325880" y="1810512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real production interactions from Application Insights — the hand-curated dataset bottleneck disappears.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2587752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41" y="2735153"/>
            <a:ext cx="272125" cy="27212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2569464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Framework- and cloud-agnostic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325880" y="2889504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LangChain, LangGraph, OpenAI SDK, Agent Framework, custom — anything emitting OpenTelemetry GenAI semantic-convention spans. Point the OTel exporter at Foundry and evals light up.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48640" y="3666744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041" y="3814145"/>
            <a:ext cx="272125" cy="27212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25880" y="3648456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sampling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325880" y="3968496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representative subset gets scored, not every trace — that's what keeps judge-token costs sane at production volume.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CI/CD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as a pipeline gate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4480560" cy="2880360"/>
          </a:xfrm>
          <a:prstGeom prst="roundRect">
            <a:avLst>
              <a:gd name="adj" fmla="val 1905"/>
            </a:avLst>
          </a:prstGeom>
          <a:solidFill>
            <a:srgbClr val="171C36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77240" y="1600200"/>
            <a:ext cx="40233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EF0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task: AIAgentEvaluation@2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inputs: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azure-ai-project-endpoint: $(Endpoint)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deployment-name: $(JudgeModel)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data-path: evals/dataset.json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agent-ids: $(AgentIds)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FA3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auth: Entra ID via ARM service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FA3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connection - no keys in the pipeline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212080" y="1463040"/>
            <a:ext cx="3429000" cy="896112"/>
          </a:xfrm>
          <a:prstGeom prst="roundRect">
            <a:avLst>
              <a:gd name="adj" fmla="val 6122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5394960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intervals, not vibes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394960" y="18470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report shows per-metric scores with confidence intervals.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212080" y="2468880"/>
            <a:ext cx="3429000" cy="896112"/>
          </a:xfrm>
          <a:prstGeom prst="roundRect">
            <a:avLst>
              <a:gd name="adj" fmla="val 6122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5394960" y="2560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Pairwise statistical comparison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394960" y="28529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two agent versions? It tells you whether the difference is meaningful or noise.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12080" y="3474720"/>
            <a:ext cx="3429000" cy="896112"/>
          </a:xfrm>
          <a:prstGeom prst="roundRect">
            <a:avLst>
              <a:gd name="adj" fmla="val 6122"/>
            </a:avLst>
          </a:prstGeom>
          <a:solidFill>
            <a:srgbClr val="1E2761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394960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Sensible gating default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394960" y="38587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evaluators = hard gates. Quality evaluators = regression-vs-baseline gates.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45262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equivalent exists; VS Code (Foundry Toolkit) deploys with continuous evals via pytest — same evaluators everywhere.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CONTINUOUS EVALUATION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deployment: quality as a live SLO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041" y="1656161"/>
            <a:ext cx="272125" cy="27212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490472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Sampled, automatic, always on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325880" y="1810512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evaluation scores sampled production responses; results flow to Azure Monitor and App Insights next to your operational telemetry. Custom evaluators run here too.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2587752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41" y="2735153"/>
            <a:ext cx="272125" cy="27212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2569464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pane: quality AND cost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325880" y="2889504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Monitoring Dashboard (preview) puts evaluator scores beside token usage, latency, and run-success rate.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48640" y="3666744"/>
            <a:ext cx="566928" cy="566928"/>
          </a:xfrm>
          <a:prstGeom prst="ellipse">
            <a:avLst/>
          </a:prstGeom>
          <a:solidFill>
            <a:srgbClr val="D4544F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041" y="3814145"/>
            <a:ext cx="272125" cy="27212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25880" y="3648456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on score degradation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325880" y="3968496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Azure Monitor alerts on evaluator scores exactly as you would error-rate SLOs. Pragmatic on-ramp: a nightly scheduled evaluation against fresh traces before going fully continuous.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THE 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evaluation sits in the trust stack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1490472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3807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3063240" y="1344168"/>
            <a:ext cx="5577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measures; guardrails block. Task Adherence is now a runtime guardrail risk type. Third-party guardrails (Prisma AIRS, Zenity) are GA in Foundry.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206654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2185416"/>
            <a:ext cx="219456" cy="2194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88720" y="20756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teaming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063240" y="2039112"/>
            <a:ext cx="5577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scanning (red_team scenario / AI Red Teaming Agent) probes safety; evaluators score cooperative traffic. You need both.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48640" y="276148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2880360"/>
            <a:ext cx="219456" cy="2194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88720" y="277063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Optimizer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3063240" y="2734056"/>
            <a:ext cx="5577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+ eval results (incl. Rubric output) become ranked, evidence-backed, reviewable improvement proposals. Failures become the next version.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48640" y="345643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" y="3575304"/>
            <a:ext cx="219456" cy="21945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88720" y="346557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3063240" y="3429000"/>
            <a:ext cx="5577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Purview-grade runtime DLP inside agent interactions (preview) joins evaluation in the inner loop.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48640" y="415137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512" y="4270248"/>
            <a:ext cx="219456" cy="21945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188720" y="4160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layer</a:t>
            </a:r>
            <a:endParaRPr lang="en-US" sz="1350" dirty="0"/>
          </a:p>
        </p:txBody>
      </p:sp>
      <p:sp>
        <p:nvSpPr>
          <p:cNvPr id="23" name="Text 16"/>
          <p:cNvSpPr/>
          <p:nvPr/>
        </p:nvSpPr>
        <p:spPr>
          <a:xfrm>
            <a:off x="3063240" y="4123944"/>
            <a:ext cx="5577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Control Plane: agent inventory + cost attribution. If you run Agent 365 org-wide: it governs — Foundry evaluations are the quality signal feeding it.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MODULE · GXP DELIVERY VARIANT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GxP, evaluation results are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evidence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 has already made the case for this workshop: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" y="310896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draft guidance (Jan 2025): risk-based 7-step credibility assessment — your evaluation plan IS the credibility plan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FDA–EMA Guiding Principles of Good AI Practice (Jan 2026): risk-based performance assessment + life-cycle management — one-time validation no longer meets expectations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GAMP 5 (2nd ed.) AI/ML appendix · 21 CFR Part 11 / Annex 11 · ALCOA+ — eval runs, datasets and promotion decisions are electronic records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GXP VARIANT · THE MAPPING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GxP pillars → Foundry evaluation capabilities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1490472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380744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/ PQ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200400" y="1344168"/>
            <a:ext cx="5440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 suite is the executable PQ protocol; each versioned cloud run is a PQ execution record, persisted in the project as evidence.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206654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2185416"/>
            <a:ext cx="219456" cy="2194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88720" y="207568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 (ALCOA+)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3200400" y="2039112"/>
            <a:ext cx="5440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are attributable (Entra ID), contemporaneous (timestamps), original &amp; complete (results linked to traces), available (portal + export).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48640" y="276148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2880360"/>
            <a:ext cx="219456" cy="2194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88720" y="277063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control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200400" y="2734056"/>
            <a:ext cx="5440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Model/prompt/agent change = controlled change. The CI/CD gate's pairwise statistical comparison is the objective evidence a change record needs.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48640" y="345643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" y="3575304"/>
            <a:ext cx="219456" cy="21945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88720" y="3465576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3200400" y="3429000"/>
            <a:ext cx="5440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eval failures → investigate via eval↔trace linking → Agent Optimizer proposals reviewed and dispositioned by a human. Never auto-applied.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48640" y="415137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512" y="4270248"/>
            <a:ext cx="219456" cy="21945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188720" y="416052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surveillance</a:t>
            </a:r>
            <a:endParaRPr lang="en-US" sz="1300" dirty="0"/>
          </a:p>
        </p:txBody>
      </p:sp>
      <p:sp>
        <p:nvSpPr>
          <p:cNvPr id="23" name="Text 16"/>
          <p:cNvSpPr/>
          <p:nvPr/>
        </p:nvSpPr>
        <p:spPr>
          <a:xfrm>
            <a:off x="3200400" y="4123944"/>
            <a:ext cx="5440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evaluation + Azure Monitor alerting is post-deployment surveillance for the agent — the GPvP logic applied to the system.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GXP VARIANT · LAB/GENERATE_SYNTHETIC_DATASET.PY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datasets, done compliantly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GxP records carry patient data and process IP — synthetic generation gives designed coverage (edge, refusal, integrity-trap cases) with zero confidentiality exposure.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2148840"/>
            <a:ext cx="1572768" cy="1965960"/>
          </a:xfrm>
          <a:prstGeom prst="roundRect">
            <a:avLst>
              <a:gd name="adj" fmla="val 2907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612648" y="2286000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Context of use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2648" y="2926080"/>
            <a:ext cx="1353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COU first — the generation prompt derives from it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185416" y="2148840"/>
            <a:ext cx="1572768" cy="1965960"/>
          </a:xfrm>
          <a:prstGeom prst="roundRect">
            <a:avLst>
              <a:gd name="adj" fmla="val 2907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295144" y="2286000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Category matrix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95144" y="2926080"/>
            <a:ext cx="1353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category, per discipline (--discipline gmp|glp|gcp|gdp): procedural, triage, refusal, integrity traps, injection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867912" y="2148840"/>
            <a:ext cx="1572768" cy="1965960"/>
          </a:xfrm>
          <a:prstGeom prst="roundRect">
            <a:avLst>
              <a:gd name="adj" fmla="val 2907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977640" y="2286000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Provenance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977640" y="2926080"/>
            <a:ext cx="1353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Sidecar metadata: generator model, prompt version, timestamp, operator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550408" y="2148840"/>
            <a:ext cx="1572768" cy="1965960"/>
          </a:xfrm>
          <a:prstGeom prst="roundRect">
            <a:avLst>
              <a:gd name="adj" fmla="val 2907"/>
            </a:avLst>
          </a:prstGeom>
          <a:solidFill>
            <a:srgbClr val="1E2761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660136" y="2286000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Human review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0136" y="2926080"/>
            <a:ext cx="1353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are drafts (review_status: pending) until a qualified reviewer approves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232904" y="2148840"/>
            <a:ext cx="1572768" cy="1965960"/>
          </a:xfrm>
          <a:prstGeom prst="roundRect">
            <a:avLst>
              <a:gd name="adj" fmla="val 2907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7342632" y="2286000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Version &amp; freeze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42632" y="2926080"/>
            <a:ext cx="1353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dataset = controlled record; a change is a change-control event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02920" y="4343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D4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unreviewed synthetic dataset is a draft — never validation evidence.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GXP VARIANT · SCENARIO &amp; LIMITS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GxP lab: refusals are the main event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950208" cy="3246120"/>
          </a:xfrm>
          <a:prstGeom prst="roundRect">
            <a:avLst>
              <a:gd name="adj" fmla="val 1690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685800" y="16002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17190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6642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&amp; deviation-triage assistant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31520" y="2194560"/>
            <a:ext cx="35204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SOP questions; helps classify deviations — must refuse release decisions, change approvals, and ALCOA+ violations · one of four discipline tracks (next slide)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Data-integrity traps (“just backdate it”) are the core test — a failure here is a validation failure regardless of answer quality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Evaluators: Task Adherence + Intent Resolution + Groundedness + a custom ALCOA+ adherence rubric (Module 3B exercise)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90872" y="1417320"/>
            <a:ext cx="3950208" cy="3246120"/>
          </a:xfrm>
          <a:prstGeom prst="roundRect">
            <a:avLst>
              <a:gd name="adj" fmla="val 1690"/>
            </a:avLst>
          </a:prstGeom>
          <a:solidFill>
            <a:srgbClr val="1E2761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4873752" y="1600200"/>
            <a:ext cx="457200" cy="457200"/>
          </a:xfrm>
          <a:prstGeom prst="ellipse">
            <a:avLst/>
          </a:prstGeom>
          <a:solidFill>
            <a:srgbClr val="D4544F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2624" y="171907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68112" y="16642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does NOT close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919472" y="2194560"/>
            <a:ext cx="35204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such thing as “GxP-certified” tooling — validation responsibility stays yours under GAMP 5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judge model is validated software too: pin it, document it, re-baseline on change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&amp; tamper-evidence need explicit design against your Part 11 interpretation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oversight is a process control (SOPs), not a product feature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THINGS TO TAKE HOME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is the production discipline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60020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Lifecycle, not checkbox: local → CI/CD gate → continuous production monitoring → optimization loop.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taxonomy mirrors how agents fail: system evaluators for outcomes, process evaluators for tool-call execution.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Trace-based evaluation removes the dataset bottleneck — any framework, any cloud, via OpenTelemetry.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evaluator + Agent Optimizer attack the two hardest problems: writing criteria and acting on results.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are only as trustworthy as your judge model, rubric, and data mappings — invest there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4069080"/>
            <a:ext cx="7863840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868680" y="416052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Resources: 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learn.microsoft.com → Foundry → Observability → Evaluations   ·   open-sourced quality rubrics: Azure AI Evaluation SDK repo   ·   Build 2026 on-demand: BRK250, BRK252, LAB540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MODULE · GXP VARIANT — FOUR DISCIPLINES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machinery, four regulated scenarios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run_cloud_eval.py, same evaluators, same 5-category matrix — only the scenario and the refusals change. Pick the discipline that matches the room.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2148840"/>
            <a:ext cx="1572768" cy="1965960"/>
          </a:xfrm>
          <a:prstGeom prst="roundRect">
            <a:avLst>
              <a:gd name="adj" fmla="val 2907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612648" y="2286000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GMP · Manufacturing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2648" y="2926080"/>
            <a:ext cx="1353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&amp; deviation-triage; refuse batch release, change-control shortcuts, ALCOA+ record alteration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185416" y="2148840"/>
            <a:ext cx="1572768" cy="1965960"/>
          </a:xfrm>
          <a:prstGeom prst="roundRect">
            <a:avLst>
              <a:gd name="adj" fmla="val 2907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295144" y="2286000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GLP · Lab / product testing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95144" y="2926080"/>
            <a:ext cx="1353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&amp; OOS/OOT triage; refuse result invalidation, chromatography manipulation, raw-data edits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867912" y="2148840"/>
            <a:ext cx="1572768" cy="1965960"/>
          </a:xfrm>
          <a:prstGeom prst="roundRect">
            <a:avLst>
              <a:gd name="adj" fmla="val 2907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977640" y="2286000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· Clinical studies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977640" y="2926080"/>
            <a:ext cx="1353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/ consent / AE reporting; refuse unblinding, eligibility calls, medical advice, source/CRF backdating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550408" y="2148840"/>
            <a:ext cx="1572768" cy="1965960"/>
          </a:xfrm>
          <a:prstGeom prst="roundRect">
            <a:avLst>
              <a:gd name="adj" fmla="val 2907"/>
            </a:avLst>
          </a:prstGeom>
          <a:solidFill>
            <a:srgbClr val="1E2761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660136" y="2286000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 · Distribution / supply chain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0136" y="2926080"/>
            <a:ext cx="1353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Cold-chain &amp; excursion handling; refuse ship-despite-excursion, temperature-log falsification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232904" y="2148840"/>
            <a:ext cx="1572768" cy="1965960"/>
          </a:xfrm>
          <a:prstGeom prst="roundRect">
            <a:avLst>
              <a:gd name="adj" fmla="val 2907"/>
            </a:avLst>
          </a:prstGeom>
          <a:solidFill>
            <a:srgbClr val="EEF4FE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7342632" y="2286000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5-category matrix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42632" y="2926080"/>
            <a:ext cx="1353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 · *_triage · decision_refusal · data_integrity_trap · prompt_injection — refusal + ALCOA+ rows are the main event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02920" y="4343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D4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runnable tracks coexist in one project (--agent-name) — see docs/gxp-disciplines.md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3368</Words>
  <Application>Microsoft Office PowerPoint</Application>
  <PresentationFormat>On-screen Show (16:9)</PresentationFormat>
  <Paragraphs>267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Foundry Evaluations Framework — Half-Day Workshop</dc:title>
  <dc:subject>PptxGenJS Presentation</dc:subject>
  <dc:creator>Facilitator</dc:creator>
  <cp:lastModifiedBy>John Plummer</cp:lastModifiedBy>
  <cp:revision>1</cp:revision>
  <dcterms:created xsi:type="dcterms:W3CDTF">2026-07-08T08:31:41Z</dcterms:created>
  <dcterms:modified xsi:type="dcterms:W3CDTF">2026-07-08T11:48:48Z</dcterms:modified>
</cp:coreProperties>
</file>